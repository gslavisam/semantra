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08" autoAdjust="0"/>
    <p:restoredTop sz="80994" autoAdjust="0"/>
  </p:normalViewPr>
  <p:slideViewPr>
    <p:cSldViewPr snapToGrid="0">
      <p:cViewPr varScale="1">
        <p:scale>
          <a:sx n="110" d="100"/>
          <a:sy n="110" d="100"/>
        </p:scale>
        <p:origin x="114" y="4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2026-06-25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and thank you for your time. I want to introduce Semantra. In one sentence: Semantra is a PMO service that turns raw schemas into reviewed mapping decisions, canonical concepts, and reusable, governed artifacts. It sits as a bridge between Enterprise Architecture, Data Architecture, and integration delivery. It is deterministic-first, it uses AI only in a bounded way, and everything it produces is governed and reusable. I have prepared this for the PMO, Enterprise Architecture, and our delivery leads — and by the end, what I am asking for is your sponsorship to run a scoped pilot.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start with why Semantra exists. Right now, schema mapping restarts from scratch on almost every project, and we usually begin from specs and SQL snapshots rather than clean data. The starting state is messy — partial metadata and fragments — and we have no consistent way to move from that to actual decisions. When we lean on one-off, LLM-only suggestions, they are hard to trust and even harder to defend in real delivery work. And the moment a project ends, the mapping knowledge simply disappears; nothing links our enterprise models to delivery. So the core problem is this: integration delivery needs a structured, governable way to move from raw structures to reviewed decisions. That is exactly the gap Semantra closes.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where we are today. Semantra is a pilot-ready semantic mapping and governance workbench, and we have shaped it as a PMO capability you can register as a service. It is service-ready, it is modular and extensible, and every mapping suggestion is explainable and auditable — so there is no black-box risk. It builds governed memory and benchmark history that compound across projects. It produces delivery starters — transformation code and previews — but always gated behind review. And it is growing a BA Mapping Report that turns workspace outcomes into a shareable, business-facing summary. So this is not a concept on paper; it is a working service that is ready to pilot.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show you where Semantra fits. On one side, Enterprise Architecture owns the business domains, canonical models, and the enterprise glossary. On another, Data Architecture owns schema standards, data quality rules, and MDM golden records. And on the third, integration delivery owns source-to-target mapping, transformations, and code generation. Semantra sits right in the middle and connects all three. And importantly, it is registered in the PMO Service Catalog — so it is reusable, governed, and measurable across every engagement. This is precisely why it belongs to the PMO.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product surface, and I want you to see that it is a real workbench, not one generic screen. The Workspace is where analysts ingest, map, review, make decisions, preview, and generate code. Governance is the Canonical Console and our stewardship workflows. The Catalog lets us search, browse, and reuse approved mapping work. Benchmarks measure mapping quality and the impact of our corrections. The System area handles runtime inspection and operational controls. And the emerging Modelling and BA Report area turns workspace evidence into analyst-ready summaries. Each of these is a purpose-built area for the people who actually do the work.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why does this matter to us? It means less rework, because we stop repeating the same cycles. It means clearer decisions, with review and approval at every checkpoint. It gives us traceability from the source structure all the way to the target outcome. It creates reusable knowledge that future projects can draw on. And it gives us a stronger handoff from analysis into implementation. The real value, in one line, is a structured, explainable result that can be reviewed, approved, reused, and handed off. That is what turns a tool into a capability.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this value compounds with every engagement. A more structured starting point lets us map faster on the first pass. Because decisions come before any durable artifacts, we review before we commit. Every suggestion exposes the signals behind it, so we always understand the why. Governed feedback and reusable report artifacts raise quality over time. And we can produce delivery-ready BA Mapping Reports for our business and delivery stakeholders. The point is that this moves mapping from a one-time analyst task into a repeatable, improvable operating capability.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how are decisions actually produced? This is the part that builds trust. Semantra does not rely on a single source of truth. It combines seven signals: lexical similarity of names and tokens, semantic meaning from embeddings, metadata and aliases, alignment to our canonical glossary, statistical pattern and value hints, history from past corrections and reusable rules, and a bounded LLM that is used only to validate ambiguous cases. The key message: the AI never owns the full mapping process, so every decision stays auditable.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make the governance side concrete, because this is more than an idea. We can map a source to canonical even when there is no real target yet — and that is where the MDM golden record begins. We have a canonical concept registry with detailed views. We have a gap-review flow that suggests missing entries. And we have an overlay lifecycle that promotes drafts into the governed glossary through a proper stewardship workflow. So the canonical layer is already an active governance surface today, not just something on the roadmap.</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Governance here means explicit control points, not blind automation. Our mapping sets are versioned, with status, audit, and diff. Only approved work flows back into the Workspace. Previews and code generation are advisory and gated behind approval, so you can inspect the impact before anything is final. Corrections only become durable after a closed review. And we already have a first slice of role-based access for mapping and draft sessions. Every one of these is a point where a person decides — and that is exactly the kind of governance the PMO wants to see.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Catalog is our reusable memory layer for the PMO. We can list and search across integrations, open concept-centric detail views, and discover similar integrations we have done before. Approved artifacts flow back into the Workspace so they can be reused, and we can save both standard and canonical-only artifacts. The essential point is that every approved mapping feeds the service catalog and our MDM governance records — so we stop losing knowledge every time a project ends.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Semantra, mapping quality is measured, not assumed. We save benchmark datasets and runs as baselines. We measure the impact of our corrections over time. We persist correction memory, so no lesson is ever lost. And we turn promoted rules into reusable learning. What this gives us is measurable improvement — meaning the return on governed mapping becomes visible over time. So when someone asks how we know this is actually working, this is the answer.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highlight an emerging capability: the BA Mapping Report. This is what makes the outcome business-facing. It takes the evidence from the workspace and turns it into a structured, analyst-ready summary — the mapping decisions and canonical paths in a form you can share. It is maturing into an exportable approval and handoff artifact, and it supports the handoff from analyst to implementation with full traceability. It is still evolving, but it is the bridge from our technical work to something business stakeholders can actually read and approve.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you through how an analyst actually uses Semantra, end to end. First, you upload the source and target structures, or the schema specs. Then it generates ranked mapping suggestions. You inspect the trust layer and the canonical paths. Then you review — you approve, override, or reject. From there, you review the derived BA Report and the target contract, you preview the transformations and code once you have accepted the mappings, you save governed mapping sets, and finally you reuse them later through the Catalog. It is one continuous loop — and notice that review sits right in the middle, before anything durable is ever produced.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word on the architecture, because it is built to scale from a pilot to an enterprise service. We have a modular Streamlit UI for the analyst flows, a FastAPI orchestration layer, and services for mapping, preview, catalog, evaluation, and knowledge. Governed artifacts and semantic memory are stored in SQLite, with file-backed canonical seeds and a database-first runtime. And there is a Semantra agent SDK for LangChain and LangGraph use cases. The point is simply that the foundation is real and extensible.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this deliver as a PMO service for EA–DA alignment and MDM? In terms of where it plugs in: integration design, migration analysis, canonical alignment, and analyst handoff. In terms of what it produces: reviewed mappings, canonical findings, transformation starters, benchmarks, and BA Reports. And in terms of what it changes: less repeat mapping effort, better traceability, semantic reuse, and stronger delivery readiness. This is the practical picture of what we actually get.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candid about scope, because that builds trust. There are things Semantra is intentionally not — today. It is not a production ETL runtime, not a connector-heavy integration platform, not a multi-step enterprise workflow engine, and not a graph-native metadata platform. Where it goes next is clear: documentation aligned to the real product, a manual pilot to prove and validate the value, a repeatable live demo, maturing the BA Report into an export artifact, and enterprise hardening — but only after the value is proven. The discipline here is to prove and package the value of what we have today, clearly, before we expand into a broader enterprise program.</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bring it together. Semantra is mapping that is explainable, reviewable, and reusable. It turns semantic integration work into a governed delivery capability — including business-ready reporting — all under analyst and stewardship control. So here is my ask: I am asking for PMO sponsorship to run a scoped pilot, validate the value, and register Semantra as a reusable delivery service. I would be glad to talk through what that pilot could look like. Thank you.</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short version — a nine-slide executive overview. In one line: Semantra delivers explainable mapping for integration delivery, taking us from fragmented mapping work to a governed delivery outcome. It lets us move from raw structures to reviewed, explainable, and reusable mapping decisions. Keep three words in mind as we go: explainable, reviewable, reusable.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why this matters. Schema mapping is still slow, fragmented, and repeated from scratch on each project. Teams start from specs, SQL snapshots, and partial metadata — not clean data. One-off AI suggestions are difficult to defend in real delivery work. And mapping knowledge is often lost the moment the project moves on. So the bottom line is this: integration delivery needs a structured, governable way to move from raw input to reviewed decisions.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the solution provides. It gives us explainable mapping suggestions with built-in review checkpoints. It produces governed and reusable artifacts and semantic knowledge. It generates transformation starter code and preview output. And it creates a business-facing BA Mapping Report for analyst handoff. The important part: it does not stop at suggestions — it produces a reviewable, reusable delivery outcome.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it add value? It means less rework, with fewer repeated cycles across mapping and delivery. It gives us clearer decisions, with sharper review and approval at every checkpoint. It provides better traceability, from the source structure all the way to the target outcome. And it creates a stronger handoff, a cleaner bridge from analysis to implementation. So this is not just better suggestions — it is less friction, more trust, and a stronger delivery package.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main product areas. The Workspace is where we ingest, map, review, decide, preview, and generate code. Governance is the canonical console and stewardship workflows. The Catalog lets us search, browse, and reuse approved work. Benchmarks measure mapping quality and impact. And System handles runtime inspection and operational controls. In short, it is a practical workbench — not a single-purpose demo screen.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call out the BA Mapping Report — this is the business-facing output. It is a structured summary of the workspace outcome: the target object, the grain, the concept groups, and the key decisions. It surfaces open risks, exclusions, and readiness signals. It gives us a much better basis for handoff between roles, and it is the foundation for later export as a document. This is what turns the solution into a business-facing artifact — not just a mapping engine.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approach credible? Four reasons. First, it is deterministic-first, with AI assistance kept bounded. Second, there is explicit review before any durable output. Third, it produces governed assets — mapping sets, reusable catalog assets, and benchmark history. And fourth, it gives us clear control points instead of blind automation. In other words, trust comes from control, explainability, and reviewability.</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a team actually uses it, in four steps. You ingest the source and target structures. You generate and review the mapping suggestions. You inspect the trust signals, the canonical paths, and the target contract. And then you output and reuse the governed artifacts later. The point is that this is an end-to-end analyst loop — not just a single ranking step.</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Semantra is a governed, reusable delivery capability. It reduces rework by cutting repeated effort in mapping-heavy delivery work. It is explainable and reviewable, which makes mapping decisions transparent and easy to approve. And it produces reusable output that creates durable value for analysts, reviewers, and implementation teams. This turns semantic integration work into a governed, reusable delivery capability. On that note, what I am asking for is your support to run a scoped pilot. Thank you.</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3716528"/>
      </p:ext>
    </p:extLst>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26.png"/><Relationship Id="rId4" Type="http://schemas.openxmlformats.org/officeDocument/2006/relationships/image" Target="../media/image39.png"/></Relationships>
</file>

<file path=ppt/slides/_rels/slide10.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1.png"/><Relationship Id="rId7" Type="http://schemas.openxmlformats.org/officeDocument/2006/relationships/image" Target="../media/image44.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43.png"/><Relationship Id="rId5" Type="http://schemas.openxmlformats.org/officeDocument/2006/relationships/image" Target="../media/image7.png"/><Relationship Id="rId4" Type="http://schemas.openxmlformats.org/officeDocument/2006/relationships/image" Target="../media/image42.png"/></Relationships>
</file>

<file path=ppt/slides/_rels/slide11.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1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57.png"/><Relationship Id="rId5" Type="http://schemas.openxmlformats.org/officeDocument/2006/relationships/image" Target="../media/image28.png"/><Relationship Id="rId4" Type="http://schemas.openxmlformats.org/officeDocument/2006/relationships/image" Target="../media/image56.png"/></Relationships>
</file>

<file path=ppt/slides/_rels/slide14.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58.png"/><Relationship Id="rId7" Type="http://schemas.openxmlformats.org/officeDocument/2006/relationships/image" Target="../media/image62.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61.png"/><Relationship Id="rId5" Type="http://schemas.openxmlformats.org/officeDocument/2006/relationships/image" Target="../media/image60.png"/><Relationship Id="rId10" Type="http://schemas.openxmlformats.org/officeDocument/2006/relationships/image" Target="../media/image65.png"/><Relationship Id="rId4" Type="http://schemas.openxmlformats.org/officeDocument/2006/relationships/image" Target="../media/image59.png"/><Relationship Id="rId9" Type="http://schemas.openxmlformats.org/officeDocument/2006/relationships/image" Target="../media/image64.png"/></Relationships>
</file>

<file path=ppt/slides/_rels/slide1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66.png"/><Relationship Id="rId7" Type="http://schemas.openxmlformats.org/officeDocument/2006/relationships/image" Target="../media/image70.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7.png"/></Relationships>
</file>

<file path=ppt/slides/_rels/slide16.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73.png"/><Relationship Id="rId4" Type="http://schemas.openxmlformats.org/officeDocument/2006/relationships/image" Target="../media/image72.png"/></Relationships>
</file>

<file path=ppt/slides/_rels/slide17.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18.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78.png"/><Relationship Id="rId5" Type="http://schemas.openxmlformats.org/officeDocument/2006/relationships/image" Target="../media/image77.png"/><Relationship Id="rId4" Type="http://schemas.openxmlformats.org/officeDocument/2006/relationships/image" Target="../media/image76.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55.png"/><Relationship Id="rId5" Type="http://schemas.openxmlformats.org/officeDocument/2006/relationships/image" Target="../media/image80.png"/><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84.png"/><Relationship Id="rId5" Type="http://schemas.openxmlformats.org/officeDocument/2006/relationships/image" Target="../media/image83.png"/><Relationship Id="rId4" Type="http://schemas.openxmlformats.org/officeDocument/2006/relationships/image" Target="../media/image82.png"/></Relationships>
</file>

<file path=ppt/slides/_rels/slide23.xml.rels><?xml version="1.0" encoding="UTF-8" standalone="yes"?>
<Relationships xmlns="http://schemas.openxmlformats.org/package/2006/relationships"><Relationship Id="rId3" Type="http://schemas.openxmlformats.org/officeDocument/2006/relationships/image" Target="../media/image85.png"/><Relationship Id="rId7" Type="http://schemas.openxmlformats.org/officeDocument/2006/relationships/image" Target="../media/image88.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87.png"/><Relationship Id="rId5" Type="http://schemas.openxmlformats.org/officeDocument/2006/relationships/image" Target="../media/image46.png"/><Relationship Id="rId4" Type="http://schemas.openxmlformats.org/officeDocument/2006/relationships/image" Target="../media/image86.png"/></Relationships>
</file>

<file path=ppt/slides/_rels/slide24.xml.rels><?xml version="1.0" encoding="UTF-8" standalone="yes"?>
<Relationships xmlns="http://schemas.openxmlformats.org/package/2006/relationships"><Relationship Id="rId3" Type="http://schemas.openxmlformats.org/officeDocument/2006/relationships/image" Target="../media/image55.png"/><Relationship Id="rId7" Type="http://schemas.openxmlformats.org/officeDocument/2006/relationships/image" Target="../media/image90.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57.png"/><Relationship Id="rId5" Type="http://schemas.openxmlformats.org/officeDocument/2006/relationships/image" Target="../media/image89.png"/><Relationship Id="rId4" Type="http://schemas.openxmlformats.org/officeDocument/2006/relationships/image" Target="../media/image39.png"/></Relationships>
</file>

<file path=ppt/slides/_rels/slide2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91.png"/><Relationship Id="rId5" Type="http://schemas.openxmlformats.org/officeDocument/2006/relationships/image" Target="../media/image50.png"/><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65.png"/><Relationship Id="rId5" Type="http://schemas.openxmlformats.org/officeDocument/2006/relationships/image" Target="../media/image60.png"/><Relationship Id="rId4" Type="http://schemas.openxmlformats.org/officeDocument/2006/relationships/image" Target="../media/image59.png"/></Relationships>
</file>

<file path=ppt/slides/_rels/slide27.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77.png"/><Relationship Id="rId4" Type="http://schemas.openxmlformats.org/officeDocument/2006/relationships/image" Target="../media/image75.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236"/>
        </a:solidFill>
        <a:effectLst/>
      </p:bgPr>
    </p:bg>
    <p:spTree>
      <p:nvGrpSpPr>
        <p:cNvPr id="1" name=""/>
        <p:cNvGrpSpPr/>
        <p:nvPr/>
      </p:nvGrpSpPr>
      <p:grpSpPr>
        <a:xfrm>
          <a:off x="0" y="0"/>
          <a:ext cx="0" cy="0"/>
          <a:chOff x="0" y="0"/>
          <a:chExt cx="0" cy="0"/>
        </a:xfrm>
      </p:grpSpPr>
      <p:sp>
        <p:nvSpPr>
          <p:cNvPr id="2" name="Shape 0"/>
          <p:cNvSpPr/>
          <p:nvPr/>
        </p:nvSpPr>
        <p:spPr>
          <a:xfrm>
            <a:off x="7040880" y="0"/>
            <a:ext cx="2103120" cy="5143500"/>
          </a:xfrm>
          <a:prstGeom prst="rect">
            <a:avLst/>
          </a:prstGeom>
          <a:solidFill>
            <a:srgbClr val="0E2C46"/>
          </a:solidFill>
          <a:ln/>
        </p:spPr>
        <p:txBody>
          <a:bodyPr/>
          <a:lstStyle/>
          <a:p>
            <a:endParaRPr lang="en-US"/>
          </a:p>
        </p:txBody>
      </p:sp>
      <p:sp>
        <p:nvSpPr>
          <p:cNvPr id="3" name="Shape 1"/>
          <p:cNvSpPr/>
          <p:nvPr/>
        </p:nvSpPr>
        <p:spPr>
          <a:xfrm>
            <a:off x="0" y="0"/>
            <a:ext cx="146304" cy="5143500"/>
          </a:xfrm>
          <a:prstGeom prst="rect">
            <a:avLst/>
          </a:prstGeom>
          <a:solidFill>
            <a:srgbClr val="0D9488"/>
          </a:solidFill>
          <a:ln/>
        </p:spPr>
        <p:txBody>
          <a:bodyPr/>
          <a:lstStyle/>
          <a:p>
            <a:endParaRPr lang="en-US"/>
          </a:p>
        </p:txBody>
      </p:sp>
      <p:sp>
        <p:nvSpPr>
          <p:cNvPr id="4" name="Text 2"/>
          <p:cNvSpPr/>
          <p:nvPr/>
        </p:nvSpPr>
        <p:spPr>
          <a:xfrm>
            <a:off x="777240" y="868680"/>
            <a:ext cx="7589520" cy="274320"/>
          </a:xfrm>
          <a:prstGeom prst="rect">
            <a:avLst/>
          </a:prstGeom>
          <a:noFill/>
          <a:ln/>
        </p:spPr>
        <p:txBody>
          <a:bodyPr wrap="square" lIns="0" tIns="0" rIns="0" bIns="0" rtlCol="0" anchor="ctr"/>
          <a:lstStyle/>
          <a:p>
            <a:pPr marL="0" indent="0">
              <a:buNone/>
            </a:pPr>
            <a:r>
              <a:rPr lang="en-US" sz="1200" b="1" kern="0" spc="200" dirty="0">
                <a:solidFill>
                  <a:srgbClr val="11B5A4"/>
                </a:solidFill>
                <a:latin typeface="Calibri" pitchFamily="34" charset="0"/>
                <a:ea typeface="Calibri" pitchFamily="34" charset="-122"/>
                <a:cs typeface="Calibri" pitchFamily="34" charset="-120"/>
              </a:rPr>
              <a:t>PMO SERVICE  •  EA–DA BRIDGE  •  MDM-READY  •  ANALYST-LED</a:t>
            </a:r>
            <a:endParaRPr lang="en-US" sz="1200" dirty="0"/>
          </a:p>
        </p:txBody>
      </p:sp>
      <p:sp>
        <p:nvSpPr>
          <p:cNvPr id="5" name="Text 3"/>
          <p:cNvSpPr/>
          <p:nvPr/>
        </p:nvSpPr>
        <p:spPr>
          <a:xfrm>
            <a:off x="749808" y="1298448"/>
            <a:ext cx="7680960" cy="914400"/>
          </a:xfrm>
          <a:prstGeom prst="rect">
            <a:avLst/>
          </a:prstGeom>
          <a:noFill/>
          <a:ln/>
        </p:spPr>
        <p:txBody>
          <a:bodyPr wrap="square" lIns="0" tIns="0" rIns="0" bIns="0" rtlCol="0" anchor="ctr"/>
          <a:lstStyle/>
          <a:p>
            <a:pPr marL="0" indent="0">
              <a:buNone/>
            </a:pPr>
            <a:r>
              <a:rPr lang="en-US" sz="6000" b="1" dirty="0">
                <a:solidFill>
                  <a:srgbClr val="FFFFFF"/>
                </a:solidFill>
                <a:latin typeface="Georgia" pitchFamily="34" charset="0"/>
                <a:ea typeface="Georgia" pitchFamily="34" charset="-122"/>
                <a:cs typeface="Georgia" pitchFamily="34" charset="-120"/>
              </a:rPr>
              <a:t>Semantra</a:t>
            </a:r>
            <a:endParaRPr lang="en-US" sz="6000" dirty="0"/>
          </a:p>
        </p:txBody>
      </p:sp>
      <p:sp>
        <p:nvSpPr>
          <p:cNvPr id="6" name="Text 4"/>
          <p:cNvSpPr/>
          <p:nvPr/>
        </p:nvSpPr>
        <p:spPr>
          <a:xfrm>
            <a:off x="777240" y="2331720"/>
            <a:ext cx="7498080" cy="457200"/>
          </a:xfrm>
          <a:prstGeom prst="rect">
            <a:avLst/>
          </a:prstGeom>
          <a:noFill/>
          <a:ln/>
        </p:spPr>
        <p:txBody>
          <a:bodyPr wrap="square" lIns="0" tIns="0" rIns="0" bIns="0" rtlCol="0" anchor="ctr"/>
          <a:lstStyle/>
          <a:p>
            <a:pPr marL="0" indent="0">
              <a:buNone/>
            </a:pPr>
            <a:r>
              <a:rPr lang="en-US" sz="2000" i="1" dirty="0">
                <a:solidFill>
                  <a:srgbClr val="11B5A4"/>
                </a:solidFill>
                <a:latin typeface="Calibri" pitchFamily="34" charset="0"/>
                <a:ea typeface="Calibri" pitchFamily="34" charset="-122"/>
                <a:cs typeface="Calibri" pitchFamily="34" charset="-120"/>
              </a:rPr>
              <a:t>Explainable Semantic Mapping for Integration Delivery</a:t>
            </a:r>
            <a:endParaRPr lang="en-US" sz="2000" dirty="0"/>
          </a:p>
        </p:txBody>
      </p:sp>
      <p:sp>
        <p:nvSpPr>
          <p:cNvPr id="7" name="Text 5"/>
          <p:cNvSpPr/>
          <p:nvPr/>
        </p:nvSpPr>
        <p:spPr>
          <a:xfrm>
            <a:off x="777240" y="2907792"/>
            <a:ext cx="7040880" cy="822960"/>
          </a:xfrm>
          <a:prstGeom prst="rect">
            <a:avLst/>
          </a:prstGeom>
          <a:noFill/>
          <a:ln/>
        </p:spPr>
        <p:txBody>
          <a:bodyPr wrap="square" lIns="0" tIns="0" rIns="0" bIns="0" rtlCol="0" anchor="ctr"/>
          <a:lstStyle/>
          <a:p>
            <a:pPr marL="0" indent="0">
              <a:lnSpc>
                <a:spcPct val="115000"/>
              </a:lnSpc>
              <a:buNone/>
            </a:pPr>
            <a:r>
              <a:rPr lang="en-US" sz="1350" dirty="0">
                <a:solidFill>
                  <a:srgbClr val="AEC2D4"/>
                </a:solidFill>
                <a:latin typeface="Calibri" pitchFamily="34" charset="0"/>
                <a:ea typeface="Calibri" pitchFamily="34" charset="-122"/>
                <a:cs typeface="Calibri" pitchFamily="34" charset="-120"/>
              </a:rPr>
              <a:t>A PMO service that turns raw schemas into reviewed mapping decisions, canonical concepts, and reusable governed artifacts — bridging Enterprise Architecture, Data Architecture, and integration delivery.</a:t>
            </a:r>
            <a:endParaRPr lang="en-US" sz="1350" dirty="0"/>
          </a:p>
        </p:txBody>
      </p:sp>
      <p:sp>
        <p:nvSpPr>
          <p:cNvPr id="8" name="Shape 6"/>
          <p:cNvSpPr/>
          <p:nvPr/>
        </p:nvSpPr>
        <p:spPr>
          <a:xfrm>
            <a:off x="777240" y="3950208"/>
            <a:ext cx="1854403" cy="365760"/>
          </a:xfrm>
          <a:prstGeom prst="roundRect">
            <a:avLst>
              <a:gd name="adj" fmla="val 15000"/>
            </a:avLst>
          </a:prstGeom>
          <a:solidFill>
            <a:srgbClr val="11314C"/>
          </a:solidFill>
          <a:ln/>
        </p:spPr>
        <p:txBody>
          <a:bodyPr/>
          <a:lstStyle/>
          <a:p>
            <a:endParaRPr lang="en-US"/>
          </a:p>
        </p:txBody>
      </p:sp>
      <p:sp>
        <p:nvSpPr>
          <p:cNvPr id="9" name="Text 7"/>
          <p:cNvSpPr/>
          <p:nvPr/>
        </p:nvSpPr>
        <p:spPr>
          <a:xfrm>
            <a:off x="777240" y="3950208"/>
            <a:ext cx="1854403" cy="365760"/>
          </a:xfrm>
          <a:prstGeom prst="rect">
            <a:avLst/>
          </a:prstGeom>
          <a:noFill/>
          <a:ln/>
        </p:spPr>
        <p:txBody>
          <a:bodyPr wrap="square" lIns="0" tIns="0" rIns="0" bIns="0" rtlCol="0" anchor="ctr"/>
          <a:lstStyle/>
          <a:p>
            <a:pPr marL="0" indent="0" algn="ctr">
              <a:buNone/>
            </a:pPr>
            <a:r>
              <a:rPr lang="en-US" sz="1100" b="1" dirty="0">
                <a:solidFill>
                  <a:srgbClr val="11B5A4"/>
                </a:solidFill>
                <a:latin typeface="Calibri" pitchFamily="34" charset="0"/>
                <a:ea typeface="Calibri" pitchFamily="34" charset="-122"/>
                <a:cs typeface="Calibri" pitchFamily="34" charset="-120"/>
              </a:rPr>
              <a:t>Deterministic-first</a:t>
            </a:r>
            <a:endParaRPr lang="en-US" sz="1100" dirty="0"/>
          </a:p>
        </p:txBody>
      </p:sp>
      <p:sp>
        <p:nvSpPr>
          <p:cNvPr id="10" name="Shape 8"/>
          <p:cNvSpPr/>
          <p:nvPr/>
        </p:nvSpPr>
        <p:spPr>
          <a:xfrm>
            <a:off x="2796235" y="3950208"/>
            <a:ext cx="1097280" cy="365760"/>
          </a:xfrm>
          <a:prstGeom prst="roundRect">
            <a:avLst>
              <a:gd name="adj" fmla="val 15000"/>
            </a:avLst>
          </a:prstGeom>
          <a:solidFill>
            <a:srgbClr val="11314C"/>
          </a:solidFill>
          <a:ln/>
        </p:spPr>
        <p:txBody>
          <a:bodyPr/>
          <a:lstStyle/>
          <a:p>
            <a:endParaRPr lang="en-US"/>
          </a:p>
        </p:txBody>
      </p:sp>
      <p:sp>
        <p:nvSpPr>
          <p:cNvPr id="11" name="Text 9"/>
          <p:cNvSpPr/>
          <p:nvPr/>
        </p:nvSpPr>
        <p:spPr>
          <a:xfrm>
            <a:off x="2796235" y="3950208"/>
            <a:ext cx="1097280" cy="365760"/>
          </a:xfrm>
          <a:prstGeom prst="rect">
            <a:avLst/>
          </a:prstGeom>
          <a:noFill/>
          <a:ln/>
        </p:spPr>
        <p:txBody>
          <a:bodyPr wrap="square" lIns="0" tIns="0" rIns="0" bIns="0" rtlCol="0" anchor="ctr"/>
          <a:lstStyle/>
          <a:p>
            <a:pPr marL="0" indent="0" algn="ctr">
              <a:buNone/>
            </a:pPr>
            <a:r>
              <a:rPr lang="en-US" sz="1100" b="1" dirty="0">
                <a:solidFill>
                  <a:srgbClr val="11B5A4"/>
                </a:solidFill>
                <a:latin typeface="Calibri" pitchFamily="34" charset="0"/>
                <a:ea typeface="Calibri" pitchFamily="34" charset="-122"/>
                <a:cs typeface="Calibri" pitchFamily="34" charset="-120"/>
              </a:rPr>
              <a:t>Bounded AI</a:t>
            </a:r>
            <a:endParaRPr lang="en-US" sz="1100" dirty="0"/>
          </a:p>
        </p:txBody>
      </p:sp>
      <p:sp>
        <p:nvSpPr>
          <p:cNvPr id="12" name="Shape 10"/>
          <p:cNvSpPr/>
          <p:nvPr/>
        </p:nvSpPr>
        <p:spPr>
          <a:xfrm>
            <a:off x="4058107" y="3950208"/>
            <a:ext cx="1854403" cy="365760"/>
          </a:xfrm>
          <a:prstGeom prst="roundRect">
            <a:avLst>
              <a:gd name="adj" fmla="val 15000"/>
            </a:avLst>
          </a:prstGeom>
          <a:solidFill>
            <a:srgbClr val="11314C"/>
          </a:solidFill>
          <a:ln/>
        </p:spPr>
        <p:txBody>
          <a:bodyPr/>
          <a:lstStyle/>
          <a:p>
            <a:endParaRPr lang="en-US"/>
          </a:p>
        </p:txBody>
      </p:sp>
      <p:sp>
        <p:nvSpPr>
          <p:cNvPr id="13" name="Text 11"/>
          <p:cNvSpPr/>
          <p:nvPr/>
        </p:nvSpPr>
        <p:spPr>
          <a:xfrm>
            <a:off x="4058107" y="3950208"/>
            <a:ext cx="1854403" cy="365760"/>
          </a:xfrm>
          <a:prstGeom prst="rect">
            <a:avLst/>
          </a:prstGeom>
          <a:noFill/>
          <a:ln/>
        </p:spPr>
        <p:txBody>
          <a:bodyPr wrap="square" lIns="0" tIns="0" rIns="0" bIns="0" rtlCol="0" anchor="ctr"/>
          <a:lstStyle/>
          <a:p>
            <a:pPr marL="0" indent="0" algn="ctr">
              <a:buNone/>
            </a:pPr>
            <a:r>
              <a:rPr lang="en-US" sz="1100" b="1" dirty="0">
                <a:solidFill>
                  <a:srgbClr val="11B5A4"/>
                </a:solidFill>
                <a:latin typeface="Calibri" pitchFamily="34" charset="0"/>
                <a:ea typeface="Calibri" pitchFamily="34" charset="-122"/>
                <a:cs typeface="Calibri" pitchFamily="34" charset="-120"/>
              </a:rPr>
              <a:t>Governed &amp; reusable</a:t>
            </a:r>
            <a:endParaRPr lang="en-US" sz="1100" dirty="0"/>
          </a:p>
        </p:txBody>
      </p:sp>
      <p:sp>
        <p:nvSpPr>
          <p:cNvPr id="14" name="Text 12"/>
          <p:cNvSpPr/>
          <p:nvPr/>
        </p:nvSpPr>
        <p:spPr>
          <a:xfrm>
            <a:off x="777240" y="4590288"/>
            <a:ext cx="7315200" cy="274320"/>
          </a:xfrm>
          <a:prstGeom prst="rect">
            <a:avLst/>
          </a:prstGeom>
          <a:noFill/>
          <a:ln/>
        </p:spPr>
        <p:txBody>
          <a:bodyPr wrap="square" lIns="0" tIns="0" rIns="0" bIns="0" rtlCol="0" anchor="ctr"/>
          <a:lstStyle/>
          <a:p>
            <a:pPr marL="0" indent="0">
              <a:buNone/>
            </a:pPr>
            <a:r>
              <a:rPr lang="en-US" sz="1050" dirty="0">
                <a:solidFill>
                  <a:srgbClr val="6E869B"/>
                </a:solidFill>
                <a:latin typeface="Calibri" pitchFamily="34" charset="0"/>
                <a:ea typeface="Calibri" pitchFamily="34" charset="-122"/>
                <a:cs typeface="Calibri" pitchFamily="34" charset="-120"/>
              </a:rPr>
              <a:t>Prepared for PMO • Enterprise Architecture • Delivery Leads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8138160" cy="274320"/>
          </a:xfrm>
          <a:prstGeom prst="rect">
            <a:avLst/>
          </a:prstGeom>
          <a:noFill/>
          <a:ln/>
        </p:spPr>
        <p:txBody>
          <a:bodyPr wrap="square" lIns="0" tIns="0" rIns="0" bIns="0" rtlCol="0" anchor="ctr"/>
          <a:lstStyle/>
          <a:p>
            <a:pPr marL="0" indent="0" algn="l">
              <a:buNone/>
            </a:pPr>
            <a:r>
              <a:rPr lang="en-US" sz="1150" b="1" kern="0" spc="200" dirty="0">
                <a:solidFill>
                  <a:srgbClr val="0D9488"/>
                </a:solidFill>
                <a:latin typeface="Calibri" pitchFamily="34" charset="0"/>
                <a:ea typeface="Calibri" pitchFamily="34" charset="-122"/>
                <a:cs typeface="Calibri" pitchFamily="34" charset="-120"/>
              </a:rPr>
              <a:t>WHY SEMANTRA EXISTS</a:t>
            </a:r>
            <a:endParaRPr lang="en-US" sz="1150" dirty="0"/>
          </a:p>
        </p:txBody>
      </p:sp>
      <p:sp>
        <p:nvSpPr>
          <p:cNvPr id="3" name="Text 1"/>
          <p:cNvSpPr/>
          <p:nvPr/>
        </p:nvSpPr>
        <p:spPr>
          <a:xfrm>
            <a:off x="502920" y="585216"/>
            <a:ext cx="8138160" cy="749808"/>
          </a:xfrm>
          <a:prstGeom prst="rect">
            <a:avLst/>
          </a:prstGeom>
          <a:noFill/>
          <a:ln/>
        </p:spPr>
        <p:txBody>
          <a:bodyPr wrap="square" lIns="0" tIns="0" rIns="0" bIns="0" rtlCol="0" anchor="t"/>
          <a:lstStyle/>
          <a:p>
            <a:pPr marL="0" indent="0" algn="l">
              <a:buNone/>
            </a:pPr>
            <a:r>
              <a:rPr lang="en-US" sz="2700" b="1" dirty="0">
                <a:solidFill>
                  <a:srgbClr val="0F2A43"/>
                </a:solidFill>
                <a:latin typeface="Georgia" pitchFamily="34" charset="0"/>
                <a:ea typeface="Georgia" pitchFamily="34" charset="-122"/>
                <a:cs typeface="Georgia" pitchFamily="34" charset="-120"/>
              </a:rPr>
              <a:t>The EA–DA gap makes mapping slow, fragile, and invisible</a:t>
            </a:r>
            <a:endParaRPr lang="en-US" sz="2700" dirty="0"/>
          </a:p>
        </p:txBody>
      </p:sp>
      <p:sp>
        <p:nvSpPr>
          <p:cNvPr id="4" name="Shape 2"/>
          <p:cNvSpPr/>
          <p:nvPr/>
        </p:nvSpPr>
        <p:spPr>
          <a:xfrm>
            <a:off x="502920" y="1463040"/>
            <a:ext cx="3931920" cy="1280160"/>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5" name="Shape 3"/>
          <p:cNvSpPr/>
          <p:nvPr/>
        </p:nvSpPr>
        <p:spPr>
          <a:xfrm>
            <a:off x="502920" y="1463040"/>
            <a:ext cx="64008" cy="1280160"/>
          </a:xfrm>
          <a:prstGeom prst="rect">
            <a:avLst/>
          </a:prstGeom>
          <a:solidFill>
            <a:srgbClr val="0D9488"/>
          </a:solidFill>
          <a:ln/>
        </p:spPr>
        <p:txBody>
          <a:bodyPr/>
          <a:lstStyle/>
          <a:p>
            <a:endParaRPr lang="en-US"/>
          </a:p>
        </p:txBody>
      </p:sp>
      <p:sp>
        <p:nvSpPr>
          <p:cNvPr id="6" name="Shape 4"/>
          <p:cNvSpPr/>
          <p:nvPr/>
        </p:nvSpPr>
        <p:spPr>
          <a:xfrm>
            <a:off x="740664" y="1664208"/>
            <a:ext cx="512064" cy="512064"/>
          </a:xfrm>
          <a:prstGeom prst="ellipse">
            <a:avLst/>
          </a:prstGeom>
          <a:solidFill>
            <a:srgbClr val="E6F4F2"/>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868680" y="1792224"/>
            <a:ext cx="256032" cy="256032"/>
          </a:xfrm>
          <a:prstGeom prst="rect">
            <a:avLst/>
          </a:prstGeom>
        </p:spPr>
      </p:pic>
      <p:sp>
        <p:nvSpPr>
          <p:cNvPr id="8" name="Text 5"/>
          <p:cNvSpPr/>
          <p:nvPr/>
        </p:nvSpPr>
        <p:spPr>
          <a:xfrm>
            <a:off x="1453896" y="1645920"/>
            <a:ext cx="2816352" cy="329184"/>
          </a:xfrm>
          <a:prstGeom prst="rect">
            <a:avLst/>
          </a:prstGeom>
          <a:noFill/>
          <a:ln/>
        </p:spPr>
        <p:txBody>
          <a:bodyPr wrap="square" lIns="0" tIns="0" rIns="0" bIns="0" rtlCol="0" anchor="ctr"/>
          <a:lstStyle/>
          <a:p>
            <a:pPr marL="0" indent="0">
              <a:buNone/>
            </a:pPr>
            <a:r>
              <a:rPr lang="en-US" sz="1450" b="1" dirty="0">
                <a:solidFill>
                  <a:srgbClr val="0F2A43"/>
                </a:solidFill>
                <a:latin typeface="Calibri" pitchFamily="34" charset="0"/>
                <a:ea typeface="Calibri" pitchFamily="34" charset="-122"/>
                <a:cs typeface="Calibri" pitchFamily="34" charset="-120"/>
              </a:rPr>
              <a:t>Slow &amp; low reuse</a:t>
            </a:r>
            <a:endParaRPr lang="en-US" sz="1450" dirty="0"/>
          </a:p>
        </p:txBody>
      </p:sp>
      <p:sp>
        <p:nvSpPr>
          <p:cNvPr id="9" name="Text 6"/>
          <p:cNvSpPr/>
          <p:nvPr/>
        </p:nvSpPr>
        <p:spPr>
          <a:xfrm>
            <a:off x="740664" y="2249424"/>
            <a:ext cx="3474720" cy="347472"/>
          </a:xfrm>
          <a:prstGeom prst="rect">
            <a:avLst/>
          </a:prstGeom>
          <a:noFill/>
          <a:ln/>
        </p:spPr>
        <p:txBody>
          <a:bodyPr wrap="square" lIns="0" tIns="0" rIns="0" bIns="0" rtlCol="0" anchor="t"/>
          <a:lstStyle/>
          <a:p>
            <a:pPr marL="0" indent="0">
              <a:lnSpc>
                <a:spcPct val="102000"/>
              </a:lnSpc>
              <a:buNone/>
            </a:pPr>
            <a:r>
              <a:rPr lang="en-US" sz="1150" dirty="0">
                <a:solidFill>
                  <a:srgbClr val="334155"/>
                </a:solidFill>
                <a:latin typeface="Calibri" pitchFamily="34" charset="0"/>
                <a:ea typeface="Calibri" pitchFamily="34" charset="-122"/>
                <a:cs typeface="Calibri" pitchFamily="34" charset="-120"/>
              </a:rPr>
              <a:t>Schema mapping restarts from scratch on every project, from specs and SQL snapshots — not clean data.</a:t>
            </a:r>
            <a:endParaRPr lang="en-US" sz="1150" dirty="0"/>
          </a:p>
        </p:txBody>
      </p:sp>
      <p:sp>
        <p:nvSpPr>
          <p:cNvPr id="10" name="Shape 7"/>
          <p:cNvSpPr/>
          <p:nvPr/>
        </p:nvSpPr>
        <p:spPr>
          <a:xfrm>
            <a:off x="4709160" y="1463040"/>
            <a:ext cx="3931920" cy="1280160"/>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11" name="Shape 8"/>
          <p:cNvSpPr/>
          <p:nvPr/>
        </p:nvSpPr>
        <p:spPr>
          <a:xfrm>
            <a:off x="4709160" y="1463040"/>
            <a:ext cx="64008" cy="1280160"/>
          </a:xfrm>
          <a:prstGeom prst="rect">
            <a:avLst/>
          </a:prstGeom>
          <a:solidFill>
            <a:srgbClr val="0D9488"/>
          </a:solidFill>
          <a:ln/>
        </p:spPr>
        <p:txBody>
          <a:bodyPr/>
          <a:lstStyle/>
          <a:p>
            <a:endParaRPr lang="en-US"/>
          </a:p>
        </p:txBody>
      </p:sp>
      <p:sp>
        <p:nvSpPr>
          <p:cNvPr id="12" name="Shape 9"/>
          <p:cNvSpPr/>
          <p:nvPr/>
        </p:nvSpPr>
        <p:spPr>
          <a:xfrm>
            <a:off x="4946904" y="1664208"/>
            <a:ext cx="512064" cy="512064"/>
          </a:xfrm>
          <a:prstGeom prst="ellipse">
            <a:avLst/>
          </a:prstGeom>
          <a:solidFill>
            <a:srgbClr val="E6F4F2"/>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5074920" y="1792224"/>
            <a:ext cx="256032" cy="256032"/>
          </a:xfrm>
          <a:prstGeom prst="rect">
            <a:avLst/>
          </a:prstGeom>
        </p:spPr>
      </p:pic>
      <p:sp>
        <p:nvSpPr>
          <p:cNvPr id="14" name="Text 10"/>
          <p:cNvSpPr/>
          <p:nvPr/>
        </p:nvSpPr>
        <p:spPr>
          <a:xfrm>
            <a:off x="5660136" y="1645920"/>
            <a:ext cx="2816352" cy="329184"/>
          </a:xfrm>
          <a:prstGeom prst="rect">
            <a:avLst/>
          </a:prstGeom>
          <a:noFill/>
          <a:ln/>
        </p:spPr>
        <p:txBody>
          <a:bodyPr wrap="square" lIns="0" tIns="0" rIns="0" bIns="0" rtlCol="0" anchor="ctr"/>
          <a:lstStyle/>
          <a:p>
            <a:pPr marL="0" indent="0">
              <a:buNone/>
            </a:pPr>
            <a:r>
              <a:rPr lang="en-US" sz="1450" b="1" dirty="0">
                <a:solidFill>
                  <a:srgbClr val="0F2A43"/>
                </a:solidFill>
                <a:latin typeface="Calibri" pitchFamily="34" charset="0"/>
                <a:ea typeface="Calibri" pitchFamily="34" charset="-122"/>
                <a:cs typeface="Calibri" pitchFamily="34" charset="-120"/>
              </a:rPr>
              <a:t>Messy starting state</a:t>
            </a:r>
            <a:endParaRPr lang="en-US" sz="1450" dirty="0"/>
          </a:p>
        </p:txBody>
      </p:sp>
      <p:sp>
        <p:nvSpPr>
          <p:cNvPr id="15" name="Text 11"/>
          <p:cNvSpPr/>
          <p:nvPr/>
        </p:nvSpPr>
        <p:spPr>
          <a:xfrm>
            <a:off x="4946904" y="2249424"/>
            <a:ext cx="3474720" cy="347472"/>
          </a:xfrm>
          <a:prstGeom prst="rect">
            <a:avLst/>
          </a:prstGeom>
          <a:noFill/>
          <a:ln/>
        </p:spPr>
        <p:txBody>
          <a:bodyPr wrap="square" lIns="0" tIns="0" rIns="0" bIns="0" rtlCol="0" anchor="t"/>
          <a:lstStyle/>
          <a:p>
            <a:pPr marL="0" indent="0">
              <a:lnSpc>
                <a:spcPct val="102000"/>
              </a:lnSpc>
              <a:buNone/>
            </a:pPr>
            <a:r>
              <a:rPr lang="en-US" sz="1150" dirty="0">
                <a:solidFill>
                  <a:srgbClr val="334155"/>
                </a:solidFill>
                <a:latin typeface="Calibri" pitchFamily="34" charset="0"/>
                <a:ea typeface="Calibri" pitchFamily="34" charset="-122"/>
                <a:cs typeface="Calibri" pitchFamily="34" charset="-120"/>
              </a:rPr>
              <a:t>Teams begin from partial metadata and fragments, with no consistent way to move to decisions.</a:t>
            </a:r>
            <a:endParaRPr lang="en-US" sz="1150" dirty="0"/>
          </a:p>
        </p:txBody>
      </p:sp>
      <p:sp>
        <p:nvSpPr>
          <p:cNvPr id="16" name="Shape 12"/>
          <p:cNvSpPr/>
          <p:nvPr/>
        </p:nvSpPr>
        <p:spPr>
          <a:xfrm>
            <a:off x="502920" y="2926080"/>
            <a:ext cx="3931920" cy="1280160"/>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17" name="Shape 13"/>
          <p:cNvSpPr/>
          <p:nvPr/>
        </p:nvSpPr>
        <p:spPr>
          <a:xfrm>
            <a:off x="502920" y="2926080"/>
            <a:ext cx="64008" cy="1280160"/>
          </a:xfrm>
          <a:prstGeom prst="rect">
            <a:avLst/>
          </a:prstGeom>
          <a:solidFill>
            <a:srgbClr val="0D9488"/>
          </a:solidFill>
          <a:ln/>
        </p:spPr>
        <p:txBody>
          <a:bodyPr/>
          <a:lstStyle/>
          <a:p>
            <a:endParaRPr lang="en-US"/>
          </a:p>
        </p:txBody>
      </p:sp>
      <p:sp>
        <p:nvSpPr>
          <p:cNvPr id="18" name="Shape 14"/>
          <p:cNvSpPr/>
          <p:nvPr/>
        </p:nvSpPr>
        <p:spPr>
          <a:xfrm>
            <a:off x="740664" y="3127248"/>
            <a:ext cx="512064" cy="512064"/>
          </a:xfrm>
          <a:prstGeom prst="ellipse">
            <a:avLst/>
          </a:prstGeom>
          <a:solidFill>
            <a:srgbClr val="E6F4F2"/>
          </a:solidFill>
          <a:ln/>
        </p:spPr>
        <p:txBody>
          <a:bodyPr/>
          <a:lstStyle/>
          <a:p>
            <a:endParaRPr lang="en-US"/>
          </a:p>
        </p:txBody>
      </p:sp>
      <p:pic>
        <p:nvPicPr>
          <p:cNvPr id="19" name="Image 2" descr="preencoded.png"/>
          <p:cNvPicPr>
            <a:picLocks noChangeAspect="1"/>
          </p:cNvPicPr>
          <p:nvPr/>
        </p:nvPicPr>
        <p:blipFill>
          <a:blip r:embed="rId5"/>
          <a:stretch>
            <a:fillRect/>
          </a:stretch>
        </p:blipFill>
        <p:spPr>
          <a:xfrm>
            <a:off x="868680" y="3255264"/>
            <a:ext cx="256032" cy="256032"/>
          </a:xfrm>
          <a:prstGeom prst="rect">
            <a:avLst/>
          </a:prstGeom>
        </p:spPr>
      </p:pic>
      <p:sp>
        <p:nvSpPr>
          <p:cNvPr id="20" name="Text 15"/>
          <p:cNvSpPr/>
          <p:nvPr/>
        </p:nvSpPr>
        <p:spPr>
          <a:xfrm>
            <a:off x="1453896" y="3108960"/>
            <a:ext cx="2816352" cy="329184"/>
          </a:xfrm>
          <a:prstGeom prst="rect">
            <a:avLst/>
          </a:prstGeom>
          <a:noFill/>
          <a:ln/>
        </p:spPr>
        <p:txBody>
          <a:bodyPr wrap="square" lIns="0" tIns="0" rIns="0" bIns="0" rtlCol="0" anchor="ctr"/>
          <a:lstStyle/>
          <a:p>
            <a:pPr marL="0" indent="0">
              <a:buNone/>
            </a:pPr>
            <a:r>
              <a:rPr lang="en-US" sz="1450" b="1" dirty="0">
                <a:solidFill>
                  <a:srgbClr val="0F2A43"/>
                </a:solidFill>
                <a:latin typeface="Calibri" pitchFamily="34" charset="0"/>
                <a:ea typeface="Calibri" pitchFamily="34" charset="-122"/>
                <a:cs typeface="Calibri" pitchFamily="34" charset="-120"/>
              </a:rPr>
              <a:t>Black-box AI risk</a:t>
            </a:r>
            <a:endParaRPr lang="en-US" sz="1450" dirty="0"/>
          </a:p>
        </p:txBody>
      </p:sp>
      <p:sp>
        <p:nvSpPr>
          <p:cNvPr id="21" name="Text 16"/>
          <p:cNvSpPr/>
          <p:nvPr/>
        </p:nvSpPr>
        <p:spPr>
          <a:xfrm>
            <a:off x="740664" y="3712464"/>
            <a:ext cx="3474720" cy="347472"/>
          </a:xfrm>
          <a:prstGeom prst="rect">
            <a:avLst/>
          </a:prstGeom>
          <a:noFill/>
          <a:ln/>
        </p:spPr>
        <p:txBody>
          <a:bodyPr wrap="square" lIns="0" tIns="0" rIns="0" bIns="0" rtlCol="0" anchor="t"/>
          <a:lstStyle/>
          <a:p>
            <a:pPr marL="0" indent="0">
              <a:lnSpc>
                <a:spcPct val="102000"/>
              </a:lnSpc>
              <a:buNone/>
            </a:pPr>
            <a:r>
              <a:rPr lang="en-US" sz="1150" dirty="0">
                <a:solidFill>
                  <a:srgbClr val="334155"/>
                </a:solidFill>
                <a:latin typeface="Calibri" pitchFamily="34" charset="0"/>
                <a:ea typeface="Calibri" pitchFamily="34" charset="-122"/>
                <a:cs typeface="Calibri" pitchFamily="34" charset="-120"/>
              </a:rPr>
              <a:t>One-off, LLM-only suggestions are hard to trust and hard to defend in real delivery work.</a:t>
            </a:r>
            <a:endParaRPr lang="en-US" sz="1150" dirty="0"/>
          </a:p>
        </p:txBody>
      </p:sp>
      <p:sp>
        <p:nvSpPr>
          <p:cNvPr id="22" name="Shape 17"/>
          <p:cNvSpPr/>
          <p:nvPr/>
        </p:nvSpPr>
        <p:spPr>
          <a:xfrm>
            <a:off x="4709160" y="2926080"/>
            <a:ext cx="3931920" cy="1280160"/>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23" name="Shape 18"/>
          <p:cNvSpPr/>
          <p:nvPr/>
        </p:nvSpPr>
        <p:spPr>
          <a:xfrm>
            <a:off x="4709160" y="2926080"/>
            <a:ext cx="64008" cy="1280160"/>
          </a:xfrm>
          <a:prstGeom prst="rect">
            <a:avLst/>
          </a:prstGeom>
          <a:solidFill>
            <a:srgbClr val="0D9488"/>
          </a:solidFill>
          <a:ln/>
        </p:spPr>
        <p:txBody>
          <a:bodyPr/>
          <a:lstStyle/>
          <a:p>
            <a:endParaRPr lang="en-US"/>
          </a:p>
        </p:txBody>
      </p:sp>
      <p:sp>
        <p:nvSpPr>
          <p:cNvPr id="24" name="Shape 19"/>
          <p:cNvSpPr/>
          <p:nvPr/>
        </p:nvSpPr>
        <p:spPr>
          <a:xfrm>
            <a:off x="4946904" y="3127248"/>
            <a:ext cx="512064" cy="512064"/>
          </a:xfrm>
          <a:prstGeom prst="ellipse">
            <a:avLst/>
          </a:prstGeom>
          <a:solidFill>
            <a:srgbClr val="E6F4F2"/>
          </a:solidFill>
          <a:ln/>
        </p:spPr>
        <p:txBody>
          <a:bodyPr/>
          <a:lstStyle/>
          <a:p>
            <a:endParaRPr lang="en-US"/>
          </a:p>
        </p:txBody>
      </p:sp>
      <p:pic>
        <p:nvPicPr>
          <p:cNvPr id="25" name="Image 3" descr="preencoded.png"/>
          <p:cNvPicPr>
            <a:picLocks noChangeAspect="1"/>
          </p:cNvPicPr>
          <p:nvPr/>
        </p:nvPicPr>
        <p:blipFill>
          <a:blip r:embed="rId6"/>
          <a:stretch>
            <a:fillRect/>
          </a:stretch>
        </p:blipFill>
        <p:spPr>
          <a:xfrm>
            <a:off x="5074920" y="3255264"/>
            <a:ext cx="256032" cy="256032"/>
          </a:xfrm>
          <a:prstGeom prst="rect">
            <a:avLst/>
          </a:prstGeom>
        </p:spPr>
      </p:pic>
      <p:sp>
        <p:nvSpPr>
          <p:cNvPr id="26" name="Text 20"/>
          <p:cNvSpPr/>
          <p:nvPr/>
        </p:nvSpPr>
        <p:spPr>
          <a:xfrm>
            <a:off x="5660136" y="3108960"/>
            <a:ext cx="2816352" cy="329184"/>
          </a:xfrm>
          <a:prstGeom prst="rect">
            <a:avLst/>
          </a:prstGeom>
          <a:noFill/>
          <a:ln/>
        </p:spPr>
        <p:txBody>
          <a:bodyPr wrap="square" lIns="0" tIns="0" rIns="0" bIns="0" rtlCol="0" anchor="ctr"/>
          <a:lstStyle/>
          <a:p>
            <a:pPr marL="0" indent="0">
              <a:buNone/>
            </a:pPr>
            <a:r>
              <a:rPr lang="en-US" sz="1450" b="1" dirty="0">
                <a:solidFill>
                  <a:srgbClr val="0F2A43"/>
                </a:solidFill>
                <a:latin typeface="Calibri" pitchFamily="34" charset="0"/>
                <a:ea typeface="Calibri" pitchFamily="34" charset="-122"/>
                <a:cs typeface="Calibri" pitchFamily="34" charset="-120"/>
              </a:rPr>
              <a:t>No shared memory</a:t>
            </a:r>
            <a:endParaRPr lang="en-US" sz="1450" dirty="0"/>
          </a:p>
        </p:txBody>
      </p:sp>
      <p:sp>
        <p:nvSpPr>
          <p:cNvPr id="27" name="Text 21"/>
          <p:cNvSpPr/>
          <p:nvPr/>
        </p:nvSpPr>
        <p:spPr>
          <a:xfrm>
            <a:off x="4946904" y="3712464"/>
            <a:ext cx="3474720" cy="347472"/>
          </a:xfrm>
          <a:prstGeom prst="rect">
            <a:avLst/>
          </a:prstGeom>
          <a:noFill/>
          <a:ln/>
        </p:spPr>
        <p:txBody>
          <a:bodyPr wrap="square" lIns="0" tIns="0" rIns="0" bIns="0" rtlCol="0" anchor="t"/>
          <a:lstStyle/>
          <a:p>
            <a:pPr marL="0" indent="0">
              <a:lnSpc>
                <a:spcPct val="102000"/>
              </a:lnSpc>
              <a:buNone/>
            </a:pPr>
            <a:r>
              <a:rPr lang="en-US" sz="1150" dirty="0">
                <a:solidFill>
                  <a:srgbClr val="334155"/>
                </a:solidFill>
                <a:latin typeface="Calibri" pitchFamily="34" charset="0"/>
                <a:ea typeface="Calibri" pitchFamily="34" charset="-122"/>
                <a:cs typeface="Calibri" pitchFamily="34" charset="-120"/>
              </a:rPr>
              <a:t>Mapping knowledge disappears when a project ends; nothing links enterprise models to delivery.</a:t>
            </a:r>
            <a:endParaRPr lang="en-US" sz="1150" dirty="0"/>
          </a:p>
        </p:txBody>
      </p:sp>
      <p:sp>
        <p:nvSpPr>
          <p:cNvPr id="28" name="Text 22"/>
          <p:cNvSpPr/>
          <p:nvPr/>
        </p:nvSpPr>
        <p:spPr>
          <a:xfrm>
            <a:off x="502920" y="4334256"/>
            <a:ext cx="8138160" cy="310896"/>
          </a:xfrm>
          <a:prstGeom prst="rect">
            <a:avLst/>
          </a:prstGeom>
          <a:noFill/>
          <a:ln/>
        </p:spPr>
        <p:txBody>
          <a:bodyPr wrap="square" lIns="0" tIns="0" rIns="0" bIns="0" rtlCol="0" anchor="ctr"/>
          <a:lstStyle/>
          <a:p>
            <a:pPr marL="0" indent="0" algn="l">
              <a:buNone/>
            </a:pPr>
            <a:r>
              <a:rPr lang="en-US" sz="1200" b="1" i="1" dirty="0">
                <a:solidFill>
                  <a:srgbClr val="0D9488"/>
                </a:solidFill>
                <a:latin typeface="Calibri" pitchFamily="34" charset="0"/>
                <a:ea typeface="Calibri" pitchFamily="34" charset="-122"/>
                <a:cs typeface="Calibri" pitchFamily="34" charset="-120"/>
              </a:rPr>
              <a:t>Integration delivery needs a structured, governable way to move from raw structures to reviewed decisions.</a:t>
            </a:r>
            <a:endParaRPr lang="en-US" sz="1200" dirty="0"/>
          </a:p>
        </p:txBody>
      </p:sp>
      <p:sp>
        <p:nvSpPr>
          <p:cNvPr id="29" name="Shape 23"/>
          <p:cNvSpPr/>
          <p:nvPr/>
        </p:nvSpPr>
        <p:spPr>
          <a:xfrm>
            <a:off x="502920" y="4718304"/>
            <a:ext cx="8138160" cy="0"/>
          </a:xfrm>
          <a:prstGeom prst="line">
            <a:avLst/>
          </a:prstGeom>
          <a:noFill/>
          <a:ln w="12700">
            <a:solidFill>
              <a:srgbClr val="DCE5EE"/>
            </a:solidFill>
            <a:prstDash val="solid"/>
          </a:ln>
        </p:spPr>
        <p:txBody>
          <a:bodyPr/>
          <a:lstStyle/>
          <a:p>
            <a:endParaRPr lang="en-US"/>
          </a:p>
        </p:txBody>
      </p:sp>
      <p:sp>
        <p:nvSpPr>
          <p:cNvPr id="30" name="Shape 24"/>
          <p:cNvSpPr/>
          <p:nvPr/>
        </p:nvSpPr>
        <p:spPr>
          <a:xfrm>
            <a:off x="502920" y="4846320"/>
            <a:ext cx="73152" cy="73152"/>
          </a:xfrm>
          <a:prstGeom prst="ellipse">
            <a:avLst/>
          </a:prstGeom>
          <a:solidFill>
            <a:srgbClr val="0D9488"/>
          </a:solidFill>
          <a:ln/>
        </p:spPr>
        <p:txBody>
          <a:bodyPr/>
          <a:lstStyle/>
          <a:p>
            <a:endParaRPr lang="en-US"/>
          </a:p>
        </p:txBody>
      </p:sp>
      <p:sp>
        <p:nvSpPr>
          <p:cNvPr id="31" name="Text 25"/>
          <p:cNvSpPr/>
          <p:nvPr/>
        </p:nvSpPr>
        <p:spPr>
          <a:xfrm>
            <a:off x="649224" y="4764024"/>
            <a:ext cx="2743200" cy="237744"/>
          </a:xfrm>
          <a:prstGeom prst="rect">
            <a:avLst/>
          </a:prstGeom>
          <a:noFill/>
          <a:ln/>
        </p:spPr>
        <p:txBody>
          <a:bodyPr wrap="square" lIns="0" tIns="0" rIns="0" bIns="0" rtlCol="0" anchor="ctr"/>
          <a:lstStyle/>
          <a:p>
            <a:pPr marL="0" indent="0">
              <a:buNone/>
            </a:pPr>
            <a:r>
              <a:rPr lang="en-US" sz="950" b="1" kern="0" spc="200" dirty="0">
                <a:solidFill>
                  <a:srgbClr val="64748B"/>
                </a:solidFill>
                <a:latin typeface="Calibri" pitchFamily="34" charset="0"/>
                <a:ea typeface="Calibri" pitchFamily="34" charset="-122"/>
                <a:cs typeface="Calibri" pitchFamily="34" charset="-120"/>
              </a:rPr>
              <a:t>SEMANTRA</a:t>
            </a:r>
            <a:endParaRPr lang="en-US" sz="950" dirty="0"/>
          </a:p>
        </p:txBody>
      </p:sp>
      <p:sp>
        <p:nvSpPr>
          <p:cNvPr id="32" name="Text 26"/>
          <p:cNvSpPr/>
          <p:nvPr/>
        </p:nvSpPr>
        <p:spPr>
          <a:xfrm>
            <a:off x="4800600" y="4764024"/>
            <a:ext cx="2834640" cy="237744"/>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PMO SERVICE • EA–DA BRIDGE</a:t>
            </a:r>
            <a:endParaRPr lang="en-US" sz="900" dirty="0"/>
          </a:p>
        </p:txBody>
      </p:sp>
      <p:sp>
        <p:nvSpPr>
          <p:cNvPr id="33" name="Text 27"/>
          <p:cNvSpPr/>
          <p:nvPr/>
        </p:nvSpPr>
        <p:spPr>
          <a:xfrm>
            <a:off x="7726680" y="4764024"/>
            <a:ext cx="914400" cy="237744"/>
          </a:xfrm>
          <a:prstGeom prst="rect">
            <a:avLst/>
          </a:prstGeom>
          <a:noFill/>
          <a:ln/>
        </p:spPr>
        <p:txBody>
          <a:bodyPr wrap="square" lIns="0" tIns="0" rIns="0" bIns="0" rtlCol="0" anchor="ctr"/>
          <a:lstStyle/>
          <a:p>
            <a:pPr marL="0" indent="0" algn="r">
              <a:buNone/>
            </a:pPr>
            <a:r>
              <a:rPr lang="en-US" sz="950" b="1" dirty="0">
                <a:solidFill>
                  <a:srgbClr val="0D9488"/>
                </a:solidFill>
                <a:latin typeface="Calibri" pitchFamily="34" charset="0"/>
                <a:ea typeface="Calibri" pitchFamily="34" charset="-122"/>
                <a:cs typeface="Calibri" pitchFamily="34" charset="-120"/>
              </a:rPr>
              <a:t>02 / 18</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8138160" cy="274320"/>
          </a:xfrm>
          <a:prstGeom prst="rect">
            <a:avLst/>
          </a:prstGeom>
          <a:noFill/>
          <a:ln/>
        </p:spPr>
        <p:txBody>
          <a:bodyPr wrap="square" lIns="0" tIns="0" rIns="0" bIns="0" rtlCol="0" anchor="ctr"/>
          <a:lstStyle/>
          <a:p>
            <a:pPr marL="0" indent="0" algn="l">
              <a:buNone/>
            </a:pPr>
            <a:r>
              <a:rPr lang="en-US" sz="1150" b="1" kern="0" spc="200" dirty="0">
                <a:solidFill>
                  <a:srgbClr val="0D9488"/>
                </a:solidFill>
                <a:latin typeface="Calibri" pitchFamily="34" charset="0"/>
                <a:ea typeface="Calibri" pitchFamily="34" charset="-122"/>
                <a:cs typeface="Calibri" pitchFamily="34" charset="-120"/>
              </a:rPr>
              <a:t>TODAY</a:t>
            </a:r>
            <a:endParaRPr lang="en-US" sz="1150" dirty="0"/>
          </a:p>
        </p:txBody>
      </p:sp>
      <p:sp>
        <p:nvSpPr>
          <p:cNvPr id="3" name="Text 1"/>
          <p:cNvSpPr/>
          <p:nvPr/>
        </p:nvSpPr>
        <p:spPr>
          <a:xfrm>
            <a:off x="502920" y="585216"/>
            <a:ext cx="8138160" cy="749808"/>
          </a:xfrm>
          <a:prstGeom prst="rect">
            <a:avLst/>
          </a:prstGeom>
          <a:noFill/>
          <a:ln/>
        </p:spPr>
        <p:txBody>
          <a:bodyPr wrap="square" lIns="0" tIns="0" rIns="0" bIns="0" rtlCol="0" anchor="t"/>
          <a:lstStyle/>
          <a:p>
            <a:pPr marL="0" indent="0" algn="l">
              <a:buNone/>
            </a:pPr>
            <a:r>
              <a:rPr lang="en-US" sz="2700" b="1" dirty="0">
                <a:solidFill>
                  <a:srgbClr val="0F2A43"/>
                </a:solidFill>
                <a:latin typeface="Georgia" pitchFamily="34" charset="0"/>
                <a:ea typeface="Georgia" pitchFamily="34" charset="-122"/>
                <a:cs typeface="Georgia" pitchFamily="34" charset="-120"/>
              </a:rPr>
              <a:t>A pilot-ready service bridging EA, DA &amp; delivery</a:t>
            </a:r>
            <a:endParaRPr lang="en-US" sz="2700" dirty="0"/>
          </a:p>
        </p:txBody>
      </p:sp>
      <p:sp>
        <p:nvSpPr>
          <p:cNvPr id="4" name="Shape 2"/>
          <p:cNvSpPr/>
          <p:nvPr/>
        </p:nvSpPr>
        <p:spPr>
          <a:xfrm>
            <a:off x="502920" y="1499616"/>
            <a:ext cx="2554224" cy="1335024"/>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5" name="Shape 3"/>
          <p:cNvSpPr/>
          <p:nvPr/>
        </p:nvSpPr>
        <p:spPr>
          <a:xfrm>
            <a:off x="502920" y="1499616"/>
            <a:ext cx="64008" cy="1335024"/>
          </a:xfrm>
          <a:prstGeom prst="rect">
            <a:avLst/>
          </a:prstGeom>
          <a:solidFill>
            <a:srgbClr val="0D9488"/>
          </a:solidFill>
          <a:ln/>
        </p:spPr>
        <p:txBody>
          <a:bodyPr/>
          <a:lstStyle/>
          <a:p>
            <a:endParaRPr lang="en-US"/>
          </a:p>
        </p:txBody>
      </p:sp>
      <p:sp>
        <p:nvSpPr>
          <p:cNvPr id="6" name="Shape 4"/>
          <p:cNvSpPr/>
          <p:nvPr/>
        </p:nvSpPr>
        <p:spPr>
          <a:xfrm>
            <a:off x="740664" y="1700784"/>
            <a:ext cx="512064" cy="512064"/>
          </a:xfrm>
          <a:prstGeom prst="ellipse">
            <a:avLst/>
          </a:prstGeom>
          <a:solidFill>
            <a:srgbClr val="E6F4F2"/>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868680" y="1828800"/>
            <a:ext cx="256032" cy="256032"/>
          </a:xfrm>
          <a:prstGeom prst="rect">
            <a:avLst/>
          </a:prstGeom>
        </p:spPr>
      </p:pic>
      <p:sp>
        <p:nvSpPr>
          <p:cNvPr id="8" name="Text 5"/>
          <p:cNvSpPr/>
          <p:nvPr/>
        </p:nvSpPr>
        <p:spPr>
          <a:xfrm>
            <a:off x="1453896" y="1682496"/>
            <a:ext cx="1438656" cy="329184"/>
          </a:xfrm>
          <a:prstGeom prst="rect">
            <a:avLst/>
          </a:prstGeom>
          <a:noFill/>
          <a:ln/>
        </p:spPr>
        <p:txBody>
          <a:bodyPr wrap="square" lIns="0" tIns="0" rIns="0" bIns="0" rtlCol="0" anchor="ctr"/>
          <a:lstStyle/>
          <a:p>
            <a:pPr marL="0" indent="0">
              <a:buNone/>
            </a:pPr>
            <a:r>
              <a:rPr lang="en-US" sz="1450" b="1" dirty="0">
                <a:solidFill>
                  <a:srgbClr val="0F2A43"/>
                </a:solidFill>
                <a:latin typeface="Calibri" pitchFamily="34" charset="0"/>
                <a:ea typeface="Calibri" pitchFamily="34" charset="-122"/>
                <a:cs typeface="Calibri" pitchFamily="34" charset="-120"/>
              </a:rPr>
              <a:t>Service-ready</a:t>
            </a:r>
            <a:endParaRPr lang="en-US" sz="1450" dirty="0"/>
          </a:p>
        </p:txBody>
      </p:sp>
      <p:sp>
        <p:nvSpPr>
          <p:cNvPr id="9" name="Text 6"/>
          <p:cNvSpPr/>
          <p:nvPr/>
        </p:nvSpPr>
        <p:spPr>
          <a:xfrm>
            <a:off x="740664" y="2286000"/>
            <a:ext cx="2097024" cy="402336"/>
          </a:xfrm>
          <a:prstGeom prst="rect">
            <a:avLst/>
          </a:prstGeom>
          <a:noFill/>
          <a:ln/>
        </p:spPr>
        <p:txBody>
          <a:bodyPr wrap="square" lIns="0" tIns="0" rIns="0" bIns="0" rtlCol="0" anchor="t"/>
          <a:lstStyle/>
          <a:p>
            <a:pPr marL="0" indent="0">
              <a:lnSpc>
                <a:spcPct val="102000"/>
              </a:lnSpc>
              <a:buNone/>
            </a:pPr>
            <a:r>
              <a:rPr lang="en-US" sz="1150" dirty="0">
                <a:solidFill>
                  <a:srgbClr val="334155"/>
                </a:solidFill>
                <a:latin typeface="Calibri" pitchFamily="34" charset="0"/>
                <a:ea typeface="Calibri" pitchFamily="34" charset="-122"/>
                <a:cs typeface="Calibri" pitchFamily="34" charset="-120"/>
              </a:rPr>
              <a:t>A pilot-ready semantic mapping and governance workbench, registered as a PMO capability.</a:t>
            </a:r>
            <a:endParaRPr lang="en-US" sz="1150" dirty="0"/>
          </a:p>
        </p:txBody>
      </p:sp>
      <p:sp>
        <p:nvSpPr>
          <p:cNvPr id="10" name="Shape 7"/>
          <p:cNvSpPr/>
          <p:nvPr/>
        </p:nvSpPr>
        <p:spPr>
          <a:xfrm>
            <a:off x="3294888" y="1499616"/>
            <a:ext cx="2554224" cy="1335024"/>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11" name="Shape 8"/>
          <p:cNvSpPr/>
          <p:nvPr/>
        </p:nvSpPr>
        <p:spPr>
          <a:xfrm>
            <a:off x="3294888" y="1499616"/>
            <a:ext cx="64008" cy="1335024"/>
          </a:xfrm>
          <a:prstGeom prst="rect">
            <a:avLst/>
          </a:prstGeom>
          <a:solidFill>
            <a:srgbClr val="0D9488"/>
          </a:solidFill>
          <a:ln/>
        </p:spPr>
        <p:txBody>
          <a:bodyPr/>
          <a:lstStyle/>
          <a:p>
            <a:endParaRPr lang="en-US"/>
          </a:p>
        </p:txBody>
      </p:sp>
      <p:sp>
        <p:nvSpPr>
          <p:cNvPr id="12" name="Shape 9"/>
          <p:cNvSpPr/>
          <p:nvPr/>
        </p:nvSpPr>
        <p:spPr>
          <a:xfrm>
            <a:off x="3532632" y="1700784"/>
            <a:ext cx="512064" cy="512064"/>
          </a:xfrm>
          <a:prstGeom prst="ellipse">
            <a:avLst/>
          </a:prstGeom>
          <a:solidFill>
            <a:srgbClr val="E6F4F2"/>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3660648" y="1828800"/>
            <a:ext cx="256032" cy="256032"/>
          </a:xfrm>
          <a:prstGeom prst="rect">
            <a:avLst/>
          </a:prstGeom>
        </p:spPr>
      </p:pic>
      <p:sp>
        <p:nvSpPr>
          <p:cNvPr id="14" name="Text 10"/>
          <p:cNvSpPr/>
          <p:nvPr/>
        </p:nvSpPr>
        <p:spPr>
          <a:xfrm>
            <a:off x="4245864" y="1682496"/>
            <a:ext cx="1438656" cy="329184"/>
          </a:xfrm>
          <a:prstGeom prst="rect">
            <a:avLst/>
          </a:prstGeom>
          <a:noFill/>
          <a:ln/>
        </p:spPr>
        <p:txBody>
          <a:bodyPr wrap="square" lIns="0" tIns="0" rIns="0" bIns="0" rtlCol="0" anchor="ctr"/>
          <a:lstStyle/>
          <a:p>
            <a:pPr marL="0" indent="0">
              <a:buNone/>
            </a:pPr>
            <a:r>
              <a:rPr lang="en-US" sz="1450" b="1" dirty="0">
                <a:solidFill>
                  <a:srgbClr val="0F2A43"/>
                </a:solidFill>
                <a:latin typeface="Calibri" pitchFamily="34" charset="0"/>
                <a:ea typeface="Calibri" pitchFamily="34" charset="-122"/>
                <a:cs typeface="Calibri" pitchFamily="34" charset="-120"/>
              </a:rPr>
              <a:t>Modular &amp; extensible</a:t>
            </a:r>
            <a:endParaRPr lang="en-US" sz="1450" dirty="0"/>
          </a:p>
        </p:txBody>
      </p:sp>
      <p:sp>
        <p:nvSpPr>
          <p:cNvPr id="15" name="Text 11"/>
          <p:cNvSpPr/>
          <p:nvPr/>
        </p:nvSpPr>
        <p:spPr>
          <a:xfrm>
            <a:off x="3532632" y="2286000"/>
            <a:ext cx="2097024" cy="402336"/>
          </a:xfrm>
          <a:prstGeom prst="rect">
            <a:avLst/>
          </a:prstGeom>
          <a:noFill/>
          <a:ln/>
        </p:spPr>
        <p:txBody>
          <a:bodyPr wrap="square" lIns="0" tIns="0" rIns="0" bIns="0" rtlCol="0" anchor="t"/>
          <a:lstStyle/>
          <a:p>
            <a:pPr marL="0" indent="0">
              <a:lnSpc>
                <a:spcPct val="102000"/>
              </a:lnSpc>
              <a:buNone/>
            </a:pPr>
            <a:r>
              <a:rPr lang="en-US" sz="1150" dirty="0">
                <a:solidFill>
                  <a:srgbClr val="334155"/>
                </a:solidFill>
                <a:latin typeface="Calibri" pitchFamily="34" charset="0"/>
                <a:ea typeface="Calibri" pitchFamily="34" charset="-122"/>
                <a:cs typeface="Calibri" pitchFamily="34" charset="-120"/>
              </a:rPr>
              <a:t>Component-based product surface that scales with organizational needs.</a:t>
            </a:r>
            <a:endParaRPr lang="en-US" sz="1150" dirty="0"/>
          </a:p>
        </p:txBody>
      </p:sp>
      <p:sp>
        <p:nvSpPr>
          <p:cNvPr id="16" name="Shape 12"/>
          <p:cNvSpPr/>
          <p:nvPr/>
        </p:nvSpPr>
        <p:spPr>
          <a:xfrm>
            <a:off x="6086856" y="1499616"/>
            <a:ext cx="2554224" cy="1335024"/>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17" name="Shape 13"/>
          <p:cNvSpPr/>
          <p:nvPr/>
        </p:nvSpPr>
        <p:spPr>
          <a:xfrm>
            <a:off x="6086856" y="1499616"/>
            <a:ext cx="64008" cy="1335024"/>
          </a:xfrm>
          <a:prstGeom prst="rect">
            <a:avLst/>
          </a:prstGeom>
          <a:solidFill>
            <a:srgbClr val="0D9488"/>
          </a:solidFill>
          <a:ln/>
        </p:spPr>
        <p:txBody>
          <a:bodyPr/>
          <a:lstStyle/>
          <a:p>
            <a:endParaRPr lang="en-US"/>
          </a:p>
        </p:txBody>
      </p:sp>
      <p:sp>
        <p:nvSpPr>
          <p:cNvPr id="18" name="Shape 14"/>
          <p:cNvSpPr/>
          <p:nvPr/>
        </p:nvSpPr>
        <p:spPr>
          <a:xfrm>
            <a:off x="6324600" y="1700784"/>
            <a:ext cx="512064" cy="512064"/>
          </a:xfrm>
          <a:prstGeom prst="ellipse">
            <a:avLst/>
          </a:prstGeom>
          <a:solidFill>
            <a:srgbClr val="E6F4F2"/>
          </a:solidFill>
          <a:ln/>
        </p:spPr>
        <p:txBody>
          <a:bodyPr/>
          <a:lstStyle/>
          <a:p>
            <a:endParaRPr lang="en-US"/>
          </a:p>
        </p:txBody>
      </p:sp>
      <p:pic>
        <p:nvPicPr>
          <p:cNvPr id="19" name="Image 2" descr="preencoded.png"/>
          <p:cNvPicPr>
            <a:picLocks noChangeAspect="1"/>
          </p:cNvPicPr>
          <p:nvPr/>
        </p:nvPicPr>
        <p:blipFill>
          <a:blip r:embed="rId5"/>
          <a:stretch>
            <a:fillRect/>
          </a:stretch>
        </p:blipFill>
        <p:spPr>
          <a:xfrm>
            <a:off x="6452616" y="1828800"/>
            <a:ext cx="256032" cy="256032"/>
          </a:xfrm>
          <a:prstGeom prst="rect">
            <a:avLst/>
          </a:prstGeom>
        </p:spPr>
      </p:pic>
      <p:sp>
        <p:nvSpPr>
          <p:cNvPr id="20" name="Text 15"/>
          <p:cNvSpPr/>
          <p:nvPr/>
        </p:nvSpPr>
        <p:spPr>
          <a:xfrm>
            <a:off x="7037832" y="1682496"/>
            <a:ext cx="1438656" cy="329184"/>
          </a:xfrm>
          <a:prstGeom prst="rect">
            <a:avLst/>
          </a:prstGeom>
          <a:noFill/>
          <a:ln/>
        </p:spPr>
        <p:txBody>
          <a:bodyPr wrap="square" lIns="0" tIns="0" rIns="0" bIns="0" rtlCol="0" anchor="ctr"/>
          <a:lstStyle/>
          <a:p>
            <a:pPr marL="0" indent="0">
              <a:buNone/>
            </a:pPr>
            <a:r>
              <a:rPr lang="en-US" sz="1450" b="1" dirty="0">
                <a:solidFill>
                  <a:srgbClr val="0F2A43"/>
                </a:solidFill>
                <a:latin typeface="Calibri" pitchFamily="34" charset="0"/>
                <a:ea typeface="Calibri" pitchFamily="34" charset="-122"/>
                <a:cs typeface="Calibri" pitchFamily="34" charset="-120"/>
              </a:rPr>
              <a:t>Explainable decisions</a:t>
            </a:r>
            <a:endParaRPr lang="en-US" sz="1450" dirty="0"/>
          </a:p>
        </p:txBody>
      </p:sp>
      <p:sp>
        <p:nvSpPr>
          <p:cNvPr id="21" name="Text 16"/>
          <p:cNvSpPr/>
          <p:nvPr/>
        </p:nvSpPr>
        <p:spPr>
          <a:xfrm>
            <a:off x="6324600" y="2286000"/>
            <a:ext cx="2097024" cy="402336"/>
          </a:xfrm>
          <a:prstGeom prst="rect">
            <a:avLst/>
          </a:prstGeom>
          <a:noFill/>
          <a:ln/>
        </p:spPr>
        <p:txBody>
          <a:bodyPr wrap="square" lIns="0" tIns="0" rIns="0" bIns="0" rtlCol="0" anchor="t"/>
          <a:lstStyle/>
          <a:p>
            <a:pPr marL="0" indent="0">
              <a:lnSpc>
                <a:spcPct val="102000"/>
              </a:lnSpc>
              <a:buNone/>
            </a:pPr>
            <a:r>
              <a:rPr lang="en-US" sz="1150" dirty="0">
                <a:solidFill>
                  <a:srgbClr val="334155"/>
                </a:solidFill>
                <a:latin typeface="Calibri" pitchFamily="34" charset="0"/>
                <a:ea typeface="Calibri" pitchFamily="34" charset="-122"/>
                <a:cs typeface="Calibri" pitchFamily="34" charset="-120"/>
              </a:rPr>
              <a:t>Every mapping suggestion is traceable and auditable — no black-box risk.</a:t>
            </a:r>
            <a:endParaRPr lang="en-US" sz="1150" dirty="0"/>
          </a:p>
        </p:txBody>
      </p:sp>
      <p:sp>
        <p:nvSpPr>
          <p:cNvPr id="22" name="Shape 17"/>
          <p:cNvSpPr/>
          <p:nvPr/>
        </p:nvSpPr>
        <p:spPr>
          <a:xfrm>
            <a:off x="502920" y="3035808"/>
            <a:ext cx="2554224" cy="1335024"/>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23" name="Shape 18"/>
          <p:cNvSpPr/>
          <p:nvPr/>
        </p:nvSpPr>
        <p:spPr>
          <a:xfrm>
            <a:off x="502920" y="3035808"/>
            <a:ext cx="64008" cy="1335024"/>
          </a:xfrm>
          <a:prstGeom prst="rect">
            <a:avLst/>
          </a:prstGeom>
          <a:solidFill>
            <a:srgbClr val="0D9488"/>
          </a:solidFill>
          <a:ln/>
        </p:spPr>
        <p:txBody>
          <a:bodyPr/>
          <a:lstStyle/>
          <a:p>
            <a:endParaRPr lang="en-US"/>
          </a:p>
        </p:txBody>
      </p:sp>
      <p:sp>
        <p:nvSpPr>
          <p:cNvPr id="24" name="Shape 19"/>
          <p:cNvSpPr/>
          <p:nvPr/>
        </p:nvSpPr>
        <p:spPr>
          <a:xfrm>
            <a:off x="740664" y="3236976"/>
            <a:ext cx="512064" cy="512064"/>
          </a:xfrm>
          <a:prstGeom prst="ellipse">
            <a:avLst/>
          </a:prstGeom>
          <a:solidFill>
            <a:srgbClr val="E6F4F2"/>
          </a:solidFill>
          <a:ln/>
        </p:spPr>
        <p:txBody>
          <a:bodyPr/>
          <a:lstStyle/>
          <a:p>
            <a:endParaRPr lang="en-US"/>
          </a:p>
        </p:txBody>
      </p:sp>
      <p:pic>
        <p:nvPicPr>
          <p:cNvPr id="25" name="Image 3" descr="preencoded.png"/>
          <p:cNvPicPr>
            <a:picLocks noChangeAspect="1"/>
          </p:cNvPicPr>
          <p:nvPr/>
        </p:nvPicPr>
        <p:blipFill>
          <a:blip r:embed="rId6"/>
          <a:stretch>
            <a:fillRect/>
          </a:stretch>
        </p:blipFill>
        <p:spPr>
          <a:xfrm>
            <a:off x="868680" y="3364992"/>
            <a:ext cx="256032" cy="256032"/>
          </a:xfrm>
          <a:prstGeom prst="rect">
            <a:avLst/>
          </a:prstGeom>
        </p:spPr>
      </p:pic>
      <p:sp>
        <p:nvSpPr>
          <p:cNvPr id="26" name="Text 20"/>
          <p:cNvSpPr/>
          <p:nvPr/>
        </p:nvSpPr>
        <p:spPr>
          <a:xfrm>
            <a:off x="1453896" y="3218688"/>
            <a:ext cx="1438656" cy="329184"/>
          </a:xfrm>
          <a:prstGeom prst="rect">
            <a:avLst/>
          </a:prstGeom>
          <a:noFill/>
          <a:ln/>
        </p:spPr>
        <p:txBody>
          <a:bodyPr wrap="square" lIns="0" tIns="0" rIns="0" bIns="0" rtlCol="0" anchor="ctr"/>
          <a:lstStyle/>
          <a:p>
            <a:pPr marL="0" indent="0">
              <a:buNone/>
            </a:pPr>
            <a:r>
              <a:rPr lang="en-US" sz="1450" b="1" dirty="0">
                <a:solidFill>
                  <a:srgbClr val="0F2A43"/>
                </a:solidFill>
                <a:latin typeface="Calibri" pitchFamily="34" charset="0"/>
                <a:ea typeface="Calibri" pitchFamily="34" charset="-122"/>
                <a:cs typeface="Calibri" pitchFamily="34" charset="-120"/>
              </a:rPr>
              <a:t>Governed memory</a:t>
            </a:r>
            <a:endParaRPr lang="en-US" sz="1450" dirty="0"/>
          </a:p>
        </p:txBody>
      </p:sp>
      <p:sp>
        <p:nvSpPr>
          <p:cNvPr id="27" name="Text 21"/>
          <p:cNvSpPr/>
          <p:nvPr/>
        </p:nvSpPr>
        <p:spPr>
          <a:xfrm>
            <a:off x="740664" y="3822192"/>
            <a:ext cx="2097024" cy="402336"/>
          </a:xfrm>
          <a:prstGeom prst="rect">
            <a:avLst/>
          </a:prstGeom>
          <a:noFill/>
          <a:ln/>
        </p:spPr>
        <p:txBody>
          <a:bodyPr wrap="square" lIns="0" tIns="0" rIns="0" bIns="0" rtlCol="0" anchor="t"/>
          <a:lstStyle/>
          <a:p>
            <a:pPr marL="0" indent="0">
              <a:lnSpc>
                <a:spcPct val="102000"/>
              </a:lnSpc>
              <a:buNone/>
            </a:pPr>
            <a:r>
              <a:rPr lang="en-US" sz="1150" dirty="0">
                <a:solidFill>
                  <a:srgbClr val="334155"/>
                </a:solidFill>
                <a:latin typeface="Calibri" pitchFamily="34" charset="0"/>
                <a:ea typeface="Calibri" pitchFamily="34" charset="-122"/>
                <a:cs typeface="Calibri" pitchFamily="34" charset="-120"/>
              </a:rPr>
              <a:t>Reusable catalog knowledge and benchmark history that compound across projects.</a:t>
            </a:r>
            <a:endParaRPr lang="en-US" sz="1150" dirty="0"/>
          </a:p>
        </p:txBody>
      </p:sp>
      <p:sp>
        <p:nvSpPr>
          <p:cNvPr id="28" name="Shape 22"/>
          <p:cNvSpPr/>
          <p:nvPr/>
        </p:nvSpPr>
        <p:spPr>
          <a:xfrm>
            <a:off x="3294888" y="3035808"/>
            <a:ext cx="2554224" cy="1335024"/>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29" name="Shape 23"/>
          <p:cNvSpPr/>
          <p:nvPr/>
        </p:nvSpPr>
        <p:spPr>
          <a:xfrm>
            <a:off x="3294888" y="3035808"/>
            <a:ext cx="64008" cy="1335024"/>
          </a:xfrm>
          <a:prstGeom prst="rect">
            <a:avLst/>
          </a:prstGeom>
          <a:solidFill>
            <a:srgbClr val="0D9488"/>
          </a:solidFill>
          <a:ln/>
        </p:spPr>
        <p:txBody>
          <a:bodyPr/>
          <a:lstStyle/>
          <a:p>
            <a:endParaRPr lang="en-US"/>
          </a:p>
        </p:txBody>
      </p:sp>
      <p:sp>
        <p:nvSpPr>
          <p:cNvPr id="30" name="Shape 24"/>
          <p:cNvSpPr/>
          <p:nvPr/>
        </p:nvSpPr>
        <p:spPr>
          <a:xfrm>
            <a:off x="3532632" y="3236976"/>
            <a:ext cx="512064" cy="512064"/>
          </a:xfrm>
          <a:prstGeom prst="ellipse">
            <a:avLst/>
          </a:prstGeom>
          <a:solidFill>
            <a:srgbClr val="E6F4F2"/>
          </a:solidFill>
          <a:ln/>
        </p:spPr>
        <p:txBody>
          <a:bodyPr/>
          <a:lstStyle/>
          <a:p>
            <a:endParaRPr lang="en-US"/>
          </a:p>
        </p:txBody>
      </p:sp>
      <p:pic>
        <p:nvPicPr>
          <p:cNvPr id="31" name="Image 4" descr="preencoded.png"/>
          <p:cNvPicPr>
            <a:picLocks noChangeAspect="1"/>
          </p:cNvPicPr>
          <p:nvPr/>
        </p:nvPicPr>
        <p:blipFill>
          <a:blip r:embed="rId7"/>
          <a:stretch>
            <a:fillRect/>
          </a:stretch>
        </p:blipFill>
        <p:spPr>
          <a:xfrm>
            <a:off x="3660648" y="3364992"/>
            <a:ext cx="256032" cy="256032"/>
          </a:xfrm>
          <a:prstGeom prst="rect">
            <a:avLst/>
          </a:prstGeom>
        </p:spPr>
      </p:pic>
      <p:sp>
        <p:nvSpPr>
          <p:cNvPr id="32" name="Text 25"/>
          <p:cNvSpPr/>
          <p:nvPr/>
        </p:nvSpPr>
        <p:spPr>
          <a:xfrm>
            <a:off x="4245864" y="3218688"/>
            <a:ext cx="1438656" cy="329184"/>
          </a:xfrm>
          <a:prstGeom prst="rect">
            <a:avLst/>
          </a:prstGeom>
          <a:noFill/>
          <a:ln/>
        </p:spPr>
        <p:txBody>
          <a:bodyPr wrap="square" lIns="0" tIns="0" rIns="0" bIns="0" rtlCol="0" anchor="ctr"/>
          <a:lstStyle/>
          <a:p>
            <a:pPr marL="0" indent="0">
              <a:buNone/>
            </a:pPr>
            <a:r>
              <a:rPr lang="en-US" sz="1450" b="1" dirty="0">
                <a:solidFill>
                  <a:srgbClr val="0F2A43"/>
                </a:solidFill>
                <a:latin typeface="Calibri" pitchFamily="34" charset="0"/>
                <a:ea typeface="Calibri" pitchFamily="34" charset="-122"/>
                <a:cs typeface="Calibri" pitchFamily="34" charset="-120"/>
              </a:rPr>
              <a:t>Delivery starters</a:t>
            </a:r>
            <a:endParaRPr lang="en-US" sz="1450" dirty="0"/>
          </a:p>
        </p:txBody>
      </p:sp>
      <p:sp>
        <p:nvSpPr>
          <p:cNvPr id="33" name="Text 26"/>
          <p:cNvSpPr/>
          <p:nvPr/>
        </p:nvSpPr>
        <p:spPr>
          <a:xfrm>
            <a:off x="3532632" y="3822192"/>
            <a:ext cx="2097024" cy="402336"/>
          </a:xfrm>
          <a:prstGeom prst="rect">
            <a:avLst/>
          </a:prstGeom>
          <a:noFill/>
          <a:ln/>
        </p:spPr>
        <p:txBody>
          <a:bodyPr wrap="square" lIns="0" tIns="0" rIns="0" bIns="0" rtlCol="0" anchor="t"/>
          <a:lstStyle/>
          <a:p>
            <a:pPr marL="0" indent="0">
              <a:lnSpc>
                <a:spcPct val="102000"/>
              </a:lnSpc>
              <a:buNone/>
            </a:pPr>
            <a:r>
              <a:rPr lang="en-US" sz="1150" dirty="0">
                <a:solidFill>
                  <a:srgbClr val="334155"/>
                </a:solidFill>
                <a:latin typeface="Calibri" pitchFamily="34" charset="0"/>
                <a:ea typeface="Calibri" pitchFamily="34" charset="-122"/>
                <a:cs typeface="Calibri" pitchFamily="34" charset="-120"/>
              </a:rPr>
              <a:t>Transformation starter code and output preview, gated behind review.</a:t>
            </a:r>
            <a:endParaRPr lang="en-US" sz="1150" dirty="0"/>
          </a:p>
        </p:txBody>
      </p:sp>
      <p:sp>
        <p:nvSpPr>
          <p:cNvPr id="34" name="Shape 27"/>
          <p:cNvSpPr/>
          <p:nvPr/>
        </p:nvSpPr>
        <p:spPr>
          <a:xfrm>
            <a:off x="6086856" y="3035808"/>
            <a:ext cx="2554224" cy="1335024"/>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35" name="Shape 28"/>
          <p:cNvSpPr/>
          <p:nvPr/>
        </p:nvSpPr>
        <p:spPr>
          <a:xfrm>
            <a:off x="6086856" y="3035808"/>
            <a:ext cx="64008" cy="1335024"/>
          </a:xfrm>
          <a:prstGeom prst="rect">
            <a:avLst/>
          </a:prstGeom>
          <a:solidFill>
            <a:srgbClr val="0D9488"/>
          </a:solidFill>
          <a:ln/>
        </p:spPr>
        <p:txBody>
          <a:bodyPr/>
          <a:lstStyle/>
          <a:p>
            <a:endParaRPr lang="en-US"/>
          </a:p>
        </p:txBody>
      </p:sp>
      <p:sp>
        <p:nvSpPr>
          <p:cNvPr id="36" name="Shape 29"/>
          <p:cNvSpPr/>
          <p:nvPr/>
        </p:nvSpPr>
        <p:spPr>
          <a:xfrm>
            <a:off x="6324600" y="3236976"/>
            <a:ext cx="512064" cy="512064"/>
          </a:xfrm>
          <a:prstGeom prst="ellipse">
            <a:avLst/>
          </a:prstGeom>
          <a:solidFill>
            <a:srgbClr val="E6F4F2"/>
          </a:solidFill>
          <a:ln/>
        </p:spPr>
        <p:txBody>
          <a:bodyPr/>
          <a:lstStyle/>
          <a:p>
            <a:endParaRPr lang="en-US"/>
          </a:p>
        </p:txBody>
      </p:sp>
      <p:pic>
        <p:nvPicPr>
          <p:cNvPr id="37" name="Image 5" descr="preencoded.png"/>
          <p:cNvPicPr>
            <a:picLocks noChangeAspect="1"/>
          </p:cNvPicPr>
          <p:nvPr/>
        </p:nvPicPr>
        <p:blipFill>
          <a:blip r:embed="rId8"/>
          <a:stretch>
            <a:fillRect/>
          </a:stretch>
        </p:blipFill>
        <p:spPr>
          <a:xfrm>
            <a:off x="6452616" y="3364992"/>
            <a:ext cx="256032" cy="256032"/>
          </a:xfrm>
          <a:prstGeom prst="rect">
            <a:avLst/>
          </a:prstGeom>
        </p:spPr>
      </p:pic>
      <p:sp>
        <p:nvSpPr>
          <p:cNvPr id="38" name="Text 30"/>
          <p:cNvSpPr/>
          <p:nvPr/>
        </p:nvSpPr>
        <p:spPr>
          <a:xfrm>
            <a:off x="7037832" y="3218688"/>
            <a:ext cx="1438656" cy="329184"/>
          </a:xfrm>
          <a:prstGeom prst="rect">
            <a:avLst/>
          </a:prstGeom>
          <a:noFill/>
          <a:ln/>
        </p:spPr>
        <p:txBody>
          <a:bodyPr wrap="square" lIns="0" tIns="0" rIns="0" bIns="0" rtlCol="0" anchor="ctr"/>
          <a:lstStyle/>
          <a:p>
            <a:pPr marL="0" indent="0">
              <a:buNone/>
            </a:pPr>
            <a:r>
              <a:rPr lang="en-US" sz="1450" b="1" dirty="0">
                <a:solidFill>
                  <a:srgbClr val="0F2A43"/>
                </a:solidFill>
                <a:latin typeface="Calibri" pitchFamily="34" charset="0"/>
                <a:ea typeface="Calibri" pitchFamily="34" charset="-122"/>
                <a:cs typeface="Calibri" pitchFamily="34" charset="-120"/>
              </a:rPr>
              <a:t>BA Mapping Report</a:t>
            </a:r>
            <a:endParaRPr lang="en-US" sz="1450" dirty="0"/>
          </a:p>
        </p:txBody>
      </p:sp>
      <p:sp>
        <p:nvSpPr>
          <p:cNvPr id="39" name="Text 31"/>
          <p:cNvSpPr/>
          <p:nvPr/>
        </p:nvSpPr>
        <p:spPr>
          <a:xfrm>
            <a:off x="6324600" y="3822192"/>
            <a:ext cx="2097024" cy="402336"/>
          </a:xfrm>
          <a:prstGeom prst="rect">
            <a:avLst/>
          </a:prstGeom>
          <a:noFill/>
          <a:ln/>
        </p:spPr>
        <p:txBody>
          <a:bodyPr wrap="square" lIns="0" tIns="0" rIns="0" bIns="0" rtlCol="0" anchor="t"/>
          <a:lstStyle/>
          <a:p>
            <a:pPr marL="0" indent="0">
              <a:lnSpc>
                <a:spcPct val="102000"/>
              </a:lnSpc>
              <a:buNone/>
            </a:pPr>
            <a:r>
              <a:rPr lang="en-US" sz="1150" dirty="0">
                <a:solidFill>
                  <a:srgbClr val="334155"/>
                </a:solidFill>
                <a:latin typeface="Calibri" pitchFamily="34" charset="0"/>
                <a:ea typeface="Calibri" pitchFamily="34" charset="-122"/>
                <a:cs typeface="Calibri" pitchFamily="34" charset="-120"/>
              </a:rPr>
              <a:t>An emerging business-facing summary that turns workspace outcomes into a shareable artifact.</a:t>
            </a:r>
            <a:endParaRPr lang="en-US" sz="1150" dirty="0"/>
          </a:p>
        </p:txBody>
      </p:sp>
      <p:sp>
        <p:nvSpPr>
          <p:cNvPr id="40" name="Shape 32"/>
          <p:cNvSpPr/>
          <p:nvPr/>
        </p:nvSpPr>
        <p:spPr>
          <a:xfrm>
            <a:off x="502920" y="4718304"/>
            <a:ext cx="8138160" cy="0"/>
          </a:xfrm>
          <a:prstGeom prst="line">
            <a:avLst/>
          </a:prstGeom>
          <a:noFill/>
          <a:ln w="12700">
            <a:solidFill>
              <a:srgbClr val="DCE5EE"/>
            </a:solidFill>
            <a:prstDash val="solid"/>
          </a:ln>
        </p:spPr>
        <p:txBody>
          <a:bodyPr/>
          <a:lstStyle/>
          <a:p>
            <a:endParaRPr lang="en-US"/>
          </a:p>
        </p:txBody>
      </p:sp>
      <p:sp>
        <p:nvSpPr>
          <p:cNvPr id="41" name="Shape 33"/>
          <p:cNvSpPr/>
          <p:nvPr/>
        </p:nvSpPr>
        <p:spPr>
          <a:xfrm>
            <a:off x="502920" y="4846320"/>
            <a:ext cx="73152" cy="73152"/>
          </a:xfrm>
          <a:prstGeom prst="ellipse">
            <a:avLst/>
          </a:prstGeom>
          <a:solidFill>
            <a:srgbClr val="0D9488"/>
          </a:solidFill>
          <a:ln/>
        </p:spPr>
        <p:txBody>
          <a:bodyPr/>
          <a:lstStyle/>
          <a:p>
            <a:endParaRPr lang="en-US"/>
          </a:p>
        </p:txBody>
      </p:sp>
      <p:sp>
        <p:nvSpPr>
          <p:cNvPr id="42" name="Text 34"/>
          <p:cNvSpPr/>
          <p:nvPr/>
        </p:nvSpPr>
        <p:spPr>
          <a:xfrm>
            <a:off x="649224" y="4764024"/>
            <a:ext cx="2743200" cy="237744"/>
          </a:xfrm>
          <a:prstGeom prst="rect">
            <a:avLst/>
          </a:prstGeom>
          <a:noFill/>
          <a:ln/>
        </p:spPr>
        <p:txBody>
          <a:bodyPr wrap="square" lIns="0" tIns="0" rIns="0" bIns="0" rtlCol="0" anchor="ctr"/>
          <a:lstStyle/>
          <a:p>
            <a:pPr marL="0" indent="0">
              <a:buNone/>
            </a:pPr>
            <a:r>
              <a:rPr lang="en-US" sz="950" b="1" kern="0" spc="200" dirty="0">
                <a:solidFill>
                  <a:srgbClr val="64748B"/>
                </a:solidFill>
                <a:latin typeface="Calibri" pitchFamily="34" charset="0"/>
                <a:ea typeface="Calibri" pitchFamily="34" charset="-122"/>
                <a:cs typeface="Calibri" pitchFamily="34" charset="-120"/>
              </a:rPr>
              <a:t>SEMANTRA</a:t>
            </a:r>
            <a:endParaRPr lang="en-US" sz="950" dirty="0"/>
          </a:p>
        </p:txBody>
      </p:sp>
      <p:sp>
        <p:nvSpPr>
          <p:cNvPr id="43" name="Text 35"/>
          <p:cNvSpPr/>
          <p:nvPr/>
        </p:nvSpPr>
        <p:spPr>
          <a:xfrm>
            <a:off x="4800600" y="4764024"/>
            <a:ext cx="2834640" cy="237744"/>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PMO SERVICE • EA–DA BRIDGE</a:t>
            </a:r>
            <a:endParaRPr lang="en-US" sz="900" dirty="0"/>
          </a:p>
        </p:txBody>
      </p:sp>
      <p:sp>
        <p:nvSpPr>
          <p:cNvPr id="44" name="Text 36"/>
          <p:cNvSpPr/>
          <p:nvPr/>
        </p:nvSpPr>
        <p:spPr>
          <a:xfrm>
            <a:off x="7726680" y="4764024"/>
            <a:ext cx="914400" cy="237744"/>
          </a:xfrm>
          <a:prstGeom prst="rect">
            <a:avLst/>
          </a:prstGeom>
          <a:noFill/>
          <a:ln/>
        </p:spPr>
        <p:txBody>
          <a:bodyPr wrap="square" lIns="0" tIns="0" rIns="0" bIns="0" rtlCol="0" anchor="ctr"/>
          <a:lstStyle/>
          <a:p>
            <a:pPr marL="0" indent="0" algn="r">
              <a:buNone/>
            </a:pPr>
            <a:r>
              <a:rPr lang="en-US" sz="950" b="1" dirty="0">
                <a:solidFill>
                  <a:srgbClr val="0D9488"/>
                </a:solidFill>
                <a:latin typeface="Calibri" pitchFamily="34" charset="0"/>
                <a:ea typeface="Calibri" pitchFamily="34" charset="-122"/>
                <a:cs typeface="Calibri" pitchFamily="34" charset="-120"/>
              </a:rPr>
              <a:t>03 / 18</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8138160" cy="274320"/>
          </a:xfrm>
          <a:prstGeom prst="rect">
            <a:avLst/>
          </a:prstGeom>
          <a:noFill/>
          <a:ln/>
        </p:spPr>
        <p:txBody>
          <a:bodyPr wrap="square" lIns="0" tIns="0" rIns="0" bIns="0" rtlCol="0" anchor="ctr"/>
          <a:lstStyle/>
          <a:p>
            <a:pPr marL="0" indent="0" algn="l">
              <a:buNone/>
            </a:pPr>
            <a:r>
              <a:rPr lang="en-US" sz="1150" b="1" kern="0" spc="200" dirty="0">
                <a:solidFill>
                  <a:srgbClr val="0D9488"/>
                </a:solidFill>
                <a:latin typeface="Calibri" pitchFamily="34" charset="0"/>
                <a:ea typeface="Calibri" pitchFamily="34" charset="-122"/>
                <a:cs typeface="Calibri" pitchFamily="34" charset="-120"/>
              </a:rPr>
              <a:t>STRATEGIC POSITION</a:t>
            </a:r>
            <a:endParaRPr lang="en-US" sz="1150" dirty="0"/>
          </a:p>
        </p:txBody>
      </p:sp>
      <p:sp>
        <p:nvSpPr>
          <p:cNvPr id="3" name="Text 1"/>
          <p:cNvSpPr/>
          <p:nvPr/>
        </p:nvSpPr>
        <p:spPr>
          <a:xfrm>
            <a:off x="502920" y="585216"/>
            <a:ext cx="8138160" cy="749808"/>
          </a:xfrm>
          <a:prstGeom prst="rect">
            <a:avLst/>
          </a:prstGeom>
          <a:noFill/>
          <a:ln/>
        </p:spPr>
        <p:txBody>
          <a:bodyPr wrap="square" lIns="0" tIns="0" rIns="0" bIns="0" rtlCol="0" anchor="t"/>
          <a:lstStyle/>
          <a:p>
            <a:pPr marL="0" indent="0" algn="l">
              <a:buNone/>
            </a:pPr>
            <a:r>
              <a:rPr lang="en-US" sz="2700" b="1" dirty="0">
                <a:solidFill>
                  <a:srgbClr val="0F2A43"/>
                </a:solidFill>
                <a:latin typeface="Georgia" pitchFamily="34" charset="0"/>
                <a:ea typeface="Georgia" pitchFamily="34" charset="-122"/>
                <a:cs typeface="Georgia" pitchFamily="34" charset="-120"/>
              </a:rPr>
              <a:t>Where Semantra sits: EA ↔ DA ↔ Integration</a:t>
            </a:r>
            <a:endParaRPr lang="en-US" sz="2700" dirty="0"/>
          </a:p>
        </p:txBody>
      </p:sp>
      <p:sp>
        <p:nvSpPr>
          <p:cNvPr id="4" name="Shape 2"/>
          <p:cNvSpPr/>
          <p:nvPr/>
        </p:nvSpPr>
        <p:spPr>
          <a:xfrm>
            <a:off x="502920" y="1517904"/>
            <a:ext cx="2542032" cy="1783080"/>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5" name="Shape 3"/>
          <p:cNvSpPr/>
          <p:nvPr/>
        </p:nvSpPr>
        <p:spPr>
          <a:xfrm>
            <a:off x="1444752" y="1755648"/>
            <a:ext cx="658368" cy="658368"/>
          </a:xfrm>
          <a:prstGeom prst="ellipse">
            <a:avLst/>
          </a:prstGeom>
          <a:solidFill>
            <a:srgbClr val="0F2A43"/>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591056" y="1901952"/>
            <a:ext cx="365760" cy="365760"/>
          </a:xfrm>
          <a:prstGeom prst="rect">
            <a:avLst/>
          </a:prstGeom>
        </p:spPr>
      </p:pic>
      <p:sp>
        <p:nvSpPr>
          <p:cNvPr id="7" name="Text 4"/>
          <p:cNvSpPr/>
          <p:nvPr/>
        </p:nvSpPr>
        <p:spPr>
          <a:xfrm>
            <a:off x="640080" y="2487168"/>
            <a:ext cx="2267712" cy="365760"/>
          </a:xfrm>
          <a:prstGeom prst="rect">
            <a:avLst/>
          </a:prstGeom>
          <a:noFill/>
          <a:ln/>
        </p:spPr>
        <p:txBody>
          <a:bodyPr wrap="square" lIns="0" tIns="0" rIns="0" bIns="0" rtlCol="0" anchor="ctr"/>
          <a:lstStyle/>
          <a:p>
            <a:pPr marL="0" indent="0" algn="ctr">
              <a:buNone/>
            </a:pPr>
            <a:r>
              <a:rPr lang="en-US" sz="1400" b="1" dirty="0">
                <a:solidFill>
                  <a:srgbClr val="0F2A43"/>
                </a:solidFill>
                <a:latin typeface="Calibri" pitchFamily="34" charset="0"/>
                <a:ea typeface="Calibri" pitchFamily="34" charset="-122"/>
                <a:cs typeface="Calibri" pitchFamily="34" charset="-120"/>
              </a:rPr>
              <a:t>Enterprise Architecture</a:t>
            </a:r>
            <a:endParaRPr lang="en-US" sz="1400" dirty="0"/>
          </a:p>
        </p:txBody>
      </p:sp>
      <p:sp>
        <p:nvSpPr>
          <p:cNvPr id="8" name="Text 5"/>
          <p:cNvSpPr/>
          <p:nvPr/>
        </p:nvSpPr>
        <p:spPr>
          <a:xfrm>
            <a:off x="685800" y="2816352"/>
            <a:ext cx="2176272" cy="457200"/>
          </a:xfrm>
          <a:prstGeom prst="rect">
            <a:avLst/>
          </a:prstGeom>
          <a:noFill/>
          <a:ln/>
        </p:spPr>
        <p:txBody>
          <a:bodyPr wrap="square" lIns="0" tIns="0" rIns="0" bIns="0" rtlCol="0" anchor="t"/>
          <a:lstStyle/>
          <a:p>
            <a:pPr marL="0" indent="0" algn="ctr">
              <a:buNone/>
            </a:pPr>
            <a:r>
              <a:rPr lang="en-US" sz="1100" dirty="0">
                <a:solidFill>
                  <a:srgbClr val="334155"/>
                </a:solidFill>
                <a:latin typeface="Calibri" pitchFamily="34" charset="0"/>
                <a:ea typeface="Calibri" pitchFamily="34" charset="-122"/>
                <a:cs typeface="Calibri" pitchFamily="34" charset="-120"/>
              </a:rPr>
              <a:t>Business domains, canonical models, and enterprise glossary ownership.</a:t>
            </a:r>
            <a:endParaRPr lang="en-US" sz="1100" dirty="0"/>
          </a:p>
        </p:txBody>
      </p:sp>
      <p:sp>
        <p:nvSpPr>
          <p:cNvPr id="9" name="Text 6"/>
          <p:cNvSpPr/>
          <p:nvPr/>
        </p:nvSpPr>
        <p:spPr>
          <a:xfrm>
            <a:off x="3008376" y="1901952"/>
            <a:ext cx="329184" cy="457200"/>
          </a:xfrm>
          <a:prstGeom prst="rect">
            <a:avLst/>
          </a:prstGeom>
          <a:noFill/>
          <a:ln/>
        </p:spPr>
        <p:txBody>
          <a:bodyPr wrap="square" lIns="0" tIns="0" rIns="0" bIns="0" rtlCol="0" anchor="ctr"/>
          <a:lstStyle/>
          <a:p>
            <a:pPr marL="0" indent="0" algn="ctr">
              <a:buNone/>
            </a:pPr>
            <a:r>
              <a:rPr lang="en-US" sz="2200" b="1" dirty="0">
                <a:solidFill>
                  <a:srgbClr val="0D9488"/>
                </a:solidFill>
                <a:latin typeface="Calibri" pitchFamily="34" charset="0"/>
                <a:ea typeface="Calibri" pitchFamily="34" charset="-122"/>
                <a:cs typeface="Calibri" pitchFamily="34" charset="-120"/>
              </a:rPr>
              <a:t>↔</a:t>
            </a:r>
            <a:endParaRPr lang="en-US" sz="2200" dirty="0"/>
          </a:p>
        </p:txBody>
      </p:sp>
      <p:sp>
        <p:nvSpPr>
          <p:cNvPr id="10" name="Shape 7"/>
          <p:cNvSpPr/>
          <p:nvPr/>
        </p:nvSpPr>
        <p:spPr>
          <a:xfrm>
            <a:off x="3300984" y="1517904"/>
            <a:ext cx="2542032" cy="1783080"/>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11" name="Shape 8"/>
          <p:cNvSpPr/>
          <p:nvPr/>
        </p:nvSpPr>
        <p:spPr>
          <a:xfrm>
            <a:off x="4242816" y="1755648"/>
            <a:ext cx="658368" cy="658368"/>
          </a:xfrm>
          <a:prstGeom prst="ellipse">
            <a:avLst/>
          </a:prstGeom>
          <a:solidFill>
            <a:srgbClr val="0F2A43"/>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4389120" y="1901952"/>
            <a:ext cx="365760" cy="365760"/>
          </a:xfrm>
          <a:prstGeom prst="rect">
            <a:avLst/>
          </a:prstGeom>
        </p:spPr>
      </p:pic>
      <p:sp>
        <p:nvSpPr>
          <p:cNvPr id="13" name="Text 9"/>
          <p:cNvSpPr/>
          <p:nvPr/>
        </p:nvSpPr>
        <p:spPr>
          <a:xfrm>
            <a:off x="3438144" y="2487168"/>
            <a:ext cx="2267712" cy="365760"/>
          </a:xfrm>
          <a:prstGeom prst="rect">
            <a:avLst/>
          </a:prstGeom>
          <a:noFill/>
          <a:ln/>
        </p:spPr>
        <p:txBody>
          <a:bodyPr wrap="square" lIns="0" tIns="0" rIns="0" bIns="0" rtlCol="0" anchor="ctr"/>
          <a:lstStyle/>
          <a:p>
            <a:pPr marL="0" indent="0" algn="ctr">
              <a:buNone/>
            </a:pPr>
            <a:r>
              <a:rPr lang="en-US" sz="1400" b="1" dirty="0">
                <a:solidFill>
                  <a:srgbClr val="0F2A43"/>
                </a:solidFill>
                <a:latin typeface="Calibri" pitchFamily="34" charset="0"/>
                <a:ea typeface="Calibri" pitchFamily="34" charset="-122"/>
                <a:cs typeface="Calibri" pitchFamily="34" charset="-120"/>
              </a:rPr>
              <a:t>Data Architecture</a:t>
            </a:r>
            <a:endParaRPr lang="en-US" sz="1400" dirty="0"/>
          </a:p>
        </p:txBody>
      </p:sp>
      <p:sp>
        <p:nvSpPr>
          <p:cNvPr id="14" name="Text 10"/>
          <p:cNvSpPr/>
          <p:nvPr/>
        </p:nvSpPr>
        <p:spPr>
          <a:xfrm>
            <a:off x="3483864" y="2816352"/>
            <a:ext cx="2176272" cy="457200"/>
          </a:xfrm>
          <a:prstGeom prst="rect">
            <a:avLst/>
          </a:prstGeom>
          <a:noFill/>
          <a:ln/>
        </p:spPr>
        <p:txBody>
          <a:bodyPr wrap="square" lIns="0" tIns="0" rIns="0" bIns="0" rtlCol="0" anchor="t"/>
          <a:lstStyle/>
          <a:p>
            <a:pPr marL="0" indent="0" algn="ctr">
              <a:buNone/>
            </a:pPr>
            <a:r>
              <a:rPr lang="en-US" sz="1100" dirty="0">
                <a:solidFill>
                  <a:srgbClr val="334155"/>
                </a:solidFill>
                <a:latin typeface="Calibri" pitchFamily="34" charset="0"/>
                <a:ea typeface="Calibri" pitchFamily="34" charset="-122"/>
                <a:cs typeface="Calibri" pitchFamily="34" charset="-120"/>
              </a:rPr>
              <a:t>Schema standards, data quality rules, and MDM golden records.</a:t>
            </a:r>
            <a:endParaRPr lang="en-US" sz="1100" dirty="0"/>
          </a:p>
        </p:txBody>
      </p:sp>
      <p:sp>
        <p:nvSpPr>
          <p:cNvPr id="15" name="Text 11"/>
          <p:cNvSpPr/>
          <p:nvPr/>
        </p:nvSpPr>
        <p:spPr>
          <a:xfrm>
            <a:off x="5806440" y="1901952"/>
            <a:ext cx="329184" cy="457200"/>
          </a:xfrm>
          <a:prstGeom prst="rect">
            <a:avLst/>
          </a:prstGeom>
          <a:noFill/>
          <a:ln/>
        </p:spPr>
        <p:txBody>
          <a:bodyPr wrap="square" lIns="0" tIns="0" rIns="0" bIns="0" rtlCol="0" anchor="ctr"/>
          <a:lstStyle/>
          <a:p>
            <a:pPr marL="0" indent="0" algn="ctr">
              <a:buNone/>
            </a:pPr>
            <a:r>
              <a:rPr lang="en-US" sz="2200" b="1" dirty="0">
                <a:solidFill>
                  <a:srgbClr val="0D9488"/>
                </a:solidFill>
                <a:latin typeface="Calibri" pitchFamily="34" charset="0"/>
                <a:ea typeface="Calibri" pitchFamily="34" charset="-122"/>
                <a:cs typeface="Calibri" pitchFamily="34" charset="-120"/>
              </a:rPr>
              <a:t>↔</a:t>
            </a:r>
            <a:endParaRPr lang="en-US" sz="2200" dirty="0"/>
          </a:p>
        </p:txBody>
      </p:sp>
      <p:sp>
        <p:nvSpPr>
          <p:cNvPr id="16" name="Shape 12"/>
          <p:cNvSpPr/>
          <p:nvPr/>
        </p:nvSpPr>
        <p:spPr>
          <a:xfrm>
            <a:off x="6099048" y="1517904"/>
            <a:ext cx="2542032" cy="1783080"/>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17" name="Shape 13"/>
          <p:cNvSpPr/>
          <p:nvPr/>
        </p:nvSpPr>
        <p:spPr>
          <a:xfrm>
            <a:off x="7040880" y="1755648"/>
            <a:ext cx="658368" cy="658368"/>
          </a:xfrm>
          <a:prstGeom prst="ellipse">
            <a:avLst/>
          </a:prstGeom>
          <a:solidFill>
            <a:srgbClr val="0F2A43"/>
          </a:solidFill>
          <a:ln/>
        </p:spPr>
        <p:txBody>
          <a:bodyPr/>
          <a:lstStyle/>
          <a:p>
            <a:endParaRPr lang="en-US"/>
          </a:p>
        </p:txBody>
      </p:sp>
      <p:pic>
        <p:nvPicPr>
          <p:cNvPr id="18" name="Image 2" descr="preencoded.png"/>
          <p:cNvPicPr>
            <a:picLocks noChangeAspect="1"/>
          </p:cNvPicPr>
          <p:nvPr/>
        </p:nvPicPr>
        <p:blipFill>
          <a:blip r:embed="rId5"/>
          <a:stretch>
            <a:fillRect/>
          </a:stretch>
        </p:blipFill>
        <p:spPr>
          <a:xfrm>
            <a:off x="7187184" y="1901952"/>
            <a:ext cx="365760" cy="365760"/>
          </a:xfrm>
          <a:prstGeom prst="rect">
            <a:avLst/>
          </a:prstGeom>
        </p:spPr>
      </p:pic>
      <p:sp>
        <p:nvSpPr>
          <p:cNvPr id="19" name="Text 14"/>
          <p:cNvSpPr/>
          <p:nvPr/>
        </p:nvSpPr>
        <p:spPr>
          <a:xfrm>
            <a:off x="6236208" y="2487168"/>
            <a:ext cx="2267712" cy="365760"/>
          </a:xfrm>
          <a:prstGeom prst="rect">
            <a:avLst/>
          </a:prstGeom>
          <a:noFill/>
          <a:ln/>
        </p:spPr>
        <p:txBody>
          <a:bodyPr wrap="square" lIns="0" tIns="0" rIns="0" bIns="0" rtlCol="0" anchor="ctr"/>
          <a:lstStyle/>
          <a:p>
            <a:pPr marL="0" indent="0" algn="ctr">
              <a:buNone/>
            </a:pPr>
            <a:r>
              <a:rPr lang="en-US" sz="1400" b="1" dirty="0">
                <a:solidFill>
                  <a:srgbClr val="0F2A43"/>
                </a:solidFill>
                <a:latin typeface="Calibri" pitchFamily="34" charset="0"/>
                <a:ea typeface="Calibri" pitchFamily="34" charset="-122"/>
                <a:cs typeface="Calibri" pitchFamily="34" charset="-120"/>
              </a:rPr>
              <a:t>Integration Delivery</a:t>
            </a:r>
            <a:endParaRPr lang="en-US" sz="1400" dirty="0"/>
          </a:p>
        </p:txBody>
      </p:sp>
      <p:sp>
        <p:nvSpPr>
          <p:cNvPr id="20" name="Text 15"/>
          <p:cNvSpPr/>
          <p:nvPr/>
        </p:nvSpPr>
        <p:spPr>
          <a:xfrm>
            <a:off x="6281928" y="2816352"/>
            <a:ext cx="2176272" cy="457200"/>
          </a:xfrm>
          <a:prstGeom prst="rect">
            <a:avLst/>
          </a:prstGeom>
          <a:noFill/>
          <a:ln/>
        </p:spPr>
        <p:txBody>
          <a:bodyPr wrap="square" lIns="0" tIns="0" rIns="0" bIns="0" rtlCol="0" anchor="t"/>
          <a:lstStyle/>
          <a:p>
            <a:pPr marL="0" indent="0" algn="ctr">
              <a:buNone/>
            </a:pPr>
            <a:r>
              <a:rPr lang="en-US" sz="1100" dirty="0">
                <a:solidFill>
                  <a:srgbClr val="334155"/>
                </a:solidFill>
                <a:latin typeface="Calibri" pitchFamily="34" charset="0"/>
                <a:ea typeface="Calibri" pitchFamily="34" charset="-122"/>
                <a:cs typeface="Calibri" pitchFamily="34" charset="-120"/>
              </a:rPr>
              <a:t>Source-to-target mapping, transformations, and governed code generation.</a:t>
            </a:r>
            <a:endParaRPr lang="en-US" sz="1100" dirty="0"/>
          </a:p>
        </p:txBody>
      </p:sp>
      <p:sp>
        <p:nvSpPr>
          <p:cNvPr id="21" name="Shape 16"/>
          <p:cNvSpPr/>
          <p:nvPr/>
        </p:nvSpPr>
        <p:spPr>
          <a:xfrm>
            <a:off x="502920" y="3584448"/>
            <a:ext cx="8138160" cy="841248"/>
          </a:xfrm>
          <a:prstGeom prst="rect">
            <a:avLst/>
          </a:prstGeom>
          <a:solidFill>
            <a:srgbClr val="E6F4F2"/>
          </a:solidFill>
          <a:ln w="12700">
            <a:solidFill>
              <a:srgbClr val="0D9488"/>
            </a:solidFill>
            <a:prstDash val="solid"/>
          </a:ln>
        </p:spPr>
        <p:txBody>
          <a:bodyPr/>
          <a:lstStyle/>
          <a:p>
            <a:endParaRPr lang="en-US"/>
          </a:p>
        </p:txBody>
      </p:sp>
      <p:pic>
        <p:nvPicPr>
          <p:cNvPr id="22" name="Image 3" descr="preencoded.png"/>
          <p:cNvPicPr>
            <a:picLocks noChangeAspect="1"/>
          </p:cNvPicPr>
          <p:nvPr/>
        </p:nvPicPr>
        <p:blipFill>
          <a:blip r:embed="rId6"/>
          <a:stretch>
            <a:fillRect/>
          </a:stretch>
        </p:blipFill>
        <p:spPr>
          <a:xfrm>
            <a:off x="758952" y="3822192"/>
            <a:ext cx="365760" cy="365760"/>
          </a:xfrm>
          <a:prstGeom prst="rect">
            <a:avLst/>
          </a:prstGeom>
        </p:spPr>
      </p:pic>
      <p:sp>
        <p:nvSpPr>
          <p:cNvPr id="23" name="Text 17"/>
          <p:cNvSpPr/>
          <p:nvPr/>
        </p:nvSpPr>
        <p:spPr>
          <a:xfrm>
            <a:off x="1289304" y="3584448"/>
            <a:ext cx="7132320" cy="841248"/>
          </a:xfrm>
          <a:prstGeom prst="rect">
            <a:avLst/>
          </a:prstGeom>
          <a:noFill/>
          <a:ln/>
        </p:spPr>
        <p:txBody>
          <a:bodyPr wrap="square" lIns="0" tIns="0" rIns="0" bIns="0" rtlCol="0" anchor="ctr"/>
          <a:lstStyle/>
          <a:p>
            <a:pPr marL="0" indent="0">
              <a:buNone/>
            </a:pPr>
            <a:r>
              <a:rPr lang="en-US" sz="1250" b="1" dirty="0">
                <a:solidFill>
                  <a:srgbClr val="0F2A43"/>
                </a:solidFill>
                <a:latin typeface="Calibri" pitchFamily="34" charset="0"/>
                <a:ea typeface="Calibri" pitchFamily="34" charset="-122"/>
                <a:cs typeface="Calibri" pitchFamily="34" charset="-120"/>
              </a:rPr>
              <a:t>Semantra sits in the middle — registered in the PMO Service Catalog.  </a:t>
            </a:r>
            <a:r>
              <a:rPr lang="en-US" sz="1250" dirty="0">
                <a:solidFill>
                  <a:srgbClr val="1E3A52"/>
                </a:solidFill>
                <a:latin typeface="Calibri" pitchFamily="34" charset="0"/>
                <a:ea typeface="Calibri" pitchFamily="34" charset="-122"/>
                <a:cs typeface="Calibri" pitchFamily="34" charset="-120"/>
              </a:rPr>
              <a:t>Reusable, governed, and measurable across every engagement.</a:t>
            </a:r>
            <a:endParaRPr lang="en-US" sz="1250" dirty="0"/>
          </a:p>
        </p:txBody>
      </p:sp>
      <p:sp>
        <p:nvSpPr>
          <p:cNvPr id="24" name="Shape 18"/>
          <p:cNvSpPr/>
          <p:nvPr/>
        </p:nvSpPr>
        <p:spPr>
          <a:xfrm>
            <a:off x="502920" y="4718304"/>
            <a:ext cx="8138160" cy="0"/>
          </a:xfrm>
          <a:prstGeom prst="line">
            <a:avLst/>
          </a:prstGeom>
          <a:noFill/>
          <a:ln w="12700">
            <a:solidFill>
              <a:srgbClr val="DCE5EE"/>
            </a:solidFill>
            <a:prstDash val="solid"/>
          </a:ln>
        </p:spPr>
        <p:txBody>
          <a:bodyPr/>
          <a:lstStyle/>
          <a:p>
            <a:endParaRPr lang="en-US"/>
          </a:p>
        </p:txBody>
      </p:sp>
      <p:sp>
        <p:nvSpPr>
          <p:cNvPr id="25" name="Shape 19"/>
          <p:cNvSpPr/>
          <p:nvPr/>
        </p:nvSpPr>
        <p:spPr>
          <a:xfrm>
            <a:off x="502920" y="4846320"/>
            <a:ext cx="73152" cy="73152"/>
          </a:xfrm>
          <a:prstGeom prst="ellipse">
            <a:avLst/>
          </a:prstGeom>
          <a:solidFill>
            <a:srgbClr val="0D9488"/>
          </a:solidFill>
          <a:ln/>
        </p:spPr>
        <p:txBody>
          <a:bodyPr/>
          <a:lstStyle/>
          <a:p>
            <a:endParaRPr lang="en-US"/>
          </a:p>
        </p:txBody>
      </p:sp>
      <p:sp>
        <p:nvSpPr>
          <p:cNvPr id="26" name="Text 20"/>
          <p:cNvSpPr/>
          <p:nvPr/>
        </p:nvSpPr>
        <p:spPr>
          <a:xfrm>
            <a:off x="649224" y="4764024"/>
            <a:ext cx="2743200" cy="237744"/>
          </a:xfrm>
          <a:prstGeom prst="rect">
            <a:avLst/>
          </a:prstGeom>
          <a:noFill/>
          <a:ln/>
        </p:spPr>
        <p:txBody>
          <a:bodyPr wrap="square" lIns="0" tIns="0" rIns="0" bIns="0" rtlCol="0" anchor="ctr"/>
          <a:lstStyle/>
          <a:p>
            <a:pPr marL="0" indent="0">
              <a:buNone/>
            </a:pPr>
            <a:r>
              <a:rPr lang="en-US" sz="950" b="1" kern="0" spc="200" dirty="0">
                <a:solidFill>
                  <a:srgbClr val="64748B"/>
                </a:solidFill>
                <a:latin typeface="Calibri" pitchFamily="34" charset="0"/>
                <a:ea typeface="Calibri" pitchFamily="34" charset="-122"/>
                <a:cs typeface="Calibri" pitchFamily="34" charset="-120"/>
              </a:rPr>
              <a:t>SEMANTRA</a:t>
            </a:r>
            <a:endParaRPr lang="en-US" sz="950" dirty="0"/>
          </a:p>
        </p:txBody>
      </p:sp>
      <p:sp>
        <p:nvSpPr>
          <p:cNvPr id="27" name="Text 21"/>
          <p:cNvSpPr/>
          <p:nvPr/>
        </p:nvSpPr>
        <p:spPr>
          <a:xfrm>
            <a:off x="4800600" y="4764024"/>
            <a:ext cx="2834640" cy="237744"/>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PMO SERVICE • EA–DA BRIDGE</a:t>
            </a:r>
            <a:endParaRPr lang="en-US" sz="900" dirty="0"/>
          </a:p>
        </p:txBody>
      </p:sp>
      <p:sp>
        <p:nvSpPr>
          <p:cNvPr id="28" name="Text 22"/>
          <p:cNvSpPr/>
          <p:nvPr/>
        </p:nvSpPr>
        <p:spPr>
          <a:xfrm>
            <a:off x="7726680" y="4764024"/>
            <a:ext cx="914400" cy="237744"/>
          </a:xfrm>
          <a:prstGeom prst="rect">
            <a:avLst/>
          </a:prstGeom>
          <a:noFill/>
          <a:ln/>
        </p:spPr>
        <p:txBody>
          <a:bodyPr wrap="square" lIns="0" tIns="0" rIns="0" bIns="0" rtlCol="0" anchor="ctr"/>
          <a:lstStyle/>
          <a:p>
            <a:pPr marL="0" indent="0" algn="r">
              <a:buNone/>
            </a:pPr>
            <a:r>
              <a:rPr lang="en-US" sz="950" b="1" dirty="0">
                <a:solidFill>
                  <a:srgbClr val="0D9488"/>
                </a:solidFill>
                <a:latin typeface="Calibri" pitchFamily="34" charset="0"/>
                <a:ea typeface="Calibri" pitchFamily="34" charset="-122"/>
                <a:cs typeface="Calibri" pitchFamily="34" charset="-120"/>
              </a:rPr>
              <a:t>04 / 18</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8138160" cy="274320"/>
          </a:xfrm>
          <a:prstGeom prst="rect">
            <a:avLst/>
          </a:prstGeom>
          <a:noFill/>
          <a:ln/>
        </p:spPr>
        <p:txBody>
          <a:bodyPr wrap="square" lIns="0" tIns="0" rIns="0" bIns="0" rtlCol="0" anchor="ctr"/>
          <a:lstStyle/>
          <a:p>
            <a:pPr marL="0" indent="0" algn="l">
              <a:buNone/>
            </a:pPr>
            <a:r>
              <a:rPr lang="en-US" sz="1150" b="1" kern="0" spc="200" dirty="0">
                <a:solidFill>
                  <a:srgbClr val="0D9488"/>
                </a:solidFill>
                <a:latin typeface="Calibri" pitchFamily="34" charset="0"/>
                <a:ea typeface="Calibri" pitchFamily="34" charset="-122"/>
                <a:cs typeface="Calibri" pitchFamily="34" charset="-120"/>
              </a:rPr>
              <a:t>PRODUCT SURFACE</a:t>
            </a:r>
            <a:endParaRPr lang="en-US" sz="1150" dirty="0"/>
          </a:p>
        </p:txBody>
      </p:sp>
      <p:sp>
        <p:nvSpPr>
          <p:cNvPr id="3" name="Text 1"/>
          <p:cNvSpPr/>
          <p:nvPr/>
        </p:nvSpPr>
        <p:spPr>
          <a:xfrm>
            <a:off x="502920" y="585216"/>
            <a:ext cx="8138160" cy="749808"/>
          </a:xfrm>
          <a:prstGeom prst="rect">
            <a:avLst/>
          </a:prstGeom>
          <a:noFill/>
          <a:ln/>
        </p:spPr>
        <p:txBody>
          <a:bodyPr wrap="square" lIns="0" tIns="0" rIns="0" bIns="0" rtlCol="0" anchor="t"/>
          <a:lstStyle/>
          <a:p>
            <a:pPr marL="0" indent="0" algn="l">
              <a:buNone/>
            </a:pPr>
            <a:r>
              <a:rPr lang="en-US" sz="2700" b="1" dirty="0">
                <a:solidFill>
                  <a:srgbClr val="0F2A43"/>
                </a:solidFill>
                <a:latin typeface="Georgia" pitchFamily="34" charset="0"/>
                <a:ea typeface="Georgia" pitchFamily="34" charset="-122"/>
                <a:cs typeface="Georgia" pitchFamily="34" charset="-120"/>
              </a:rPr>
              <a:t>Operator-facing areas, not one generic screen</a:t>
            </a:r>
            <a:endParaRPr lang="en-US" sz="2700" dirty="0"/>
          </a:p>
        </p:txBody>
      </p:sp>
      <p:sp>
        <p:nvSpPr>
          <p:cNvPr id="4" name="Shape 2"/>
          <p:cNvSpPr/>
          <p:nvPr/>
        </p:nvSpPr>
        <p:spPr>
          <a:xfrm>
            <a:off x="502920" y="1481328"/>
            <a:ext cx="2554224" cy="1335024"/>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5" name="Shape 3"/>
          <p:cNvSpPr/>
          <p:nvPr/>
        </p:nvSpPr>
        <p:spPr>
          <a:xfrm>
            <a:off x="502920" y="1481328"/>
            <a:ext cx="64008" cy="1335024"/>
          </a:xfrm>
          <a:prstGeom prst="rect">
            <a:avLst/>
          </a:prstGeom>
          <a:solidFill>
            <a:srgbClr val="0D9488"/>
          </a:solidFill>
          <a:ln/>
        </p:spPr>
        <p:txBody>
          <a:bodyPr/>
          <a:lstStyle/>
          <a:p>
            <a:endParaRPr lang="en-US"/>
          </a:p>
        </p:txBody>
      </p:sp>
      <p:sp>
        <p:nvSpPr>
          <p:cNvPr id="6" name="Text 4"/>
          <p:cNvSpPr/>
          <p:nvPr/>
        </p:nvSpPr>
        <p:spPr>
          <a:xfrm>
            <a:off x="2270760" y="1609344"/>
            <a:ext cx="676656" cy="365760"/>
          </a:xfrm>
          <a:prstGeom prst="rect">
            <a:avLst/>
          </a:prstGeom>
          <a:noFill/>
          <a:ln/>
        </p:spPr>
        <p:txBody>
          <a:bodyPr wrap="square" lIns="0" tIns="0" rIns="0" bIns="0" rtlCol="0" anchor="ctr"/>
          <a:lstStyle/>
          <a:p>
            <a:pPr marL="0" indent="0" algn="r">
              <a:buNone/>
            </a:pPr>
            <a:r>
              <a:rPr lang="en-US" sz="1900" b="1" dirty="0">
                <a:solidFill>
                  <a:srgbClr val="C7D6E2"/>
                </a:solidFill>
                <a:latin typeface="Georgia" pitchFamily="34" charset="0"/>
                <a:ea typeface="Georgia" pitchFamily="34" charset="-122"/>
                <a:cs typeface="Georgia" pitchFamily="34" charset="-120"/>
              </a:rPr>
              <a:t>01</a:t>
            </a:r>
            <a:endParaRPr lang="en-US" sz="1900" dirty="0"/>
          </a:p>
        </p:txBody>
      </p:sp>
      <p:sp>
        <p:nvSpPr>
          <p:cNvPr id="7" name="Shape 5"/>
          <p:cNvSpPr/>
          <p:nvPr/>
        </p:nvSpPr>
        <p:spPr>
          <a:xfrm>
            <a:off x="722376" y="1664208"/>
            <a:ext cx="493776" cy="493776"/>
          </a:xfrm>
          <a:prstGeom prst="ellipse">
            <a:avLst/>
          </a:prstGeom>
          <a:solidFill>
            <a:srgbClr val="E6F4F2"/>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841248" y="1783080"/>
            <a:ext cx="256032" cy="256032"/>
          </a:xfrm>
          <a:prstGeom prst="rect">
            <a:avLst/>
          </a:prstGeom>
        </p:spPr>
      </p:pic>
      <p:sp>
        <p:nvSpPr>
          <p:cNvPr id="9" name="Text 6"/>
          <p:cNvSpPr/>
          <p:nvPr/>
        </p:nvSpPr>
        <p:spPr>
          <a:xfrm>
            <a:off x="722376" y="2231136"/>
            <a:ext cx="2188464" cy="274320"/>
          </a:xfrm>
          <a:prstGeom prst="rect">
            <a:avLst/>
          </a:prstGeom>
          <a:noFill/>
          <a:ln/>
        </p:spPr>
        <p:txBody>
          <a:bodyPr wrap="square" lIns="0" tIns="0" rIns="0" bIns="0" rtlCol="0" anchor="ctr"/>
          <a:lstStyle/>
          <a:p>
            <a:pPr marL="0" indent="0">
              <a:buNone/>
            </a:pPr>
            <a:r>
              <a:rPr lang="en-US" sz="1350" b="1" dirty="0">
                <a:solidFill>
                  <a:srgbClr val="0F2A43"/>
                </a:solidFill>
                <a:latin typeface="Calibri" pitchFamily="34" charset="0"/>
                <a:ea typeface="Calibri" pitchFamily="34" charset="-122"/>
                <a:cs typeface="Calibri" pitchFamily="34" charset="-120"/>
              </a:rPr>
              <a:t>Workspace</a:t>
            </a:r>
            <a:endParaRPr lang="en-US" sz="1350" dirty="0"/>
          </a:p>
        </p:txBody>
      </p:sp>
      <p:sp>
        <p:nvSpPr>
          <p:cNvPr id="10" name="Text 7"/>
          <p:cNvSpPr/>
          <p:nvPr/>
        </p:nvSpPr>
        <p:spPr>
          <a:xfrm>
            <a:off x="722376" y="2487168"/>
            <a:ext cx="2151888" cy="292608"/>
          </a:xfrm>
          <a:prstGeom prst="rect">
            <a:avLst/>
          </a:prstGeom>
          <a:noFill/>
          <a:ln/>
        </p:spPr>
        <p:txBody>
          <a:bodyPr wrap="square" lIns="0" tIns="0" rIns="0" bIns="0" rtlCol="0" anchor="t"/>
          <a:lstStyle/>
          <a:p>
            <a:pPr marL="0" indent="0">
              <a:buNone/>
            </a:pPr>
            <a:r>
              <a:rPr lang="en-US" sz="1000" dirty="0">
                <a:solidFill>
                  <a:srgbClr val="334155"/>
                </a:solidFill>
                <a:latin typeface="Calibri" pitchFamily="34" charset="0"/>
                <a:ea typeface="Calibri" pitchFamily="34" charset="-122"/>
                <a:cs typeface="Calibri" pitchFamily="34" charset="-120"/>
              </a:rPr>
              <a:t>Ingest • map • review • decisions • preview • codegen.</a:t>
            </a:r>
            <a:endParaRPr lang="en-US" sz="1000" dirty="0"/>
          </a:p>
        </p:txBody>
      </p:sp>
      <p:sp>
        <p:nvSpPr>
          <p:cNvPr id="11" name="Shape 8"/>
          <p:cNvSpPr/>
          <p:nvPr/>
        </p:nvSpPr>
        <p:spPr>
          <a:xfrm>
            <a:off x="3294888" y="1481328"/>
            <a:ext cx="2554224" cy="1335024"/>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12" name="Shape 9"/>
          <p:cNvSpPr/>
          <p:nvPr/>
        </p:nvSpPr>
        <p:spPr>
          <a:xfrm>
            <a:off x="3294888" y="1481328"/>
            <a:ext cx="64008" cy="1335024"/>
          </a:xfrm>
          <a:prstGeom prst="rect">
            <a:avLst/>
          </a:prstGeom>
          <a:solidFill>
            <a:srgbClr val="0D9488"/>
          </a:solidFill>
          <a:ln/>
        </p:spPr>
        <p:txBody>
          <a:bodyPr/>
          <a:lstStyle/>
          <a:p>
            <a:endParaRPr lang="en-US"/>
          </a:p>
        </p:txBody>
      </p:sp>
      <p:sp>
        <p:nvSpPr>
          <p:cNvPr id="13" name="Text 10"/>
          <p:cNvSpPr/>
          <p:nvPr/>
        </p:nvSpPr>
        <p:spPr>
          <a:xfrm>
            <a:off x="5062728" y="1609344"/>
            <a:ext cx="676656" cy="365760"/>
          </a:xfrm>
          <a:prstGeom prst="rect">
            <a:avLst/>
          </a:prstGeom>
          <a:noFill/>
          <a:ln/>
        </p:spPr>
        <p:txBody>
          <a:bodyPr wrap="square" lIns="0" tIns="0" rIns="0" bIns="0" rtlCol="0" anchor="ctr"/>
          <a:lstStyle/>
          <a:p>
            <a:pPr marL="0" indent="0" algn="r">
              <a:buNone/>
            </a:pPr>
            <a:r>
              <a:rPr lang="en-US" sz="1900" b="1" dirty="0">
                <a:solidFill>
                  <a:srgbClr val="C7D6E2"/>
                </a:solidFill>
                <a:latin typeface="Georgia" pitchFamily="34" charset="0"/>
                <a:ea typeface="Georgia" pitchFamily="34" charset="-122"/>
                <a:cs typeface="Georgia" pitchFamily="34" charset="-120"/>
              </a:rPr>
              <a:t>02</a:t>
            </a:r>
            <a:endParaRPr lang="en-US" sz="1900" dirty="0"/>
          </a:p>
        </p:txBody>
      </p:sp>
      <p:sp>
        <p:nvSpPr>
          <p:cNvPr id="14" name="Shape 11"/>
          <p:cNvSpPr/>
          <p:nvPr/>
        </p:nvSpPr>
        <p:spPr>
          <a:xfrm>
            <a:off x="3514344" y="1664208"/>
            <a:ext cx="493776" cy="493776"/>
          </a:xfrm>
          <a:prstGeom prst="ellipse">
            <a:avLst/>
          </a:prstGeom>
          <a:solidFill>
            <a:srgbClr val="E6F4F2"/>
          </a:solidFill>
          <a:ln/>
        </p:spPr>
        <p:txBody>
          <a:bodyPr/>
          <a:lstStyle/>
          <a:p>
            <a:endParaRPr lang="en-US"/>
          </a:p>
        </p:txBody>
      </p:sp>
      <p:pic>
        <p:nvPicPr>
          <p:cNvPr id="15" name="Image 1" descr="preencoded.png"/>
          <p:cNvPicPr>
            <a:picLocks noChangeAspect="1"/>
          </p:cNvPicPr>
          <p:nvPr/>
        </p:nvPicPr>
        <p:blipFill>
          <a:blip r:embed="rId4"/>
          <a:stretch>
            <a:fillRect/>
          </a:stretch>
        </p:blipFill>
        <p:spPr>
          <a:xfrm>
            <a:off x="3633216" y="1783080"/>
            <a:ext cx="256032" cy="256032"/>
          </a:xfrm>
          <a:prstGeom prst="rect">
            <a:avLst/>
          </a:prstGeom>
        </p:spPr>
      </p:pic>
      <p:sp>
        <p:nvSpPr>
          <p:cNvPr id="16" name="Text 12"/>
          <p:cNvSpPr/>
          <p:nvPr/>
        </p:nvSpPr>
        <p:spPr>
          <a:xfrm>
            <a:off x="3514344" y="2231136"/>
            <a:ext cx="2188464" cy="274320"/>
          </a:xfrm>
          <a:prstGeom prst="rect">
            <a:avLst/>
          </a:prstGeom>
          <a:noFill/>
          <a:ln/>
        </p:spPr>
        <p:txBody>
          <a:bodyPr wrap="square" lIns="0" tIns="0" rIns="0" bIns="0" rtlCol="0" anchor="ctr"/>
          <a:lstStyle/>
          <a:p>
            <a:pPr marL="0" indent="0">
              <a:buNone/>
            </a:pPr>
            <a:r>
              <a:rPr lang="en-US" sz="1350" b="1" dirty="0">
                <a:solidFill>
                  <a:srgbClr val="0F2A43"/>
                </a:solidFill>
                <a:latin typeface="Calibri" pitchFamily="34" charset="0"/>
                <a:ea typeface="Calibri" pitchFamily="34" charset="-122"/>
                <a:cs typeface="Calibri" pitchFamily="34" charset="-120"/>
              </a:rPr>
              <a:t>Governance</a:t>
            </a:r>
            <a:endParaRPr lang="en-US" sz="1350" dirty="0"/>
          </a:p>
        </p:txBody>
      </p:sp>
      <p:sp>
        <p:nvSpPr>
          <p:cNvPr id="17" name="Text 13"/>
          <p:cNvSpPr/>
          <p:nvPr/>
        </p:nvSpPr>
        <p:spPr>
          <a:xfrm>
            <a:off x="3514344" y="2487168"/>
            <a:ext cx="2151888" cy="292608"/>
          </a:xfrm>
          <a:prstGeom prst="rect">
            <a:avLst/>
          </a:prstGeom>
          <a:noFill/>
          <a:ln/>
        </p:spPr>
        <p:txBody>
          <a:bodyPr wrap="square" lIns="0" tIns="0" rIns="0" bIns="0" rtlCol="0" anchor="t"/>
          <a:lstStyle/>
          <a:p>
            <a:pPr marL="0" indent="0">
              <a:buNone/>
            </a:pPr>
            <a:r>
              <a:rPr lang="en-US" sz="1000" dirty="0">
                <a:solidFill>
                  <a:srgbClr val="334155"/>
                </a:solidFill>
                <a:latin typeface="Calibri" pitchFamily="34" charset="0"/>
                <a:ea typeface="Calibri" pitchFamily="34" charset="-122"/>
                <a:cs typeface="Calibri" pitchFamily="34" charset="-120"/>
              </a:rPr>
              <a:t>Canonical Console and stewardship workflows.</a:t>
            </a:r>
            <a:endParaRPr lang="en-US" sz="1000" dirty="0"/>
          </a:p>
        </p:txBody>
      </p:sp>
      <p:sp>
        <p:nvSpPr>
          <p:cNvPr id="18" name="Shape 14"/>
          <p:cNvSpPr/>
          <p:nvPr/>
        </p:nvSpPr>
        <p:spPr>
          <a:xfrm>
            <a:off x="6086856" y="1481328"/>
            <a:ext cx="2554224" cy="1335024"/>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19" name="Shape 15"/>
          <p:cNvSpPr/>
          <p:nvPr/>
        </p:nvSpPr>
        <p:spPr>
          <a:xfrm>
            <a:off x="6086856" y="1481328"/>
            <a:ext cx="64008" cy="1335024"/>
          </a:xfrm>
          <a:prstGeom prst="rect">
            <a:avLst/>
          </a:prstGeom>
          <a:solidFill>
            <a:srgbClr val="0D9488"/>
          </a:solidFill>
          <a:ln/>
        </p:spPr>
        <p:txBody>
          <a:bodyPr/>
          <a:lstStyle/>
          <a:p>
            <a:endParaRPr lang="en-US"/>
          </a:p>
        </p:txBody>
      </p:sp>
      <p:sp>
        <p:nvSpPr>
          <p:cNvPr id="20" name="Text 16"/>
          <p:cNvSpPr/>
          <p:nvPr/>
        </p:nvSpPr>
        <p:spPr>
          <a:xfrm>
            <a:off x="7854696" y="1609344"/>
            <a:ext cx="676656" cy="365760"/>
          </a:xfrm>
          <a:prstGeom prst="rect">
            <a:avLst/>
          </a:prstGeom>
          <a:noFill/>
          <a:ln/>
        </p:spPr>
        <p:txBody>
          <a:bodyPr wrap="square" lIns="0" tIns="0" rIns="0" bIns="0" rtlCol="0" anchor="ctr"/>
          <a:lstStyle/>
          <a:p>
            <a:pPr marL="0" indent="0" algn="r">
              <a:buNone/>
            </a:pPr>
            <a:r>
              <a:rPr lang="en-US" sz="1900" b="1" dirty="0">
                <a:solidFill>
                  <a:srgbClr val="C7D6E2"/>
                </a:solidFill>
                <a:latin typeface="Georgia" pitchFamily="34" charset="0"/>
                <a:ea typeface="Georgia" pitchFamily="34" charset="-122"/>
                <a:cs typeface="Georgia" pitchFamily="34" charset="-120"/>
              </a:rPr>
              <a:t>03</a:t>
            </a:r>
            <a:endParaRPr lang="en-US" sz="1900" dirty="0"/>
          </a:p>
        </p:txBody>
      </p:sp>
      <p:sp>
        <p:nvSpPr>
          <p:cNvPr id="21" name="Shape 17"/>
          <p:cNvSpPr/>
          <p:nvPr/>
        </p:nvSpPr>
        <p:spPr>
          <a:xfrm>
            <a:off x="6306312" y="1664208"/>
            <a:ext cx="493776" cy="493776"/>
          </a:xfrm>
          <a:prstGeom prst="ellipse">
            <a:avLst/>
          </a:prstGeom>
          <a:solidFill>
            <a:srgbClr val="E6F4F2"/>
          </a:solidFill>
          <a:ln/>
        </p:spPr>
        <p:txBody>
          <a:bodyPr/>
          <a:lstStyle/>
          <a:p>
            <a:endParaRPr lang="en-US"/>
          </a:p>
        </p:txBody>
      </p:sp>
      <p:pic>
        <p:nvPicPr>
          <p:cNvPr id="22" name="Image 2" descr="preencoded.png"/>
          <p:cNvPicPr>
            <a:picLocks noChangeAspect="1"/>
          </p:cNvPicPr>
          <p:nvPr/>
        </p:nvPicPr>
        <p:blipFill>
          <a:blip r:embed="rId5"/>
          <a:stretch>
            <a:fillRect/>
          </a:stretch>
        </p:blipFill>
        <p:spPr>
          <a:xfrm>
            <a:off x="6425184" y="1783080"/>
            <a:ext cx="256032" cy="256032"/>
          </a:xfrm>
          <a:prstGeom prst="rect">
            <a:avLst/>
          </a:prstGeom>
        </p:spPr>
      </p:pic>
      <p:sp>
        <p:nvSpPr>
          <p:cNvPr id="23" name="Text 18"/>
          <p:cNvSpPr/>
          <p:nvPr/>
        </p:nvSpPr>
        <p:spPr>
          <a:xfrm>
            <a:off x="6306312" y="2231136"/>
            <a:ext cx="2188464" cy="274320"/>
          </a:xfrm>
          <a:prstGeom prst="rect">
            <a:avLst/>
          </a:prstGeom>
          <a:noFill/>
          <a:ln/>
        </p:spPr>
        <p:txBody>
          <a:bodyPr wrap="square" lIns="0" tIns="0" rIns="0" bIns="0" rtlCol="0" anchor="ctr"/>
          <a:lstStyle/>
          <a:p>
            <a:pPr marL="0" indent="0">
              <a:buNone/>
            </a:pPr>
            <a:r>
              <a:rPr lang="en-US" sz="1350" b="1" dirty="0">
                <a:solidFill>
                  <a:srgbClr val="0F2A43"/>
                </a:solidFill>
                <a:latin typeface="Calibri" pitchFamily="34" charset="0"/>
                <a:ea typeface="Calibri" pitchFamily="34" charset="-122"/>
                <a:cs typeface="Calibri" pitchFamily="34" charset="-120"/>
              </a:rPr>
              <a:t>Catalog</a:t>
            </a:r>
            <a:endParaRPr lang="en-US" sz="1350" dirty="0"/>
          </a:p>
        </p:txBody>
      </p:sp>
      <p:sp>
        <p:nvSpPr>
          <p:cNvPr id="24" name="Text 19"/>
          <p:cNvSpPr/>
          <p:nvPr/>
        </p:nvSpPr>
        <p:spPr>
          <a:xfrm>
            <a:off x="6306312" y="2487168"/>
            <a:ext cx="2151888" cy="292608"/>
          </a:xfrm>
          <a:prstGeom prst="rect">
            <a:avLst/>
          </a:prstGeom>
          <a:noFill/>
          <a:ln/>
        </p:spPr>
        <p:txBody>
          <a:bodyPr wrap="square" lIns="0" tIns="0" rIns="0" bIns="0" rtlCol="0" anchor="t"/>
          <a:lstStyle/>
          <a:p>
            <a:pPr marL="0" indent="0">
              <a:buNone/>
            </a:pPr>
            <a:r>
              <a:rPr lang="en-US" sz="1000" dirty="0">
                <a:solidFill>
                  <a:srgbClr val="334155"/>
                </a:solidFill>
                <a:latin typeface="Calibri" pitchFamily="34" charset="0"/>
                <a:ea typeface="Calibri" pitchFamily="34" charset="-122"/>
                <a:cs typeface="Calibri" pitchFamily="34" charset="-120"/>
              </a:rPr>
              <a:t>Search, browse, and reuse approved mapping work.</a:t>
            </a:r>
            <a:endParaRPr lang="en-US" sz="1000" dirty="0"/>
          </a:p>
        </p:txBody>
      </p:sp>
      <p:sp>
        <p:nvSpPr>
          <p:cNvPr id="25" name="Shape 20"/>
          <p:cNvSpPr/>
          <p:nvPr/>
        </p:nvSpPr>
        <p:spPr>
          <a:xfrm>
            <a:off x="502920" y="2999232"/>
            <a:ext cx="2554224" cy="1335024"/>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26" name="Shape 21"/>
          <p:cNvSpPr/>
          <p:nvPr/>
        </p:nvSpPr>
        <p:spPr>
          <a:xfrm>
            <a:off x="502920" y="2999232"/>
            <a:ext cx="64008" cy="1335024"/>
          </a:xfrm>
          <a:prstGeom prst="rect">
            <a:avLst/>
          </a:prstGeom>
          <a:solidFill>
            <a:srgbClr val="0D9488"/>
          </a:solidFill>
          <a:ln/>
        </p:spPr>
        <p:txBody>
          <a:bodyPr/>
          <a:lstStyle/>
          <a:p>
            <a:endParaRPr lang="en-US"/>
          </a:p>
        </p:txBody>
      </p:sp>
      <p:sp>
        <p:nvSpPr>
          <p:cNvPr id="27" name="Text 22"/>
          <p:cNvSpPr/>
          <p:nvPr/>
        </p:nvSpPr>
        <p:spPr>
          <a:xfrm>
            <a:off x="2270760" y="3127248"/>
            <a:ext cx="676656" cy="365760"/>
          </a:xfrm>
          <a:prstGeom prst="rect">
            <a:avLst/>
          </a:prstGeom>
          <a:noFill/>
          <a:ln/>
        </p:spPr>
        <p:txBody>
          <a:bodyPr wrap="square" lIns="0" tIns="0" rIns="0" bIns="0" rtlCol="0" anchor="ctr"/>
          <a:lstStyle/>
          <a:p>
            <a:pPr marL="0" indent="0" algn="r">
              <a:buNone/>
            </a:pPr>
            <a:r>
              <a:rPr lang="en-US" sz="1900" b="1" dirty="0">
                <a:solidFill>
                  <a:srgbClr val="C7D6E2"/>
                </a:solidFill>
                <a:latin typeface="Georgia" pitchFamily="34" charset="0"/>
                <a:ea typeface="Georgia" pitchFamily="34" charset="-122"/>
                <a:cs typeface="Georgia" pitchFamily="34" charset="-120"/>
              </a:rPr>
              <a:t>04</a:t>
            </a:r>
            <a:endParaRPr lang="en-US" sz="1900" dirty="0"/>
          </a:p>
        </p:txBody>
      </p:sp>
      <p:sp>
        <p:nvSpPr>
          <p:cNvPr id="28" name="Shape 23"/>
          <p:cNvSpPr/>
          <p:nvPr/>
        </p:nvSpPr>
        <p:spPr>
          <a:xfrm>
            <a:off x="722376" y="3182112"/>
            <a:ext cx="493776" cy="493776"/>
          </a:xfrm>
          <a:prstGeom prst="ellipse">
            <a:avLst/>
          </a:prstGeom>
          <a:solidFill>
            <a:srgbClr val="E6F4F2"/>
          </a:solidFill>
          <a:ln/>
        </p:spPr>
        <p:txBody>
          <a:bodyPr/>
          <a:lstStyle/>
          <a:p>
            <a:endParaRPr lang="en-US"/>
          </a:p>
        </p:txBody>
      </p:sp>
      <p:pic>
        <p:nvPicPr>
          <p:cNvPr id="29" name="Image 3" descr="preencoded.png"/>
          <p:cNvPicPr>
            <a:picLocks noChangeAspect="1"/>
          </p:cNvPicPr>
          <p:nvPr/>
        </p:nvPicPr>
        <p:blipFill>
          <a:blip r:embed="rId6"/>
          <a:stretch>
            <a:fillRect/>
          </a:stretch>
        </p:blipFill>
        <p:spPr>
          <a:xfrm>
            <a:off x="841248" y="3300984"/>
            <a:ext cx="256032" cy="256032"/>
          </a:xfrm>
          <a:prstGeom prst="rect">
            <a:avLst/>
          </a:prstGeom>
        </p:spPr>
      </p:pic>
      <p:sp>
        <p:nvSpPr>
          <p:cNvPr id="30" name="Text 24"/>
          <p:cNvSpPr/>
          <p:nvPr/>
        </p:nvSpPr>
        <p:spPr>
          <a:xfrm>
            <a:off x="722376" y="3749040"/>
            <a:ext cx="2188464" cy="274320"/>
          </a:xfrm>
          <a:prstGeom prst="rect">
            <a:avLst/>
          </a:prstGeom>
          <a:noFill/>
          <a:ln/>
        </p:spPr>
        <p:txBody>
          <a:bodyPr wrap="square" lIns="0" tIns="0" rIns="0" bIns="0" rtlCol="0" anchor="ctr"/>
          <a:lstStyle/>
          <a:p>
            <a:pPr marL="0" indent="0">
              <a:buNone/>
            </a:pPr>
            <a:r>
              <a:rPr lang="en-US" sz="1350" b="1" dirty="0">
                <a:solidFill>
                  <a:srgbClr val="0F2A43"/>
                </a:solidFill>
                <a:latin typeface="Calibri" pitchFamily="34" charset="0"/>
                <a:ea typeface="Calibri" pitchFamily="34" charset="-122"/>
                <a:cs typeface="Calibri" pitchFamily="34" charset="-120"/>
              </a:rPr>
              <a:t>Benchmarks</a:t>
            </a:r>
            <a:endParaRPr lang="en-US" sz="1350" dirty="0"/>
          </a:p>
        </p:txBody>
      </p:sp>
      <p:sp>
        <p:nvSpPr>
          <p:cNvPr id="31" name="Text 25"/>
          <p:cNvSpPr/>
          <p:nvPr/>
        </p:nvSpPr>
        <p:spPr>
          <a:xfrm>
            <a:off x="722376" y="4005072"/>
            <a:ext cx="2151888" cy="292608"/>
          </a:xfrm>
          <a:prstGeom prst="rect">
            <a:avLst/>
          </a:prstGeom>
          <a:noFill/>
          <a:ln/>
        </p:spPr>
        <p:txBody>
          <a:bodyPr wrap="square" lIns="0" tIns="0" rIns="0" bIns="0" rtlCol="0" anchor="t"/>
          <a:lstStyle/>
          <a:p>
            <a:pPr marL="0" indent="0">
              <a:buNone/>
            </a:pPr>
            <a:r>
              <a:rPr lang="en-US" sz="1000" dirty="0">
                <a:solidFill>
                  <a:srgbClr val="334155"/>
                </a:solidFill>
                <a:latin typeface="Calibri" pitchFamily="34" charset="0"/>
                <a:ea typeface="Calibri" pitchFamily="34" charset="-122"/>
                <a:cs typeface="Calibri" pitchFamily="34" charset="-120"/>
              </a:rPr>
              <a:t>Measure mapping quality and correction impact.</a:t>
            </a:r>
            <a:endParaRPr lang="en-US" sz="1000" dirty="0"/>
          </a:p>
        </p:txBody>
      </p:sp>
      <p:sp>
        <p:nvSpPr>
          <p:cNvPr id="32" name="Shape 26"/>
          <p:cNvSpPr/>
          <p:nvPr/>
        </p:nvSpPr>
        <p:spPr>
          <a:xfrm>
            <a:off x="3294888" y="2999232"/>
            <a:ext cx="2554224" cy="1335024"/>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33" name="Shape 27"/>
          <p:cNvSpPr/>
          <p:nvPr/>
        </p:nvSpPr>
        <p:spPr>
          <a:xfrm>
            <a:off x="3294888" y="2999232"/>
            <a:ext cx="64008" cy="1335024"/>
          </a:xfrm>
          <a:prstGeom prst="rect">
            <a:avLst/>
          </a:prstGeom>
          <a:solidFill>
            <a:srgbClr val="0D9488"/>
          </a:solidFill>
          <a:ln/>
        </p:spPr>
        <p:txBody>
          <a:bodyPr/>
          <a:lstStyle/>
          <a:p>
            <a:endParaRPr lang="en-US"/>
          </a:p>
        </p:txBody>
      </p:sp>
      <p:sp>
        <p:nvSpPr>
          <p:cNvPr id="34" name="Text 28"/>
          <p:cNvSpPr/>
          <p:nvPr/>
        </p:nvSpPr>
        <p:spPr>
          <a:xfrm>
            <a:off x="5062728" y="3127248"/>
            <a:ext cx="676656" cy="365760"/>
          </a:xfrm>
          <a:prstGeom prst="rect">
            <a:avLst/>
          </a:prstGeom>
          <a:noFill/>
          <a:ln/>
        </p:spPr>
        <p:txBody>
          <a:bodyPr wrap="square" lIns="0" tIns="0" rIns="0" bIns="0" rtlCol="0" anchor="ctr"/>
          <a:lstStyle/>
          <a:p>
            <a:pPr marL="0" indent="0" algn="r">
              <a:buNone/>
            </a:pPr>
            <a:r>
              <a:rPr lang="en-US" sz="1900" b="1" dirty="0">
                <a:solidFill>
                  <a:srgbClr val="C7D6E2"/>
                </a:solidFill>
                <a:latin typeface="Georgia" pitchFamily="34" charset="0"/>
                <a:ea typeface="Georgia" pitchFamily="34" charset="-122"/>
                <a:cs typeface="Georgia" pitchFamily="34" charset="-120"/>
              </a:rPr>
              <a:t>05</a:t>
            </a:r>
            <a:endParaRPr lang="en-US" sz="1900" dirty="0"/>
          </a:p>
        </p:txBody>
      </p:sp>
      <p:sp>
        <p:nvSpPr>
          <p:cNvPr id="35" name="Shape 29"/>
          <p:cNvSpPr/>
          <p:nvPr/>
        </p:nvSpPr>
        <p:spPr>
          <a:xfrm>
            <a:off x="3514344" y="3182112"/>
            <a:ext cx="493776" cy="493776"/>
          </a:xfrm>
          <a:prstGeom prst="ellipse">
            <a:avLst/>
          </a:prstGeom>
          <a:solidFill>
            <a:srgbClr val="E6F4F2"/>
          </a:solidFill>
          <a:ln/>
        </p:spPr>
        <p:txBody>
          <a:bodyPr/>
          <a:lstStyle/>
          <a:p>
            <a:endParaRPr lang="en-US"/>
          </a:p>
        </p:txBody>
      </p:sp>
      <p:pic>
        <p:nvPicPr>
          <p:cNvPr id="36" name="Image 4" descr="preencoded.png"/>
          <p:cNvPicPr>
            <a:picLocks noChangeAspect="1"/>
          </p:cNvPicPr>
          <p:nvPr/>
        </p:nvPicPr>
        <p:blipFill>
          <a:blip r:embed="rId7"/>
          <a:stretch>
            <a:fillRect/>
          </a:stretch>
        </p:blipFill>
        <p:spPr>
          <a:xfrm>
            <a:off x="3633216" y="3300984"/>
            <a:ext cx="256032" cy="256032"/>
          </a:xfrm>
          <a:prstGeom prst="rect">
            <a:avLst/>
          </a:prstGeom>
        </p:spPr>
      </p:pic>
      <p:sp>
        <p:nvSpPr>
          <p:cNvPr id="37" name="Text 30"/>
          <p:cNvSpPr/>
          <p:nvPr/>
        </p:nvSpPr>
        <p:spPr>
          <a:xfrm>
            <a:off x="3514344" y="3749040"/>
            <a:ext cx="2188464" cy="274320"/>
          </a:xfrm>
          <a:prstGeom prst="rect">
            <a:avLst/>
          </a:prstGeom>
          <a:noFill/>
          <a:ln/>
        </p:spPr>
        <p:txBody>
          <a:bodyPr wrap="square" lIns="0" tIns="0" rIns="0" bIns="0" rtlCol="0" anchor="ctr"/>
          <a:lstStyle/>
          <a:p>
            <a:pPr marL="0" indent="0">
              <a:buNone/>
            </a:pPr>
            <a:r>
              <a:rPr lang="en-US" sz="1350" b="1" dirty="0">
                <a:solidFill>
                  <a:srgbClr val="0F2A43"/>
                </a:solidFill>
                <a:latin typeface="Calibri" pitchFamily="34" charset="0"/>
                <a:ea typeface="Calibri" pitchFamily="34" charset="-122"/>
                <a:cs typeface="Calibri" pitchFamily="34" charset="-120"/>
              </a:rPr>
              <a:t>System</a:t>
            </a:r>
            <a:endParaRPr lang="en-US" sz="1350" dirty="0"/>
          </a:p>
        </p:txBody>
      </p:sp>
      <p:sp>
        <p:nvSpPr>
          <p:cNvPr id="38" name="Text 31"/>
          <p:cNvSpPr/>
          <p:nvPr/>
        </p:nvSpPr>
        <p:spPr>
          <a:xfrm>
            <a:off x="3514344" y="4005072"/>
            <a:ext cx="2151888" cy="292608"/>
          </a:xfrm>
          <a:prstGeom prst="rect">
            <a:avLst/>
          </a:prstGeom>
          <a:noFill/>
          <a:ln/>
        </p:spPr>
        <p:txBody>
          <a:bodyPr wrap="square" lIns="0" tIns="0" rIns="0" bIns="0" rtlCol="0" anchor="t"/>
          <a:lstStyle/>
          <a:p>
            <a:pPr marL="0" indent="0">
              <a:buNone/>
            </a:pPr>
            <a:r>
              <a:rPr lang="en-US" sz="1000" dirty="0">
                <a:solidFill>
                  <a:srgbClr val="334155"/>
                </a:solidFill>
                <a:latin typeface="Calibri" pitchFamily="34" charset="0"/>
                <a:ea typeface="Calibri" pitchFamily="34" charset="-122"/>
                <a:cs typeface="Calibri" pitchFamily="34" charset="-120"/>
              </a:rPr>
              <a:t>Runtime inspection and operational controls.</a:t>
            </a:r>
            <a:endParaRPr lang="en-US" sz="1000" dirty="0"/>
          </a:p>
        </p:txBody>
      </p:sp>
      <p:sp>
        <p:nvSpPr>
          <p:cNvPr id="39" name="Shape 32"/>
          <p:cNvSpPr/>
          <p:nvPr/>
        </p:nvSpPr>
        <p:spPr>
          <a:xfrm>
            <a:off x="6086856" y="2999232"/>
            <a:ext cx="2554224" cy="1335024"/>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40" name="Shape 33"/>
          <p:cNvSpPr/>
          <p:nvPr/>
        </p:nvSpPr>
        <p:spPr>
          <a:xfrm>
            <a:off x="6086856" y="2999232"/>
            <a:ext cx="64008" cy="1335024"/>
          </a:xfrm>
          <a:prstGeom prst="rect">
            <a:avLst/>
          </a:prstGeom>
          <a:solidFill>
            <a:srgbClr val="11B5A4"/>
          </a:solidFill>
          <a:ln/>
        </p:spPr>
        <p:txBody>
          <a:bodyPr/>
          <a:lstStyle/>
          <a:p>
            <a:endParaRPr lang="en-US"/>
          </a:p>
        </p:txBody>
      </p:sp>
      <p:sp>
        <p:nvSpPr>
          <p:cNvPr id="41" name="Text 34"/>
          <p:cNvSpPr/>
          <p:nvPr/>
        </p:nvSpPr>
        <p:spPr>
          <a:xfrm>
            <a:off x="7854696" y="3127248"/>
            <a:ext cx="676656" cy="365760"/>
          </a:xfrm>
          <a:prstGeom prst="rect">
            <a:avLst/>
          </a:prstGeom>
          <a:noFill/>
          <a:ln/>
        </p:spPr>
        <p:txBody>
          <a:bodyPr wrap="square" lIns="0" tIns="0" rIns="0" bIns="0" rtlCol="0" anchor="ctr"/>
          <a:lstStyle/>
          <a:p>
            <a:pPr marL="0" indent="0" algn="r">
              <a:buNone/>
            </a:pPr>
            <a:r>
              <a:rPr lang="en-US" sz="1900" b="1" dirty="0">
                <a:solidFill>
                  <a:srgbClr val="C7D6E2"/>
                </a:solidFill>
                <a:latin typeface="Georgia" pitchFamily="34" charset="0"/>
                <a:ea typeface="Georgia" pitchFamily="34" charset="-122"/>
                <a:cs typeface="Georgia" pitchFamily="34" charset="-120"/>
              </a:rPr>
              <a:t>06</a:t>
            </a:r>
            <a:endParaRPr lang="en-US" sz="1900" dirty="0"/>
          </a:p>
        </p:txBody>
      </p:sp>
      <p:sp>
        <p:nvSpPr>
          <p:cNvPr id="42" name="Shape 35"/>
          <p:cNvSpPr/>
          <p:nvPr/>
        </p:nvSpPr>
        <p:spPr>
          <a:xfrm>
            <a:off x="6306312" y="3182112"/>
            <a:ext cx="493776" cy="493776"/>
          </a:xfrm>
          <a:prstGeom prst="ellipse">
            <a:avLst/>
          </a:prstGeom>
          <a:solidFill>
            <a:srgbClr val="DFF3F0"/>
          </a:solidFill>
          <a:ln/>
        </p:spPr>
        <p:txBody>
          <a:bodyPr/>
          <a:lstStyle/>
          <a:p>
            <a:endParaRPr lang="en-US"/>
          </a:p>
        </p:txBody>
      </p:sp>
      <p:pic>
        <p:nvPicPr>
          <p:cNvPr id="43" name="Image 5" descr="preencoded.png"/>
          <p:cNvPicPr>
            <a:picLocks noChangeAspect="1"/>
          </p:cNvPicPr>
          <p:nvPr/>
        </p:nvPicPr>
        <p:blipFill>
          <a:blip r:embed="rId8"/>
          <a:stretch>
            <a:fillRect/>
          </a:stretch>
        </p:blipFill>
        <p:spPr>
          <a:xfrm>
            <a:off x="6425184" y="3300984"/>
            <a:ext cx="256032" cy="256032"/>
          </a:xfrm>
          <a:prstGeom prst="rect">
            <a:avLst/>
          </a:prstGeom>
        </p:spPr>
      </p:pic>
      <p:sp>
        <p:nvSpPr>
          <p:cNvPr id="44" name="Text 36"/>
          <p:cNvSpPr/>
          <p:nvPr/>
        </p:nvSpPr>
        <p:spPr>
          <a:xfrm>
            <a:off x="6306312" y="3749040"/>
            <a:ext cx="2188464" cy="274320"/>
          </a:xfrm>
          <a:prstGeom prst="rect">
            <a:avLst/>
          </a:prstGeom>
          <a:noFill/>
          <a:ln/>
        </p:spPr>
        <p:txBody>
          <a:bodyPr wrap="square" lIns="0" tIns="0" rIns="0" bIns="0" rtlCol="0" anchor="ctr"/>
          <a:lstStyle/>
          <a:p>
            <a:pPr marL="0" indent="0">
              <a:buNone/>
            </a:pPr>
            <a:r>
              <a:rPr lang="en-US" sz="1350" b="1" dirty="0">
                <a:solidFill>
                  <a:srgbClr val="0F2A43"/>
                </a:solidFill>
                <a:latin typeface="Calibri" pitchFamily="34" charset="0"/>
                <a:ea typeface="Calibri" pitchFamily="34" charset="-122"/>
                <a:cs typeface="Calibri" pitchFamily="34" charset="-120"/>
              </a:rPr>
              <a:t>Modelling / BA Report</a:t>
            </a:r>
            <a:endParaRPr lang="en-US" sz="1350" dirty="0"/>
          </a:p>
        </p:txBody>
      </p:sp>
      <p:sp>
        <p:nvSpPr>
          <p:cNvPr id="45" name="Text 37"/>
          <p:cNvSpPr/>
          <p:nvPr/>
        </p:nvSpPr>
        <p:spPr>
          <a:xfrm>
            <a:off x="6306312" y="4005072"/>
            <a:ext cx="2151888" cy="292608"/>
          </a:xfrm>
          <a:prstGeom prst="rect">
            <a:avLst/>
          </a:prstGeom>
          <a:noFill/>
          <a:ln/>
        </p:spPr>
        <p:txBody>
          <a:bodyPr wrap="square" lIns="0" tIns="0" rIns="0" bIns="0" rtlCol="0" anchor="t"/>
          <a:lstStyle/>
          <a:p>
            <a:pPr marL="0" indent="0">
              <a:buNone/>
            </a:pPr>
            <a:r>
              <a:rPr lang="en-US" sz="1000" dirty="0">
                <a:solidFill>
                  <a:srgbClr val="334155"/>
                </a:solidFill>
                <a:latin typeface="Calibri" pitchFamily="34" charset="0"/>
                <a:ea typeface="Calibri" pitchFamily="34" charset="-122"/>
                <a:cs typeface="Calibri" pitchFamily="34" charset="-120"/>
              </a:rPr>
              <a:t>Emerging — turns workspace evidence into analyst-ready summaries.</a:t>
            </a:r>
            <a:endParaRPr lang="en-US" sz="1000" dirty="0"/>
          </a:p>
        </p:txBody>
      </p:sp>
      <p:sp>
        <p:nvSpPr>
          <p:cNvPr id="46" name="Shape 38"/>
          <p:cNvSpPr/>
          <p:nvPr/>
        </p:nvSpPr>
        <p:spPr>
          <a:xfrm>
            <a:off x="502920" y="4718304"/>
            <a:ext cx="8138160" cy="0"/>
          </a:xfrm>
          <a:prstGeom prst="line">
            <a:avLst/>
          </a:prstGeom>
          <a:noFill/>
          <a:ln w="12700">
            <a:solidFill>
              <a:srgbClr val="DCE5EE"/>
            </a:solidFill>
            <a:prstDash val="solid"/>
          </a:ln>
        </p:spPr>
        <p:txBody>
          <a:bodyPr/>
          <a:lstStyle/>
          <a:p>
            <a:endParaRPr lang="en-US"/>
          </a:p>
        </p:txBody>
      </p:sp>
      <p:sp>
        <p:nvSpPr>
          <p:cNvPr id="47" name="Shape 39"/>
          <p:cNvSpPr/>
          <p:nvPr/>
        </p:nvSpPr>
        <p:spPr>
          <a:xfrm>
            <a:off x="502920" y="4846320"/>
            <a:ext cx="73152" cy="73152"/>
          </a:xfrm>
          <a:prstGeom prst="ellipse">
            <a:avLst/>
          </a:prstGeom>
          <a:solidFill>
            <a:srgbClr val="0D9488"/>
          </a:solidFill>
          <a:ln/>
        </p:spPr>
        <p:txBody>
          <a:bodyPr/>
          <a:lstStyle/>
          <a:p>
            <a:endParaRPr lang="en-US"/>
          </a:p>
        </p:txBody>
      </p:sp>
      <p:sp>
        <p:nvSpPr>
          <p:cNvPr id="48" name="Text 40"/>
          <p:cNvSpPr/>
          <p:nvPr/>
        </p:nvSpPr>
        <p:spPr>
          <a:xfrm>
            <a:off x="649224" y="4764024"/>
            <a:ext cx="2743200" cy="237744"/>
          </a:xfrm>
          <a:prstGeom prst="rect">
            <a:avLst/>
          </a:prstGeom>
          <a:noFill/>
          <a:ln/>
        </p:spPr>
        <p:txBody>
          <a:bodyPr wrap="square" lIns="0" tIns="0" rIns="0" bIns="0" rtlCol="0" anchor="ctr"/>
          <a:lstStyle/>
          <a:p>
            <a:pPr marL="0" indent="0">
              <a:buNone/>
            </a:pPr>
            <a:r>
              <a:rPr lang="en-US" sz="950" b="1" kern="0" spc="200" dirty="0">
                <a:solidFill>
                  <a:srgbClr val="64748B"/>
                </a:solidFill>
                <a:latin typeface="Calibri" pitchFamily="34" charset="0"/>
                <a:ea typeface="Calibri" pitchFamily="34" charset="-122"/>
                <a:cs typeface="Calibri" pitchFamily="34" charset="-120"/>
              </a:rPr>
              <a:t>SEMANTRA</a:t>
            </a:r>
            <a:endParaRPr lang="en-US" sz="950" dirty="0"/>
          </a:p>
        </p:txBody>
      </p:sp>
      <p:sp>
        <p:nvSpPr>
          <p:cNvPr id="49" name="Text 41"/>
          <p:cNvSpPr/>
          <p:nvPr/>
        </p:nvSpPr>
        <p:spPr>
          <a:xfrm>
            <a:off x="4800600" y="4764024"/>
            <a:ext cx="2834640" cy="237744"/>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PMO SERVICE • EA–DA BRIDGE</a:t>
            </a:r>
            <a:endParaRPr lang="en-US" sz="900" dirty="0"/>
          </a:p>
        </p:txBody>
      </p:sp>
      <p:sp>
        <p:nvSpPr>
          <p:cNvPr id="50" name="Text 42"/>
          <p:cNvSpPr/>
          <p:nvPr/>
        </p:nvSpPr>
        <p:spPr>
          <a:xfrm>
            <a:off x="7726680" y="4764024"/>
            <a:ext cx="914400" cy="237744"/>
          </a:xfrm>
          <a:prstGeom prst="rect">
            <a:avLst/>
          </a:prstGeom>
          <a:noFill/>
          <a:ln/>
        </p:spPr>
        <p:txBody>
          <a:bodyPr wrap="square" lIns="0" tIns="0" rIns="0" bIns="0" rtlCol="0" anchor="ctr"/>
          <a:lstStyle/>
          <a:p>
            <a:pPr marL="0" indent="0" algn="r">
              <a:buNone/>
            </a:pPr>
            <a:r>
              <a:rPr lang="en-US" sz="950" b="1" dirty="0">
                <a:solidFill>
                  <a:srgbClr val="0D9488"/>
                </a:solidFill>
                <a:latin typeface="Calibri" pitchFamily="34" charset="0"/>
                <a:ea typeface="Calibri" pitchFamily="34" charset="-122"/>
                <a:cs typeface="Calibri" pitchFamily="34" charset="-120"/>
              </a:rPr>
              <a:t>05 / 18</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8138160" cy="274320"/>
          </a:xfrm>
          <a:prstGeom prst="rect">
            <a:avLst/>
          </a:prstGeom>
          <a:noFill/>
          <a:ln/>
        </p:spPr>
        <p:txBody>
          <a:bodyPr wrap="square" lIns="0" tIns="0" rIns="0" bIns="0" rtlCol="0" anchor="ctr"/>
          <a:lstStyle/>
          <a:p>
            <a:pPr marL="0" indent="0" algn="l">
              <a:buNone/>
            </a:pPr>
            <a:r>
              <a:rPr lang="en-US" sz="1150" b="1" kern="0" spc="200" dirty="0">
                <a:solidFill>
                  <a:srgbClr val="0D9488"/>
                </a:solidFill>
                <a:latin typeface="Calibri" pitchFamily="34" charset="0"/>
                <a:ea typeface="Calibri" pitchFamily="34" charset="-122"/>
                <a:cs typeface="Calibri" pitchFamily="34" charset="-120"/>
              </a:rPr>
              <a:t>WHY THIS MATTERS</a:t>
            </a:r>
            <a:endParaRPr lang="en-US" sz="1150" dirty="0"/>
          </a:p>
        </p:txBody>
      </p:sp>
      <p:sp>
        <p:nvSpPr>
          <p:cNvPr id="3" name="Text 1"/>
          <p:cNvSpPr/>
          <p:nvPr/>
        </p:nvSpPr>
        <p:spPr>
          <a:xfrm>
            <a:off x="502920" y="585216"/>
            <a:ext cx="8138160" cy="749808"/>
          </a:xfrm>
          <a:prstGeom prst="rect">
            <a:avLst/>
          </a:prstGeom>
          <a:noFill/>
          <a:ln/>
        </p:spPr>
        <p:txBody>
          <a:bodyPr wrap="square" lIns="0" tIns="0" rIns="0" bIns="0" rtlCol="0" anchor="t"/>
          <a:lstStyle/>
          <a:p>
            <a:pPr marL="0" indent="0" algn="l">
              <a:buNone/>
            </a:pPr>
            <a:r>
              <a:rPr lang="en-US" sz="2700" b="1" dirty="0">
                <a:solidFill>
                  <a:srgbClr val="0F2A43"/>
                </a:solidFill>
                <a:latin typeface="Georgia" pitchFamily="34" charset="0"/>
                <a:ea typeface="Georgia" pitchFamily="34" charset="-122"/>
                <a:cs typeface="Georgia" pitchFamily="34" charset="-120"/>
              </a:rPr>
              <a:t>Less friction, more trust, a stronger delivery package</a:t>
            </a:r>
            <a:endParaRPr lang="en-US" sz="2700" dirty="0"/>
          </a:p>
        </p:txBody>
      </p:sp>
      <p:sp>
        <p:nvSpPr>
          <p:cNvPr id="4" name="Shape 2"/>
          <p:cNvSpPr/>
          <p:nvPr/>
        </p:nvSpPr>
        <p:spPr>
          <a:xfrm>
            <a:off x="502920" y="1627632"/>
            <a:ext cx="1466698" cy="2148840"/>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5" name="Shape 3"/>
          <p:cNvSpPr/>
          <p:nvPr/>
        </p:nvSpPr>
        <p:spPr>
          <a:xfrm>
            <a:off x="934517" y="1883664"/>
            <a:ext cx="603504" cy="603504"/>
          </a:xfrm>
          <a:prstGeom prst="ellipse">
            <a:avLst/>
          </a:prstGeom>
          <a:solidFill>
            <a:srgbClr val="0F2A43"/>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062533" y="2011680"/>
            <a:ext cx="347472" cy="347472"/>
          </a:xfrm>
          <a:prstGeom prst="rect">
            <a:avLst/>
          </a:prstGeom>
        </p:spPr>
      </p:pic>
      <p:sp>
        <p:nvSpPr>
          <p:cNvPr id="7" name="Text 4"/>
          <p:cNvSpPr/>
          <p:nvPr/>
        </p:nvSpPr>
        <p:spPr>
          <a:xfrm>
            <a:off x="594360" y="2596896"/>
            <a:ext cx="1283818" cy="548640"/>
          </a:xfrm>
          <a:prstGeom prst="rect">
            <a:avLst/>
          </a:prstGeom>
          <a:noFill/>
          <a:ln/>
        </p:spPr>
        <p:txBody>
          <a:bodyPr wrap="square" lIns="0" tIns="0" rIns="0" bIns="0" rtlCol="0" anchor="t"/>
          <a:lstStyle/>
          <a:p>
            <a:pPr marL="0" indent="0" algn="ctr">
              <a:buNone/>
            </a:pPr>
            <a:r>
              <a:rPr lang="en-US" sz="1250" b="1" dirty="0">
                <a:solidFill>
                  <a:srgbClr val="0F2A43"/>
                </a:solidFill>
                <a:latin typeface="Calibri" pitchFamily="34" charset="0"/>
                <a:ea typeface="Calibri" pitchFamily="34" charset="-122"/>
                <a:cs typeface="Calibri" pitchFamily="34" charset="-120"/>
              </a:rPr>
              <a:t>Less rework</a:t>
            </a:r>
            <a:endParaRPr lang="en-US" sz="1250" dirty="0"/>
          </a:p>
        </p:txBody>
      </p:sp>
      <p:sp>
        <p:nvSpPr>
          <p:cNvPr id="8" name="Text 5"/>
          <p:cNvSpPr/>
          <p:nvPr/>
        </p:nvSpPr>
        <p:spPr>
          <a:xfrm>
            <a:off x="612648" y="2999232"/>
            <a:ext cx="1247242" cy="713232"/>
          </a:xfrm>
          <a:prstGeom prst="rect">
            <a:avLst/>
          </a:prstGeom>
          <a:noFill/>
          <a:ln/>
        </p:spPr>
        <p:txBody>
          <a:bodyPr wrap="square" lIns="0" tIns="0" rIns="0" bIns="0" rtlCol="0" anchor="t"/>
          <a:lstStyle/>
          <a:p>
            <a:pPr marL="0" indent="0" algn="ctr">
              <a:buNone/>
            </a:pPr>
            <a:r>
              <a:rPr lang="en-US" sz="1000" dirty="0">
                <a:solidFill>
                  <a:srgbClr val="334155"/>
                </a:solidFill>
                <a:latin typeface="Calibri" pitchFamily="34" charset="0"/>
                <a:ea typeface="Calibri" pitchFamily="34" charset="-122"/>
                <a:cs typeface="Calibri" pitchFamily="34" charset="-120"/>
              </a:rPr>
              <a:t>Fewer repeated cycles across mapping and delivery.</a:t>
            </a:r>
            <a:endParaRPr lang="en-US" sz="1000" dirty="0"/>
          </a:p>
        </p:txBody>
      </p:sp>
      <p:sp>
        <p:nvSpPr>
          <p:cNvPr id="9" name="Shape 6"/>
          <p:cNvSpPr/>
          <p:nvPr/>
        </p:nvSpPr>
        <p:spPr>
          <a:xfrm>
            <a:off x="2170786" y="1627632"/>
            <a:ext cx="1466698" cy="2148840"/>
          </a:xfrm>
          <a:prstGeom prst="rect">
            <a:avLst/>
          </a:prstGeom>
          <a:solidFill>
            <a:srgbClr val="EEF3F8"/>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10" name="Shape 7"/>
          <p:cNvSpPr/>
          <p:nvPr/>
        </p:nvSpPr>
        <p:spPr>
          <a:xfrm>
            <a:off x="2602382" y="1883664"/>
            <a:ext cx="603504" cy="603504"/>
          </a:xfrm>
          <a:prstGeom prst="ellipse">
            <a:avLst/>
          </a:prstGeom>
          <a:solidFill>
            <a:srgbClr val="0F2A43"/>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2730398" y="2011680"/>
            <a:ext cx="347472" cy="347472"/>
          </a:xfrm>
          <a:prstGeom prst="rect">
            <a:avLst/>
          </a:prstGeom>
        </p:spPr>
      </p:pic>
      <p:sp>
        <p:nvSpPr>
          <p:cNvPr id="12" name="Text 8"/>
          <p:cNvSpPr/>
          <p:nvPr/>
        </p:nvSpPr>
        <p:spPr>
          <a:xfrm>
            <a:off x="2262226" y="2596896"/>
            <a:ext cx="1283818" cy="548640"/>
          </a:xfrm>
          <a:prstGeom prst="rect">
            <a:avLst/>
          </a:prstGeom>
          <a:noFill/>
          <a:ln/>
        </p:spPr>
        <p:txBody>
          <a:bodyPr wrap="square" lIns="0" tIns="0" rIns="0" bIns="0" rtlCol="0" anchor="t"/>
          <a:lstStyle/>
          <a:p>
            <a:pPr marL="0" indent="0" algn="ctr">
              <a:buNone/>
            </a:pPr>
            <a:r>
              <a:rPr lang="en-US" sz="1250" b="1" dirty="0">
                <a:solidFill>
                  <a:srgbClr val="0F2A43"/>
                </a:solidFill>
                <a:latin typeface="Calibri" pitchFamily="34" charset="0"/>
                <a:ea typeface="Calibri" pitchFamily="34" charset="-122"/>
                <a:cs typeface="Calibri" pitchFamily="34" charset="-120"/>
              </a:rPr>
              <a:t>Clearer decisions</a:t>
            </a:r>
            <a:endParaRPr lang="en-US" sz="1250" dirty="0"/>
          </a:p>
        </p:txBody>
      </p:sp>
      <p:sp>
        <p:nvSpPr>
          <p:cNvPr id="13" name="Text 9"/>
          <p:cNvSpPr/>
          <p:nvPr/>
        </p:nvSpPr>
        <p:spPr>
          <a:xfrm>
            <a:off x="2280514" y="2999232"/>
            <a:ext cx="1247242" cy="713232"/>
          </a:xfrm>
          <a:prstGeom prst="rect">
            <a:avLst/>
          </a:prstGeom>
          <a:noFill/>
          <a:ln/>
        </p:spPr>
        <p:txBody>
          <a:bodyPr wrap="square" lIns="0" tIns="0" rIns="0" bIns="0" rtlCol="0" anchor="t"/>
          <a:lstStyle/>
          <a:p>
            <a:pPr marL="0" indent="0" algn="ctr">
              <a:buNone/>
            </a:pPr>
            <a:r>
              <a:rPr lang="en-US" sz="1000" dirty="0">
                <a:solidFill>
                  <a:srgbClr val="334155"/>
                </a:solidFill>
                <a:latin typeface="Calibri" pitchFamily="34" charset="0"/>
                <a:ea typeface="Calibri" pitchFamily="34" charset="-122"/>
                <a:cs typeface="Calibri" pitchFamily="34" charset="-120"/>
              </a:rPr>
              <a:t>Sharper review and approval at every checkpoint.</a:t>
            </a:r>
            <a:endParaRPr lang="en-US" sz="1000" dirty="0"/>
          </a:p>
        </p:txBody>
      </p:sp>
      <p:sp>
        <p:nvSpPr>
          <p:cNvPr id="14" name="Shape 10"/>
          <p:cNvSpPr/>
          <p:nvPr/>
        </p:nvSpPr>
        <p:spPr>
          <a:xfrm>
            <a:off x="3838651" y="1627632"/>
            <a:ext cx="1466698" cy="2148840"/>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15" name="Shape 11"/>
          <p:cNvSpPr/>
          <p:nvPr/>
        </p:nvSpPr>
        <p:spPr>
          <a:xfrm>
            <a:off x="4270248" y="1883664"/>
            <a:ext cx="603504" cy="603504"/>
          </a:xfrm>
          <a:prstGeom prst="ellipse">
            <a:avLst/>
          </a:prstGeom>
          <a:solidFill>
            <a:srgbClr val="0F2A43"/>
          </a:solidFill>
          <a:ln/>
        </p:spPr>
        <p:txBody>
          <a:bodyPr/>
          <a:lstStyle/>
          <a:p>
            <a:endParaRPr lang="en-US"/>
          </a:p>
        </p:txBody>
      </p:sp>
      <p:pic>
        <p:nvPicPr>
          <p:cNvPr id="16" name="Image 2" descr="preencoded.png"/>
          <p:cNvPicPr>
            <a:picLocks noChangeAspect="1"/>
          </p:cNvPicPr>
          <p:nvPr/>
        </p:nvPicPr>
        <p:blipFill>
          <a:blip r:embed="rId5"/>
          <a:stretch>
            <a:fillRect/>
          </a:stretch>
        </p:blipFill>
        <p:spPr>
          <a:xfrm>
            <a:off x="4398264" y="2011680"/>
            <a:ext cx="347472" cy="347472"/>
          </a:xfrm>
          <a:prstGeom prst="rect">
            <a:avLst/>
          </a:prstGeom>
        </p:spPr>
      </p:pic>
      <p:sp>
        <p:nvSpPr>
          <p:cNvPr id="17" name="Text 12"/>
          <p:cNvSpPr/>
          <p:nvPr/>
        </p:nvSpPr>
        <p:spPr>
          <a:xfrm>
            <a:off x="3930091" y="2596896"/>
            <a:ext cx="1283818" cy="548640"/>
          </a:xfrm>
          <a:prstGeom prst="rect">
            <a:avLst/>
          </a:prstGeom>
          <a:noFill/>
          <a:ln/>
        </p:spPr>
        <p:txBody>
          <a:bodyPr wrap="square" lIns="0" tIns="0" rIns="0" bIns="0" rtlCol="0" anchor="t"/>
          <a:lstStyle/>
          <a:p>
            <a:pPr marL="0" indent="0" algn="ctr">
              <a:buNone/>
            </a:pPr>
            <a:r>
              <a:rPr lang="en-US" sz="1250" b="1" dirty="0">
                <a:solidFill>
                  <a:srgbClr val="0F2A43"/>
                </a:solidFill>
                <a:latin typeface="Calibri" pitchFamily="34" charset="0"/>
                <a:ea typeface="Calibri" pitchFamily="34" charset="-122"/>
                <a:cs typeface="Calibri" pitchFamily="34" charset="-120"/>
              </a:rPr>
              <a:t>Traceability</a:t>
            </a:r>
            <a:endParaRPr lang="en-US" sz="1250" dirty="0"/>
          </a:p>
        </p:txBody>
      </p:sp>
      <p:sp>
        <p:nvSpPr>
          <p:cNvPr id="18" name="Text 13"/>
          <p:cNvSpPr/>
          <p:nvPr/>
        </p:nvSpPr>
        <p:spPr>
          <a:xfrm>
            <a:off x="3948379" y="2999232"/>
            <a:ext cx="1247242" cy="713232"/>
          </a:xfrm>
          <a:prstGeom prst="rect">
            <a:avLst/>
          </a:prstGeom>
          <a:noFill/>
          <a:ln/>
        </p:spPr>
        <p:txBody>
          <a:bodyPr wrap="square" lIns="0" tIns="0" rIns="0" bIns="0" rtlCol="0" anchor="t"/>
          <a:lstStyle/>
          <a:p>
            <a:pPr marL="0" indent="0" algn="ctr">
              <a:buNone/>
            </a:pPr>
            <a:r>
              <a:rPr lang="en-US" sz="1000" dirty="0">
                <a:solidFill>
                  <a:srgbClr val="334155"/>
                </a:solidFill>
                <a:latin typeface="Calibri" pitchFamily="34" charset="0"/>
                <a:ea typeface="Calibri" pitchFamily="34" charset="-122"/>
                <a:cs typeface="Calibri" pitchFamily="34" charset="-120"/>
              </a:rPr>
              <a:t>From source structure to target outcome, end to end.</a:t>
            </a:r>
            <a:endParaRPr lang="en-US" sz="1000" dirty="0"/>
          </a:p>
        </p:txBody>
      </p:sp>
      <p:sp>
        <p:nvSpPr>
          <p:cNvPr id="19" name="Shape 14"/>
          <p:cNvSpPr/>
          <p:nvPr/>
        </p:nvSpPr>
        <p:spPr>
          <a:xfrm>
            <a:off x="5506517" y="1627632"/>
            <a:ext cx="1466698" cy="2148840"/>
          </a:xfrm>
          <a:prstGeom prst="rect">
            <a:avLst/>
          </a:prstGeom>
          <a:solidFill>
            <a:srgbClr val="EEF3F8"/>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20" name="Shape 15"/>
          <p:cNvSpPr/>
          <p:nvPr/>
        </p:nvSpPr>
        <p:spPr>
          <a:xfrm>
            <a:off x="5938114" y="1883664"/>
            <a:ext cx="603504" cy="603504"/>
          </a:xfrm>
          <a:prstGeom prst="ellipse">
            <a:avLst/>
          </a:prstGeom>
          <a:solidFill>
            <a:srgbClr val="0F2A43"/>
          </a:solidFill>
          <a:ln/>
        </p:spPr>
        <p:txBody>
          <a:bodyPr/>
          <a:lstStyle/>
          <a:p>
            <a:endParaRPr lang="en-US"/>
          </a:p>
        </p:txBody>
      </p:sp>
      <p:pic>
        <p:nvPicPr>
          <p:cNvPr id="21" name="Image 3" descr="preencoded.png"/>
          <p:cNvPicPr>
            <a:picLocks noChangeAspect="1"/>
          </p:cNvPicPr>
          <p:nvPr/>
        </p:nvPicPr>
        <p:blipFill>
          <a:blip r:embed="rId6"/>
          <a:stretch>
            <a:fillRect/>
          </a:stretch>
        </p:blipFill>
        <p:spPr>
          <a:xfrm>
            <a:off x="6066130" y="2011680"/>
            <a:ext cx="347472" cy="347472"/>
          </a:xfrm>
          <a:prstGeom prst="rect">
            <a:avLst/>
          </a:prstGeom>
        </p:spPr>
      </p:pic>
      <p:sp>
        <p:nvSpPr>
          <p:cNvPr id="22" name="Text 16"/>
          <p:cNvSpPr/>
          <p:nvPr/>
        </p:nvSpPr>
        <p:spPr>
          <a:xfrm>
            <a:off x="5597957" y="2596896"/>
            <a:ext cx="1283818" cy="548640"/>
          </a:xfrm>
          <a:prstGeom prst="rect">
            <a:avLst/>
          </a:prstGeom>
          <a:noFill/>
          <a:ln/>
        </p:spPr>
        <p:txBody>
          <a:bodyPr wrap="square" lIns="0" tIns="0" rIns="0" bIns="0" rtlCol="0" anchor="t"/>
          <a:lstStyle/>
          <a:p>
            <a:pPr marL="0" indent="0" algn="ctr">
              <a:buNone/>
            </a:pPr>
            <a:r>
              <a:rPr lang="en-US" sz="1250" b="1" dirty="0">
                <a:solidFill>
                  <a:srgbClr val="0F2A43"/>
                </a:solidFill>
                <a:latin typeface="Calibri" pitchFamily="34" charset="0"/>
                <a:ea typeface="Calibri" pitchFamily="34" charset="-122"/>
                <a:cs typeface="Calibri" pitchFamily="34" charset="-120"/>
              </a:rPr>
              <a:t>Reusable knowledge</a:t>
            </a:r>
            <a:endParaRPr lang="en-US" sz="1250" dirty="0"/>
          </a:p>
        </p:txBody>
      </p:sp>
      <p:sp>
        <p:nvSpPr>
          <p:cNvPr id="23" name="Text 17"/>
          <p:cNvSpPr/>
          <p:nvPr/>
        </p:nvSpPr>
        <p:spPr>
          <a:xfrm>
            <a:off x="5616245" y="2999232"/>
            <a:ext cx="1247242" cy="713232"/>
          </a:xfrm>
          <a:prstGeom prst="rect">
            <a:avLst/>
          </a:prstGeom>
          <a:noFill/>
          <a:ln/>
        </p:spPr>
        <p:txBody>
          <a:bodyPr wrap="square" lIns="0" tIns="0" rIns="0" bIns="0" rtlCol="0" anchor="t"/>
          <a:lstStyle/>
          <a:p>
            <a:pPr marL="0" indent="0" algn="ctr">
              <a:buNone/>
            </a:pPr>
            <a:r>
              <a:rPr lang="en-US" sz="1000" dirty="0">
                <a:solidFill>
                  <a:srgbClr val="334155"/>
                </a:solidFill>
                <a:latin typeface="Calibri" pitchFamily="34" charset="0"/>
                <a:ea typeface="Calibri" pitchFamily="34" charset="-122"/>
                <a:cs typeface="Calibri" pitchFamily="34" charset="-120"/>
              </a:rPr>
              <a:t>Semantic memory available to future projects.</a:t>
            </a:r>
            <a:endParaRPr lang="en-US" sz="1000" dirty="0"/>
          </a:p>
        </p:txBody>
      </p:sp>
      <p:sp>
        <p:nvSpPr>
          <p:cNvPr id="24" name="Shape 18"/>
          <p:cNvSpPr/>
          <p:nvPr/>
        </p:nvSpPr>
        <p:spPr>
          <a:xfrm>
            <a:off x="7174382" y="1627632"/>
            <a:ext cx="1466698" cy="2148840"/>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25" name="Shape 19"/>
          <p:cNvSpPr/>
          <p:nvPr/>
        </p:nvSpPr>
        <p:spPr>
          <a:xfrm>
            <a:off x="7605979" y="1883664"/>
            <a:ext cx="603504" cy="603504"/>
          </a:xfrm>
          <a:prstGeom prst="ellipse">
            <a:avLst/>
          </a:prstGeom>
          <a:solidFill>
            <a:srgbClr val="0F2A43"/>
          </a:solidFill>
          <a:ln/>
        </p:spPr>
        <p:txBody>
          <a:bodyPr/>
          <a:lstStyle/>
          <a:p>
            <a:endParaRPr lang="en-US"/>
          </a:p>
        </p:txBody>
      </p:sp>
      <p:pic>
        <p:nvPicPr>
          <p:cNvPr id="26" name="Image 4" descr="preencoded.png"/>
          <p:cNvPicPr>
            <a:picLocks noChangeAspect="1"/>
          </p:cNvPicPr>
          <p:nvPr/>
        </p:nvPicPr>
        <p:blipFill>
          <a:blip r:embed="rId7"/>
          <a:stretch>
            <a:fillRect/>
          </a:stretch>
        </p:blipFill>
        <p:spPr>
          <a:xfrm>
            <a:off x="7733995" y="2011680"/>
            <a:ext cx="347472" cy="347472"/>
          </a:xfrm>
          <a:prstGeom prst="rect">
            <a:avLst/>
          </a:prstGeom>
        </p:spPr>
      </p:pic>
      <p:sp>
        <p:nvSpPr>
          <p:cNvPr id="27" name="Text 20"/>
          <p:cNvSpPr/>
          <p:nvPr/>
        </p:nvSpPr>
        <p:spPr>
          <a:xfrm>
            <a:off x="7265822" y="2596896"/>
            <a:ext cx="1283818" cy="548640"/>
          </a:xfrm>
          <a:prstGeom prst="rect">
            <a:avLst/>
          </a:prstGeom>
          <a:noFill/>
          <a:ln/>
        </p:spPr>
        <p:txBody>
          <a:bodyPr wrap="square" lIns="0" tIns="0" rIns="0" bIns="0" rtlCol="0" anchor="t"/>
          <a:lstStyle/>
          <a:p>
            <a:pPr marL="0" indent="0" algn="ctr">
              <a:buNone/>
            </a:pPr>
            <a:r>
              <a:rPr lang="en-US" sz="1250" b="1" dirty="0">
                <a:solidFill>
                  <a:srgbClr val="0F2A43"/>
                </a:solidFill>
                <a:latin typeface="Calibri" pitchFamily="34" charset="0"/>
                <a:ea typeface="Calibri" pitchFamily="34" charset="-122"/>
                <a:cs typeface="Calibri" pitchFamily="34" charset="-120"/>
              </a:rPr>
              <a:t>Stronger handoff</a:t>
            </a:r>
            <a:endParaRPr lang="en-US" sz="1250" dirty="0"/>
          </a:p>
        </p:txBody>
      </p:sp>
      <p:sp>
        <p:nvSpPr>
          <p:cNvPr id="28" name="Text 21"/>
          <p:cNvSpPr/>
          <p:nvPr/>
        </p:nvSpPr>
        <p:spPr>
          <a:xfrm>
            <a:off x="7284110" y="2999232"/>
            <a:ext cx="1247242" cy="713232"/>
          </a:xfrm>
          <a:prstGeom prst="rect">
            <a:avLst/>
          </a:prstGeom>
          <a:noFill/>
          <a:ln/>
        </p:spPr>
        <p:txBody>
          <a:bodyPr wrap="square" lIns="0" tIns="0" rIns="0" bIns="0" rtlCol="0" anchor="t"/>
          <a:lstStyle/>
          <a:p>
            <a:pPr marL="0" indent="0" algn="ctr">
              <a:buNone/>
            </a:pPr>
            <a:r>
              <a:rPr lang="en-US" sz="1000" dirty="0">
                <a:solidFill>
                  <a:srgbClr val="334155"/>
                </a:solidFill>
                <a:latin typeface="Calibri" pitchFamily="34" charset="0"/>
                <a:ea typeface="Calibri" pitchFamily="34" charset="-122"/>
                <a:cs typeface="Calibri" pitchFamily="34" charset="-120"/>
              </a:rPr>
              <a:t>A cleaner bridge from analysis to implementation.</a:t>
            </a:r>
            <a:endParaRPr lang="en-US" sz="1000" dirty="0"/>
          </a:p>
        </p:txBody>
      </p:sp>
      <p:sp>
        <p:nvSpPr>
          <p:cNvPr id="29" name="Text 22"/>
          <p:cNvSpPr/>
          <p:nvPr/>
        </p:nvSpPr>
        <p:spPr>
          <a:xfrm>
            <a:off x="502920" y="3968496"/>
            <a:ext cx="8138160" cy="365760"/>
          </a:xfrm>
          <a:prstGeom prst="rect">
            <a:avLst/>
          </a:prstGeom>
          <a:noFill/>
          <a:ln/>
        </p:spPr>
        <p:txBody>
          <a:bodyPr wrap="square" lIns="0" tIns="0" rIns="0" bIns="0" rtlCol="0" anchor="ctr"/>
          <a:lstStyle/>
          <a:p>
            <a:pPr marL="0" indent="0" algn="ctr">
              <a:buNone/>
            </a:pPr>
            <a:r>
              <a:rPr lang="en-US" sz="1250" b="1" i="1" dirty="0">
                <a:solidFill>
                  <a:srgbClr val="0D9488"/>
                </a:solidFill>
                <a:latin typeface="Calibri" pitchFamily="34" charset="0"/>
                <a:ea typeface="Calibri" pitchFamily="34" charset="-122"/>
                <a:cs typeface="Calibri" pitchFamily="34" charset="-120"/>
              </a:rPr>
              <a:t>The real value is a structured, explainable result that can be reviewed, approved, reused, and handed off.</a:t>
            </a:r>
            <a:endParaRPr lang="en-US" sz="1250" dirty="0"/>
          </a:p>
        </p:txBody>
      </p:sp>
      <p:sp>
        <p:nvSpPr>
          <p:cNvPr id="30" name="Shape 23"/>
          <p:cNvSpPr/>
          <p:nvPr/>
        </p:nvSpPr>
        <p:spPr>
          <a:xfrm>
            <a:off x="502920" y="4718304"/>
            <a:ext cx="8138160" cy="0"/>
          </a:xfrm>
          <a:prstGeom prst="line">
            <a:avLst/>
          </a:prstGeom>
          <a:noFill/>
          <a:ln w="12700">
            <a:solidFill>
              <a:srgbClr val="DCE5EE"/>
            </a:solidFill>
            <a:prstDash val="solid"/>
          </a:ln>
        </p:spPr>
        <p:txBody>
          <a:bodyPr/>
          <a:lstStyle/>
          <a:p>
            <a:endParaRPr lang="en-US"/>
          </a:p>
        </p:txBody>
      </p:sp>
      <p:sp>
        <p:nvSpPr>
          <p:cNvPr id="31" name="Shape 24"/>
          <p:cNvSpPr/>
          <p:nvPr/>
        </p:nvSpPr>
        <p:spPr>
          <a:xfrm>
            <a:off x="502920" y="4846320"/>
            <a:ext cx="73152" cy="73152"/>
          </a:xfrm>
          <a:prstGeom prst="ellipse">
            <a:avLst/>
          </a:prstGeom>
          <a:solidFill>
            <a:srgbClr val="0D9488"/>
          </a:solidFill>
          <a:ln/>
        </p:spPr>
        <p:txBody>
          <a:bodyPr/>
          <a:lstStyle/>
          <a:p>
            <a:endParaRPr lang="en-US"/>
          </a:p>
        </p:txBody>
      </p:sp>
      <p:sp>
        <p:nvSpPr>
          <p:cNvPr id="32" name="Text 25"/>
          <p:cNvSpPr/>
          <p:nvPr/>
        </p:nvSpPr>
        <p:spPr>
          <a:xfrm>
            <a:off x="649224" y="4764024"/>
            <a:ext cx="2743200" cy="237744"/>
          </a:xfrm>
          <a:prstGeom prst="rect">
            <a:avLst/>
          </a:prstGeom>
          <a:noFill/>
          <a:ln/>
        </p:spPr>
        <p:txBody>
          <a:bodyPr wrap="square" lIns="0" tIns="0" rIns="0" bIns="0" rtlCol="0" anchor="ctr"/>
          <a:lstStyle/>
          <a:p>
            <a:pPr marL="0" indent="0">
              <a:buNone/>
            </a:pPr>
            <a:r>
              <a:rPr lang="en-US" sz="950" b="1" kern="0" spc="200" dirty="0">
                <a:solidFill>
                  <a:srgbClr val="64748B"/>
                </a:solidFill>
                <a:latin typeface="Calibri" pitchFamily="34" charset="0"/>
                <a:ea typeface="Calibri" pitchFamily="34" charset="-122"/>
                <a:cs typeface="Calibri" pitchFamily="34" charset="-120"/>
              </a:rPr>
              <a:t>SEMANTRA</a:t>
            </a:r>
            <a:endParaRPr lang="en-US" sz="950" dirty="0"/>
          </a:p>
        </p:txBody>
      </p:sp>
      <p:sp>
        <p:nvSpPr>
          <p:cNvPr id="33" name="Text 26"/>
          <p:cNvSpPr/>
          <p:nvPr/>
        </p:nvSpPr>
        <p:spPr>
          <a:xfrm>
            <a:off x="4800600" y="4764024"/>
            <a:ext cx="2834640" cy="237744"/>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PMO SERVICE • EA–DA BRIDGE</a:t>
            </a:r>
            <a:endParaRPr lang="en-US" sz="900" dirty="0"/>
          </a:p>
        </p:txBody>
      </p:sp>
      <p:sp>
        <p:nvSpPr>
          <p:cNvPr id="34" name="Text 27"/>
          <p:cNvSpPr/>
          <p:nvPr/>
        </p:nvSpPr>
        <p:spPr>
          <a:xfrm>
            <a:off x="7726680" y="4764024"/>
            <a:ext cx="914400" cy="237744"/>
          </a:xfrm>
          <a:prstGeom prst="rect">
            <a:avLst/>
          </a:prstGeom>
          <a:noFill/>
          <a:ln/>
        </p:spPr>
        <p:txBody>
          <a:bodyPr wrap="square" lIns="0" tIns="0" rIns="0" bIns="0" rtlCol="0" anchor="ctr"/>
          <a:lstStyle/>
          <a:p>
            <a:pPr marL="0" indent="0" algn="r">
              <a:buNone/>
            </a:pPr>
            <a:r>
              <a:rPr lang="en-US" sz="950" b="1" dirty="0">
                <a:solidFill>
                  <a:srgbClr val="0D9488"/>
                </a:solidFill>
                <a:latin typeface="Calibri" pitchFamily="34" charset="0"/>
                <a:ea typeface="Calibri" pitchFamily="34" charset="-122"/>
                <a:cs typeface="Calibri" pitchFamily="34" charset="-120"/>
              </a:rPr>
              <a:t>06 / 18</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8138160" cy="274320"/>
          </a:xfrm>
          <a:prstGeom prst="rect">
            <a:avLst/>
          </a:prstGeom>
          <a:noFill/>
          <a:ln/>
        </p:spPr>
        <p:txBody>
          <a:bodyPr wrap="square" lIns="0" tIns="0" rIns="0" bIns="0" rtlCol="0" anchor="ctr"/>
          <a:lstStyle/>
          <a:p>
            <a:pPr marL="0" indent="0" algn="l">
              <a:buNone/>
            </a:pPr>
            <a:r>
              <a:rPr lang="en-US" sz="1150" b="1" kern="0" spc="200" dirty="0">
                <a:solidFill>
                  <a:srgbClr val="0D9488"/>
                </a:solidFill>
                <a:latin typeface="Calibri" pitchFamily="34" charset="0"/>
                <a:ea typeface="Calibri" pitchFamily="34" charset="-122"/>
                <a:cs typeface="Calibri" pitchFamily="34" charset="-120"/>
              </a:rPr>
              <a:t>CORE VALUE</a:t>
            </a:r>
            <a:endParaRPr lang="en-US" sz="1150" dirty="0"/>
          </a:p>
        </p:txBody>
      </p:sp>
      <p:sp>
        <p:nvSpPr>
          <p:cNvPr id="3" name="Text 1"/>
          <p:cNvSpPr/>
          <p:nvPr/>
        </p:nvSpPr>
        <p:spPr>
          <a:xfrm>
            <a:off x="502920" y="585216"/>
            <a:ext cx="8138160" cy="749808"/>
          </a:xfrm>
          <a:prstGeom prst="rect">
            <a:avLst/>
          </a:prstGeom>
          <a:noFill/>
          <a:ln/>
        </p:spPr>
        <p:txBody>
          <a:bodyPr wrap="square" lIns="0" tIns="0" rIns="0" bIns="0" rtlCol="0" anchor="t"/>
          <a:lstStyle/>
          <a:p>
            <a:pPr marL="0" indent="0" algn="l">
              <a:buNone/>
            </a:pPr>
            <a:r>
              <a:rPr lang="en-US" sz="2700" b="1" dirty="0">
                <a:solidFill>
                  <a:srgbClr val="0F2A43"/>
                </a:solidFill>
                <a:latin typeface="Georgia" pitchFamily="34" charset="0"/>
                <a:ea typeface="Georgia" pitchFamily="34" charset="-122"/>
                <a:cs typeface="Georgia" pitchFamily="34" charset="-120"/>
              </a:rPr>
              <a:t>Value that compounds with every engagement</a:t>
            </a:r>
            <a:endParaRPr lang="en-US" sz="2700" dirty="0"/>
          </a:p>
        </p:txBody>
      </p:sp>
      <p:sp>
        <p:nvSpPr>
          <p:cNvPr id="4" name="Shape 2"/>
          <p:cNvSpPr/>
          <p:nvPr/>
        </p:nvSpPr>
        <p:spPr>
          <a:xfrm>
            <a:off x="502920" y="1499616"/>
            <a:ext cx="3950208" cy="841248"/>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5" name="Shape 3"/>
          <p:cNvSpPr/>
          <p:nvPr/>
        </p:nvSpPr>
        <p:spPr>
          <a:xfrm>
            <a:off x="685800" y="1664208"/>
            <a:ext cx="512064" cy="512064"/>
          </a:xfrm>
          <a:prstGeom prst="ellipse">
            <a:avLst/>
          </a:prstGeom>
          <a:solidFill>
            <a:srgbClr val="E6F4F2"/>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813816" y="1792224"/>
            <a:ext cx="256032" cy="256032"/>
          </a:xfrm>
          <a:prstGeom prst="rect">
            <a:avLst/>
          </a:prstGeom>
        </p:spPr>
      </p:pic>
      <p:sp>
        <p:nvSpPr>
          <p:cNvPr id="7" name="Text 4"/>
          <p:cNvSpPr/>
          <p:nvPr/>
        </p:nvSpPr>
        <p:spPr>
          <a:xfrm>
            <a:off x="1344168" y="1618488"/>
            <a:ext cx="2990088" cy="292608"/>
          </a:xfrm>
          <a:prstGeom prst="rect">
            <a:avLst/>
          </a:prstGeom>
          <a:noFill/>
          <a:ln/>
        </p:spPr>
        <p:txBody>
          <a:bodyPr wrap="square" lIns="0" tIns="0" rIns="0" bIns="0" rtlCol="0" anchor="ctr"/>
          <a:lstStyle/>
          <a:p>
            <a:pPr marL="0" indent="0">
              <a:buNone/>
            </a:pPr>
            <a:r>
              <a:rPr lang="en-US" sz="1400" b="1" dirty="0">
                <a:solidFill>
                  <a:srgbClr val="0F2A43"/>
                </a:solidFill>
                <a:latin typeface="Calibri" pitchFamily="34" charset="0"/>
                <a:ea typeface="Calibri" pitchFamily="34" charset="-122"/>
                <a:cs typeface="Calibri" pitchFamily="34" charset="-120"/>
              </a:rPr>
              <a:t>Map faster</a:t>
            </a:r>
            <a:endParaRPr lang="en-US" sz="1400" dirty="0"/>
          </a:p>
        </p:txBody>
      </p:sp>
      <p:sp>
        <p:nvSpPr>
          <p:cNvPr id="8" name="Text 5"/>
          <p:cNvSpPr/>
          <p:nvPr/>
        </p:nvSpPr>
        <p:spPr>
          <a:xfrm>
            <a:off x="1344168" y="1911096"/>
            <a:ext cx="2990088" cy="365760"/>
          </a:xfrm>
          <a:prstGeom prst="rect">
            <a:avLst/>
          </a:prstGeom>
          <a:noFill/>
          <a:ln/>
        </p:spPr>
        <p:txBody>
          <a:bodyPr wrap="square" lIns="0" tIns="0" rIns="0" bIns="0" rtlCol="0" anchor="t"/>
          <a:lstStyle/>
          <a:p>
            <a:pPr marL="0" indent="0">
              <a:buNone/>
            </a:pPr>
            <a:r>
              <a:rPr lang="en-US" sz="1050" dirty="0">
                <a:solidFill>
                  <a:srgbClr val="334155"/>
                </a:solidFill>
                <a:latin typeface="Calibri" pitchFamily="34" charset="0"/>
                <a:ea typeface="Calibri" pitchFamily="34" charset="-122"/>
                <a:cs typeface="Calibri" pitchFamily="34" charset="-120"/>
              </a:rPr>
              <a:t>A more structured starting point accelerates the first pass.</a:t>
            </a:r>
            <a:endParaRPr lang="en-US" sz="1050" dirty="0"/>
          </a:p>
        </p:txBody>
      </p:sp>
      <p:sp>
        <p:nvSpPr>
          <p:cNvPr id="9" name="Shape 6"/>
          <p:cNvSpPr/>
          <p:nvPr/>
        </p:nvSpPr>
        <p:spPr>
          <a:xfrm>
            <a:off x="502920" y="2505456"/>
            <a:ext cx="3950208" cy="841248"/>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10" name="Shape 7"/>
          <p:cNvSpPr/>
          <p:nvPr/>
        </p:nvSpPr>
        <p:spPr>
          <a:xfrm>
            <a:off x="685800" y="2670048"/>
            <a:ext cx="512064" cy="512064"/>
          </a:xfrm>
          <a:prstGeom prst="ellipse">
            <a:avLst/>
          </a:prstGeom>
          <a:solidFill>
            <a:srgbClr val="E6F4F2"/>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813816" y="2798064"/>
            <a:ext cx="256032" cy="256032"/>
          </a:xfrm>
          <a:prstGeom prst="rect">
            <a:avLst/>
          </a:prstGeom>
        </p:spPr>
      </p:pic>
      <p:sp>
        <p:nvSpPr>
          <p:cNvPr id="12" name="Text 8"/>
          <p:cNvSpPr/>
          <p:nvPr/>
        </p:nvSpPr>
        <p:spPr>
          <a:xfrm>
            <a:off x="1344168" y="2624328"/>
            <a:ext cx="2990088" cy="292608"/>
          </a:xfrm>
          <a:prstGeom prst="rect">
            <a:avLst/>
          </a:prstGeom>
          <a:noFill/>
          <a:ln/>
        </p:spPr>
        <p:txBody>
          <a:bodyPr wrap="square" lIns="0" tIns="0" rIns="0" bIns="0" rtlCol="0" anchor="ctr"/>
          <a:lstStyle/>
          <a:p>
            <a:pPr marL="0" indent="0">
              <a:buNone/>
            </a:pPr>
            <a:r>
              <a:rPr lang="en-US" sz="1400" b="1" dirty="0">
                <a:solidFill>
                  <a:srgbClr val="0F2A43"/>
                </a:solidFill>
                <a:latin typeface="Calibri" pitchFamily="34" charset="0"/>
                <a:ea typeface="Calibri" pitchFamily="34" charset="-122"/>
                <a:cs typeface="Calibri" pitchFamily="34" charset="-120"/>
              </a:rPr>
              <a:t>Understand the why</a:t>
            </a:r>
            <a:endParaRPr lang="en-US" sz="1400" dirty="0"/>
          </a:p>
        </p:txBody>
      </p:sp>
      <p:sp>
        <p:nvSpPr>
          <p:cNvPr id="13" name="Text 9"/>
          <p:cNvSpPr/>
          <p:nvPr/>
        </p:nvSpPr>
        <p:spPr>
          <a:xfrm>
            <a:off x="1344168" y="2916936"/>
            <a:ext cx="2990088" cy="365760"/>
          </a:xfrm>
          <a:prstGeom prst="rect">
            <a:avLst/>
          </a:prstGeom>
          <a:noFill/>
          <a:ln/>
        </p:spPr>
        <p:txBody>
          <a:bodyPr wrap="square" lIns="0" tIns="0" rIns="0" bIns="0" rtlCol="0" anchor="t"/>
          <a:lstStyle/>
          <a:p>
            <a:pPr marL="0" indent="0">
              <a:buNone/>
            </a:pPr>
            <a:r>
              <a:rPr lang="en-US" sz="1050" dirty="0">
                <a:solidFill>
                  <a:srgbClr val="334155"/>
                </a:solidFill>
                <a:latin typeface="Calibri" pitchFamily="34" charset="0"/>
                <a:ea typeface="Calibri" pitchFamily="34" charset="-122"/>
                <a:cs typeface="Calibri" pitchFamily="34" charset="-120"/>
              </a:rPr>
              <a:t>Every suggestion exposes its underlying signals.</a:t>
            </a:r>
            <a:endParaRPr lang="en-US" sz="1050" dirty="0"/>
          </a:p>
        </p:txBody>
      </p:sp>
      <p:sp>
        <p:nvSpPr>
          <p:cNvPr id="14" name="Shape 10"/>
          <p:cNvSpPr/>
          <p:nvPr/>
        </p:nvSpPr>
        <p:spPr>
          <a:xfrm>
            <a:off x="502920" y="3511296"/>
            <a:ext cx="3950208" cy="841248"/>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15" name="Shape 11"/>
          <p:cNvSpPr/>
          <p:nvPr/>
        </p:nvSpPr>
        <p:spPr>
          <a:xfrm>
            <a:off x="685800" y="3675888"/>
            <a:ext cx="512064" cy="512064"/>
          </a:xfrm>
          <a:prstGeom prst="ellipse">
            <a:avLst/>
          </a:prstGeom>
          <a:solidFill>
            <a:srgbClr val="E6F4F2"/>
          </a:solidFill>
          <a:ln/>
        </p:spPr>
        <p:txBody>
          <a:bodyPr/>
          <a:lstStyle/>
          <a:p>
            <a:endParaRPr lang="en-US"/>
          </a:p>
        </p:txBody>
      </p:sp>
      <p:pic>
        <p:nvPicPr>
          <p:cNvPr id="16" name="Image 2" descr="preencoded.png"/>
          <p:cNvPicPr>
            <a:picLocks noChangeAspect="1"/>
          </p:cNvPicPr>
          <p:nvPr/>
        </p:nvPicPr>
        <p:blipFill>
          <a:blip r:embed="rId5"/>
          <a:stretch>
            <a:fillRect/>
          </a:stretch>
        </p:blipFill>
        <p:spPr>
          <a:xfrm>
            <a:off x="813816" y="3803904"/>
            <a:ext cx="256032" cy="256032"/>
          </a:xfrm>
          <a:prstGeom prst="rect">
            <a:avLst/>
          </a:prstGeom>
        </p:spPr>
      </p:pic>
      <p:sp>
        <p:nvSpPr>
          <p:cNvPr id="17" name="Text 12"/>
          <p:cNvSpPr/>
          <p:nvPr/>
        </p:nvSpPr>
        <p:spPr>
          <a:xfrm>
            <a:off x="1344168" y="3630168"/>
            <a:ext cx="2990088" cy="292608"/>
          </a:xfrm>
          <a:prstGeom prst="rect">
            <a:avLst/>
          </a:prstGeom>
          <a:noFill/>
          <a:ln/>
        </p:spPr>
        <p:txBody>
          <a:bodyPr wrap="square" lIns="0" tIns="0" rIns="0" bIns="0" rtlCol="0" anchor="ctr"/>
          <a:lstStyle/>
          <a:p>
            <a:pPr marL="0" indent="0">
              <a:buNone/>
            </a:pPr>
            <a:r>
              <a:rPr lang="en-US" sz="1400" b="1" dirty="0">
                <a:solidFill>
                  <a:srgbClr val="0F2A43"/>
                </a:solidFill>
                <a:latin typeface="Calibri" pitchFamily="34" charset="0"/>
                <a:ea typeface="Calibri" pitchFamily="34" charset="-122"/>
                <a:cs typeface="Calibri" pitchFamily="34" charset="-120"/>
              </a:rPr>
              <a:t>Delivery-ready summaries</a:t>
            </a:r>
            <a:endParaRPr lang="en-US" sz="1400" dirty="0"/>
          </a:p>
        </p:txBody>
      </p:sp>
      <p:sp>
        <p:nvSpPr>
          <p:cNvPr id="18" name="Text 13"/>
          <p:cNvSpPr/>
          <p:nvPr/>
        </p:nvSpPr>
        <p:spPr>
          <a:xfrm>
            <a:off x="1344168" y="3922776"/>
            <a:ext cx="2990088" cy="365760"/>
          </a:xfrm>
          <a:prstGeom prst="rect">
            <a:avLst/>
          </a:prstGeom>
          <a:noFill/>
          <a:ln/>
        </p:spPr>
        <p:txBody>
          <a:bodyPr wrap="square" lIns="0" tIns="0" rIns="0" bIns="0" rtlCol="0" anchor="t"/>
          <a:lstStyle/>
          <a:p>
            <a:pPr marL="0" indent="0">
              <a:buNone/>
            </a:pPr>
            <a:r>
              <a:rPr lang="en-US" sz="1050" dirty="0">
                <a:solidFill>
                  <a:srgbClr val="334155"/>
                </a:solidFill>
                <a:latin typeface="Calibri" pitchFamily="34" charset="0"/>
                <a:ea typeface="Calibri" pitchFamily="34" charset="-122"/>
                <a:cs typeface="Calibri" pitchFamily="34" charset="-120"/>
              </a:rPr>
              <a:t>Produce BA Mapping Reports for business and delivery stakeholders.</a:t>
            </a:r>
            <a:endParaRPr lang="en-US" sz="1050" dirty="0"/>
          </a:p>
        </p:txBody>
      </p:sp>
      <p:sp>
        <p:nvSpPr>
          <p:cNvPr id="19" name="Shape 14"/>
          <p:cNvSpPr/>
          <p:nvPr/>
        </p:nvSpPr>
        <p:spPr>
          <a:xfrm>
            <a:off x="4690872" y="1499616"/>
            <a:ext cx="3950208" cy="841248"/>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20" name="Shape 15"/>
          <p:cNvSpPr/>
          <p:nvPr/>
        </p:nvSpPr>
        <p:spPr>
          <a:xfrm>
            <a:off x="4873752" y="1664208"/>
            <a:ext cx="512064" cy="512064"/>
          </a:xfrm>
          <a:prstGeom prst="ellipse">
            <a:avLst/>
          </a:prstGeom>
          <a:solidFill>
            <a:srgbClr val="E6F4F2"/>
          </a:solidFill>
          <a:ln/>
        </p:spPr>
        <p:txBody>
          <a:bodyPr/>
          <a:lstStyle/>
          <a:p>
            <a:endParaRPr lang="en-US"/>
          </a:p>
        </p:txBody>
      </p:sp>
      <p:pic>
        <p:nvPicPr>
          <p:cNvPr id="21" name="Image 3" descr="preencoded.png"/>
          <p:cNvPicPr>
            <a:picLocks noChangeAspect="1"/>
          </p:cNvPicPr>
          <p:nvPr/>
        </p:nvPicPr>
        <p:blipFill>
          <a:blip r:embed="rId6"/>
          <a:stretch>
            <a:fillRect/>
          </a:stretch>
        </p:blipFill>
        <p:spPr>
          <a:xfrm>
            <a:off x="5001768" y="1792224"/>
            <a:ext cx="256032" cy="256032"/>
          </a:xfrm>
          <a:prstGeom prst="rect">
            <a:avLst/>
          </a:prstGeom>
        </p:spPr>
      </p:pic>
      <p:sp>
        <p:nvSpPr>
          <p:cNvPr id="22" name="Text 16"/>
          <p:cNvSpPr/>
          <p:nvPr/>
        </p:nvSpPr>
        <p:spPr>
          <a:xfrm>
            <a:off x="5532120" y="1618488"/>
            <a:ext cx="2990088" cy="292608"/>
          </a:xfrm>
          <a:prstGeom prst="rect">
            <a:avLst/>
          </a:prstGeom>
          <a:noFill/>
          <a:ln/>
        </p:spPr>
        <p:txBody>
          <a:bodyPr wrap="square" lIns="0" tIns="0" rIns="0" bIns="0" rtlCol="0" anchor="ctr"/>
          <a:lstStyle/>
          <a:p>
            <a:pPr marL="0" indent="0">
              <a:buNone/>
            </a:pPr>
            <a:r>
              <a:rPr lang="en-US" sz="1400" b="1" dirty="0">
                <a:solidFill>
                  <a:srgbClr val="0F2A43"/>
                </a:solidFill>
                <a:latin typeface="Calibri" pitchFamily="34" charset="0"/>
                <a:ea typeface="Calibri" pitchFamily="34" charset="-122"/>
                <a:cs typeface="Calibri" pitchFamily="34" charset="-120"/>
              </a:rPr>
              <a:t>Review before commit</a:t>
            </a:r>
            <a:endParaRPr lang="en-US" sz="1400" dirty="0"/>
          </a:p>
        </p:txBody>
      </p:sp>
      <p:sp>
        <p:nvSpPr>
          <p:cNvPr id="23" name="Text 17"/>
          <p:cNvSpPr/>
          <p:nvPr/>
        </p:nvSpPr>
        <p:spPr>
          <a:xfrm>
            <a:off x="5532120" y="1911096"/>
            <a:ext cx="2990088" cy="365760"/>
          </a:xfrm>
          <a:prstGeom prst="rect">
            <a:avLst/>
          </a:prstGeom>
          <a:noFill/>
          <a:ln/>
        </p:spPr>
        <p:txBody>
          <a:bodyPr wrap="square" lIns="0" tIns="0" rIns="0" bIns="0" rtlCol="0" anchor="t"/>
          <a:lstStyle/>
          <a:p>
            <a:pPr marL="0" indent="0">
              <a:buNone/>
            </a:pPr>
            <a:r>
              <a:rPr lang="en-US" sz="1050" dirty="0">
                <a:solidFill>
                  <a:srgbClr val="334155"/>
                </a:solidFill>
                <a:latin typeface="Calibri" pitchFamily="34" charset="0"/>
                <a:ea typeface="Calibri" pitchFamily="34" charset="-122"/>
                <a:cs typeface="Calibri" pitchFamily="34" charset="-120"/>
              </a:rPr>
              <a:t>Decisions precede durable, generated artifacts.</a:t>
            </a:r>
            <a:endParaRPr lang="en-US" sz="1050" dirty="0"/>
          </a:p>
        </p:txBody>
      </p:sp>
      <p:sp>
        <p:nvSpPr>
          <p:cNvPr id="24" name="Shape 18"/>
          <p:cNvSpPr/>
          <p:nvPr/>
        </p:nvSpPr>
        <p:spPr>
          <a:xfrm>
            <a:off x="4690872" y="2505456"/>
            <a:ext cx="3950208" cy="841248"/>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25" name="Shape 19"/>
          <p:cNvSpPr/>
          <p:nvPr/>
        </p:nvSpPr>
        <p:spPr>
          <a:xfrm>
            <a:off x="4873752" y="2670048"/>
            <a:ext cx="512064" cy="512064"/>
          </a:xfrm>
          <a:prstGeom prst="ellipse">
            <a:avLst/>
          </a:prstGeom>
          <a:solidFill>
            <a:srgbClr val="E6F4F2"/>
          </a:solidFill>
          <a:ln/>
        </p:spPr>
        <p:txBody>
          <a:bodyPr/>
          <a:lstStyle/>
          <a:p>
            <a:endParaRPr lang="en-US"/>
          </a:p>
        </p:txBody>
      </p:sp>
      <p:pic>
        <p:nvPicPr>
          <p:cNvPr id="26" name="Image 4" descr="preencoded.png"/>
          <p:cNvPicPr>
            <a:picLocks noChangeAspect="1"/>
          </p:cNvPicPr>
          <p:nvPr/>
        </p:nvPicPr>
        <p:blipFill>
          <a:blip r:embed="rId7"/>
          <a:stretch>
            <a:fillRect/>
          </a:stretch>
        </p:blipFill>
        <p:spPr>
          <a:xfrm>
            <a:off x="5001768" y="2798064"/>
            <a:ext cx="256032" cy="256032"/>
          </a:xfrm>
          <a:prstGeom prst="rect">
            <a:avLst/>
          </a:prstGeom>
        </p:spPr>
      </p:pic>
      <p:sp>
        <p:nvSpPr>
          <p:cNvPr id="27" name="Text 20"/>
          <p:cNvSpPr/>
          <p:nvPr/>
        </p:nvSpPr>
        <p:spPr>
          <a:xfrm>
            <a:off x="5532120" y="2624328"/>
            <a:ext cx="2990088" cy="292608"/>
          </a:xfrm>
          <a:prstGeom prst="rect">
            <a:avLst/>
          </a:prstGeom>
          <a:noFill/>
          <a:ln/>
        </p:spPr>
        <p:txBody>
          <a:bodyPr wrap="square" lIns="0" tIns="0" rIns="0" bIns="0" rtlCol="0" anchor="ctr"/>
          <a:lstStyle/>
          <a:p>
            <a:pPr marL="0" indent="0">
              <a:buNone/>
            </a:pPr>
            <a:r>
              <a:rPr lang="en-US" sz="1400" b="1" dirty="0">
                <a:solidFill>
                  <a:srgbClr val="0F2A43"/>
                </a:solidFill>
                <a:latin typeface="Calibri" pitchFamily="34" charset="0"/>
                <a:ea typeface="Calibri" pitchFamily="34" charset="-122"/>
                <a:cs typeface="Calibri" pitchFamily="34" charset="-120"/>
              </a:rPr>
              <a:t>Improve over time</a:t>
            </a:r>
            <a:endParaRPr lang="en-US" sz="1400" dirty="0"/>
          </a:p>
        </p:txBody>
      </p:sp>
      <p:sp>
        <p:nvSpPr>
          <p:cNvPr id="28" name="Text 21"/>
          <p:cNvSpPr/>
          <p:nvPr/>
        </p:nvSpPr>
        <p:spPr>
          <a:xfrm>
            <a:off x="5532120" y="2916936"/>
            <a:ext cx="2990088" cy="365760"/>
          </a:xfrm>
          <a:prstGeom prst="rect">
            <a:avLst/>
          </a:prstGeom>
          <a:noFill/>
          <a:ln/>
        </p:spPr>
        <p:txBody>
          <a:bodyPr wrap="square" lIns="0" tIns="0" rIns="0" bIns="0" rtlCol="0" anchor="t"/>
          <a:lstStyle/>
          <a:p>
            <a:pPr marL="0" indent="0">
              <a:buNone/>
            </a:pPr>
            <a:r>
              <a:rPr lang="en-US" sz="1050" dirty="0">
                <a:solidFill>
                  <a:srgbClr val="334155"/>
                </a:solidFill>
                <a:latin typeface="Calibri" pitchFamily="34" charset="0"/>
                <a:ea typeface="Calibri" pitchFamily="34" charset="-122"/>
                <a:cs typeface="Calibri" pitchFamily="34" charset="-120"/>
              </a:rPr>
              <a:t>Governed feedback and reusable report artifacts raise quality.</a:t>
            </a:r>
            <a:endParaRPr lang="en-US" sz="1050" dirty="0"/>
          </a:p>
        </p:txBody>
      </p:sp>
      <p:sp>
        <p:nvSpPr>
          <p:cNvPr id="29" name="Shape 22"/>
          <p:cNvSpPr/>
          <p:nvPr/>
        </p:nvSpPr>
        <p:spPr>
          <a:xfrm>
            <a:off x="4690872" y="3511296"/>
            <a:ext cx="3950208" cy="841248"/>
          </a:xfrm>
          <a:prstGeom prst="rect">
            <a:avLst/>
          </a:prstGeom>
          <a:solidFill>
            <a:srgbClr val="E6F4F2"/>
          </a:solidFill>
          <a:ln w="12700">
            <a:solidFill>
              <a:srgbClr val="0D9488"/>
            </a:solidFill>
            <a:prstDash val="solid"/>
          </a:ln>
        </p:spPr>
        <p:txBody>
          <a:bodyPr/>
          <a:lstStyle/>
          <a:p>
            <a:endParaRPr lang="en-US"/>
          </a:p>
        </p:txBody>
      </p:sp>
      <p:pic>
        <p:nvPicPr>
          <p:cNvPr id="30" name="Image 5" descr="preencoded.png"/>
          <p:cNvPicPr>
            <a:picLocks noChangeAspect="1"/>
          </p:cNvPicPr>
          <p:nvPr/>
        </p:nvPicPr>
        <p:blipFill>
          <a:blip r:embed="rId8"/>
          <a:stretch>
            <a:fillRect/>
          </a:stretch>
        </p:blipFill>
        <p:spPr>
          <a:xfrm>
            <a:off x="4928616" y="3785616"/>
            <a:ext cx="310896" cy="310896"/>
          </a:xfrm>
          <a:prstGeom prst="rect">
            <a:avLst/>
          </a:prstGeom>
        </p:spPr>
      </p:pic>
      <p:sp>
        <p:nvSpPr>
          <p:cNvPr id="31" name="Text 23"/>
          <p:cNvSpPr/>
          <p:nvPr/>
        </p:nvSpPr>
        <p:spPr>
          <a:xfrm>
            <a:off x="5404104" y="3511296"/>
            <a:ext cx="3081528" cy="841248"/>
          </a:xfrm>
          <a:prstGeom prst="rect">
            <a:avLst/>
          </a:prstGeom>
          <a:noFill/>
          <a:ln/>
        </p:spPr>
        <p:txBody>
          <a:bodyPr wrap="square" lIns="0" tIns="0" rIns="0" bIns="0" rtlCol="0" anchor="ctr"/>
          <a:lstStyle/>
          <a:p>
            <a:pPr marL="0" indent="0">
              <a:buNone/>
            </a:pPr>
            <a:r>
              <a:rPr lang="en-US" sz="1150" b="1" i="1" dirty="0">
                <a:solidFill>
                  <a:srgbClr val="0F2A43"/>
                </a:solidFill>
                <a:latin typeface="Calibri" pitchFamily="34" charset="0"/>
                <a:ea typeface="Calibri" pitchFamily="34" charset="-122"/>
                <a:cs typeface="Calibri" pitchFamily="34" charset="-120"/>
              </a:rPr>
              <a:t>From one-time analyst task to a repeatable, improvable operating capability.</a:t>
            </a:r>
            <a:endParaRPr lang="en-US" sz="1150" dirty="0"/>
          </a:p>
        </p:txBody>
      </p:sp>
      <p:sp>
        <p:nvSpPr>
          <p:cNvPr id="32" name="Shape 24"/>
          <p:cNvSpPr/>
          <p:nvPr/>
        </p:nvSpPr>
        <p:spPr>
          <a:xfrm>
            <a:off x="502920" y="4718304"/>
            <a:ext cx="8138160" cy="0"/>
          </a:xfrm>
          <a:prstGeom prst="line">
            <a:avLst/>
          </a:prstGeom>
          <a:noFill/>
          <a:ln w="12700">
            <a:solidFill>
              <a:srgbClr val="DCE5EE"/>
            </a:solidFill>
            <a:prstDash val="solid"/>
          </a:ln>
        </p:spPr>
        <p:txBody>
          <a:bodyPr/>
          <a:lstStyle/>
          <a:p>
            <a:endParaRPr lang="en-US"/>
          </a:p>
        </p:txBody>
      </p:sp>
      <p:sp>
        <p:nvSpPr>
          <p:cNvPr id="33" name="Shape 25"/>
          <p:cNvSpPr/>
          <p:nvPr/>
        </p:nvSpPr>
        <p:spPr>
          <a:xfrm>
            <a:off x="502920" y="4846320"/>
            <a:ext cx="73152" cy="73152"/>
          </a:xfrm>
          <a:prstGeom prst="ellipse">
            <a:avLst/>
          </a:prstGeom>
          <a:solidFill>
            <a:srgbClr val="0D9488"/>
          </a:solidFill>
          <a:ln/>
        </p:spPr>
        <p:txBody>
          <a:bodyPr/>
          <a:lstStyle/>
          <a:p>
            <a:endParaRPr lang="en-US"/>
          </a:p>
        </p:txBody>
      </p:sp>
      <p:sp>
        <p:nvSpPr>
          <p:cNvPr id="34" name="Text 26"/>
          <p:cNvSpPr/>
          <p:nvPr/>
        </p:nvSpPr>
        <p:spPr>
          <a:xfrm>
            <a:off x="649224" y="4764024"/>
            <a:ext cx="2743200" cy="237744"/>
          </a:xfrm>
          <a:prstGeom prst="rect">
            <a:avLst/>
          </a:prstGeom>
          <a:noFill/>
          <a:ln/>
        </p:spPr>
        <p:txBody>
          <a:bodyPr wrap="square" lIns="0" tIns="0" rIns="0" bIns="0" rtlCol="0" anchor="ctr"/>
          <a:lstStyle/>
          <a:p>
            <a:pPr marL="0" indent="0">
              <a:buNone/>
            </a:pPr>
            <a:r>
              <a:rPr lang="en-US" sz="950" b="1" kern="0" spc="200" dirty="0">
                <a:solidFill>
                  <a:srgbClr val="64748B"/>
                </a:solidFill>
                <a:latin typeface="Calibri" pitchFamily="34" charset="0"/>
                <a:ea typeface="Calibri" pitchFamily="34" charset="-122"/>
                <a:cs typeface="Calibri" pitchFamily="34" charset="-120"/>
              </a:rPr>
              <a:t>SEMANTRA</a:t>
            </a:r>
            <a:endParaRPr lang="en-US" sz="950" dirty="0"/>
          </a:p>
        </p:txBody>
      </p:sp>
      <p:sp>
        <p:nvSpPr>
          <p:cNvPr id="35" name="Text 27"/>
          <p:cNvSpPr/>
          <p:nvPr/>
        </p:nvSpPr>
        <p:spPr>
          <a:xfrm>
            <a:off x="4800600" y="4764024"/>
            <a:ext cx="2834640" cy="237744"/>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PMO SERVICE • EA–DA BRIDGE</a:t>
            </a:r>
            <a:endParaRPr lang="en-US" sz="900" dirty="0"/>
          </a:p>
        </p:txBody>
      </p:sp>
      <p:sp>
        <p:nvSpPr>
          <p:cNvPr id="36" name="Text 28"/>
          <p:cNvSpPr/>
          <p:nvPr/>
        </p:nvSpPr>
        <p:spPr>
          <a:xfrm>
            <a:off x="7726680" y="4764024"/>
            <a:ext cx="914400" cy="237744"/>
          </a:xfrm>
          <a:prstGeom prst="rect">
            <a:avLst/>
          </a:prstGeom>
          <a:noFill/>
          <a:ln/>
        </p:spPr>
        <p:txBody>
          <a:bodyPr wrap="square" lIns="0" tIns="0" rIns="0" bIns="0" rtlCol="0" anchor="ctr"/>
          <a:lstStyle/>
          <a:p>
            <a:pPr marL="0" indent="0" algn="r">
              <a:buNone/>
            </a:pPr>
            <a:r>
              <a:rPr lang="en-US" sz="950" b="1" dirty="0">
                <a:solidFill>
                  <a:srgbClr val="0D9488"/>
                </a:solidFill>
                <a:latin typeface="Calibri" pitchFamily="34" charset="0"/>
                <a:ea typeface="Calibri" pitchFamily="34" charset="-122"/>
                <a:cs typeface="Calibri" pitchFamily="34" charset="-120"/>
              </a:rPr>
              <a:t>07 / 18</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8138160" cy="274320"/>
          </a:xfrm>
          <a:prstGeom prst="rect">
            <a:avLst/>
          </a:prstGeom>
          <a:noFill/>
          <a:ln/>
        </p:spPr>
        <p:txBody>
          <a:bodyPr wrap="square" lIns="0" tIns="0" rIns="0" bIns="0" rtlCol="0" anchor="ctr"/>
          <a:lstStyle/>
          <a:p>
            <a:pPr marL="0" indent="0" algn="l">
              <a:buNone/>
            </a:pPr>
            <a:r>
              <a:rPr lang="en-US" sz="1150" b="1" kern="0" spc="200" dirty="0">
                <a:solidFill>
                  <a:srgbClr val="0D9488"/>
                </a:solidFill>
                <a:latin typeface="Calibri" pitchFamily="34" charset="0"/>
                <a:ea typeface="Calibri" pitchFamily="34" charset="-122"/>
                <a:cs typeface="Calibri" pitchFamily="34" charset="-120"/>
              </a:rPr>
              <a:t>HOW DECISIONS ARE PRODUCED</a:t>
            </a:r>
            <a:endParaRPr lang="en-US" sz="1150" dirty="0"/>
          </a:p>
        </p:txBody>
      </p:sp>
      <p:sp>
        <p:nvSpPr>
          <p:cNvPr id="3" name="Text 1"/>
          <p:cNvSpPr/>
          <p:nvPr/>
        </p:nvSpPr>
        <p:spPr>
          <a:xfrm>
            <a:off x="502920" y="585216"/>
            <a:ext cx="8138160" cy="749808"/>
          </a:xfrm>
          <a:prstGeom prst="rect">
            <a:avLst/>
          </a:prstGeom>
          <a:noFill/>
          <a:ln/>
        </p:spPr>
        <p:txBody>
          <a:bodyPr wrap="square" lIns="0" tIns="0" rIns="0" bIns="0" rtlCol="0" anchor="t"/>
          <a:lstStyle/>
          <a:p>
            <a:pPr marL="0" indent="0" algn="l">
              <a:buNone/>
            </a:pPr>
            <a:r>
              <a:rPr lang="en-US" sz="2700" b="1" dirty="0">
                <a:solidFill>
                  <a:srgbClr val="0F2A43"/>
                </a:solidFill>
                <a:latin typeface="Georgia" pitchFamily="34" charset="0"/>
                <a:ea typeface="Georgia" pitchFamily="34" charset="-122"/>
                <a:cs typeface="Georgia" pitchFamily="34" charset="-120"/>
              </a:rPr>
              <a:t>Seven signals — no single source of truth</a:t>
            </a:r>
            <a:endParaRPr lang="en-US" sz="2700" dirty="0"/>
          </a:p>
        </p:txBody>
      </p:sp>
      <p:sp>
        <p:nvSpPr>
          <p:cNvPr id="4" name="Shape 2"/>
          <p:cNvSpPr/>
          <p:nvPr/>
        </p:nvSpPr>
        <p:spPr>
          <a:xfrm>
            <a:off x="502920" y="1481328"/>
            <a:ext cx="1883664" cy="1225296"/>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5" name="Text 3"/>
          <p:cNvSpPr/>
          <p:nvPr/>
        </p:nvSpPr>
        <p:spPr>
          <a:xfrm>
            <a:off x="649224" y="1591056"/>
            <a:ext cx="731520" cy="274320"/>
          </a:xfrm>
          <a:prstGeom prst="rect">
            <a:avLst/>
          </a:prstGeom>
          <a:noFill/>
          <a:ln/>
        </p:spPr>
        <p:txBody>
          <a:bodyPr wrap="square" lIns="0" tIns="0" rIns="0" bIns="0" rtlCol="0" anchor="ctr"/>
          <a:lstStyle/>
          <a:p>
            <a:pPr marL="0" indent="0">
              <a:buNone/>
            </a:pPr>
            <a:r>
              <a:rPr lang="en-US" sz="1300" b="1" dirty="0">
                <a:solidFill>
                  <a:srgbClr val="0D9488"/>
                </a:solidFill>
                <a:latin typeface="Georgia" pitchFamily="34" charset="0"/>
                <a:ea typeface="Georgia" pitchFamily="34" charset="-122"/>
                <a:cs typeface="Georgia" pitchFamily="34" charset="-120"/>
              </a:rPr>
              <a:t>01</a:t>
            </a:r>
            <a:endParaRPr lang="en-US" sz="1300" dirty="0"/>
          </a:p>
        </p:txBody>
      </p:sp>
      <p:pic>
        <p:nvPicPr>
          <p:cNvPr id="6" name="Image 0" descr="preencoded.png"/>
          <p:cNvPicPr>
            <a:picLocks noChangeAspect="1"/>
          </p:cNvPicPr>
          <p:nvPr/>
        </p:nvPicPr>
        <p:blipFill>
          <a:blip r:embed="rId3"/>
          <a:stretch>
            <a:fillRect/>
          </a:stretch>
        </p:blipFill>
        <p:spPr>
          <a:xfrm>
            <a:off x="1819656" y="1627632"/>
            <a:ext cx="310896" cy="310896"/>
          </a:xfrm>
          <a:prstGeom prst="rect">
            <a:avLst/>
          </a:prstGeom>
        </p:spPr>
      </p:pic>
      <p:sp>
        <p:nvSpPr>
          <p:cNvPr id="7" name="Text 4"/>
          <p:cNvSpPr/>
          <p:nvPr/>
        </p:nvSpPr>
        <p:spPr>
          <a:xfrm>
            <a:off x="649224" y="1993392"/>
            <a:ext cx="1609344" cy="274320"/>
          </a:xfrm>
          <a:prstGeom prst="rect">
            <a:avLst/>
          </a:prstGeom>
          <a:noFill/>
          <a:ln/>
        </p:spPr>
        <p:txBody>
          <a:bodyPr wrap="square" lIns="0" tIns="0" rIns="0" bIns="0" rtlCol="0" anchor="ctr"/>
          <a:lstStyle/>
          <a:p>
            <a:pPr marL="0" indent="0">
              <a:buNone/>
            </a:pPr>
            <a:r>
              <a:rPr lang="en-US" sz="1300" b="1" dirty="0">
                <a:solidFill>
                  <a:srgbClr val="0F2A43"/>
                </a:solidFill>
                <a:latin typeface="Calibri" pitchFamily="34" charset="0"/>
                <a:ea typeface="Calibri" pitchFamily="34" charset="-122"/>
                <a:cs typeface="Calibri" pitchFamily="34" charset="-120"/>
              </a:rPr>
              <a:t>Lexical</a:t>
            </a:r>
            <a:endParaRPr lang="en-US" sz="1300" dirty="0"/>
          </a:p>
        </p:txBody>
      </p:sp>
      <p:sp>
        <p:nvSpPr>
          <p:cNvPr id="8" name="Text 5"/>
          <p:cNvSpPr/>
          <p:nvPr/>
        </p:nvSpPr>
        <p:spPr>
          <a:xfrm>
            <a:off x="649224" y="2267712"/>
            <a:ext cx="1609344" cy="365760"/>
          </a:xfrm>
          <a:prstGeom prst="rect">
            <a:avLst/>
          </a:prstGeom>
          <a:noFill/>
          <a:ln/>
        </p:spPr>
        <p:txBody>
          <a:bodyPr wrap="square" lIns="0" tIns="0" rIns="0" bIns="0" rtlCol="0" anchor="t"/>
          <a:lstStyle/>
          <a:p>
            <a:pPr marL="0" indent="0">
              <a:buNone/>
            </a:pPr>
            <a:r>
              <a:rPr lang="en-US" sz="950" dirty="0">
                <a:solidFill>
                  <a:srgbClr val="334155"/>
                </a:solidFill>
                <a:latin typeface="Calibri" pitchFamily="34" charset="0"/>
                <a:ea typeface="Calibri" pitchFamily="34" charset="-122"/>
                <a:cs typeface="Calibri" pitchFamily="34" charset="-120"/>
              </a:rPr>
              <a:t>Name &amp; token similarity</a:t>
            </a:r>
            <a:endParaRPr lang="en-US" sz="950" dirty="0"/>
          </a:p>
        </p:txBody>
      </p:sp>
      <p:sp>
        <p:nvSpPr>
          <p:cNvPr id="9" name="Shape 6"/>
          <p:cNvSpPr/>
          <p:nvPr/>
        </p:nvSpPr>
        <p:spPr>
          <a:xfrm>
            <a:off x="2587752" y="1481328"/>
            <a:ext cx="1883664" cy="1225296"/>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10" name="Text 7"/>
          <p:cNvSpPr/>
          <p:nvPr/>
        </p:nvSpPr>
        <p:spPr>
          <a:xfrm>
            <a:off x="2734056" y="1591056"/>
            <a:ext cx="731520" cy="274320"/>
          </a:xfrm>
          <a:prstGeom prst="rect">
            <a:avLst/>
          </a:prstGeom>
          <a:noFill/>
          <a:ln/>
        </p:spPr>
        <p:txBody>
          <a:bodyPr wrap="square" lIns="0" tIns="0" rIns="0" bIns="0" rtlCol="0" anchor="ctr"/>
          <a:lstStyle/>
          <a:p>
            <a:pPr marL="0" indent="0">
              <a:buNone/>
            </a:pPr>
            <a:r>
              <a:rPr lang="en-US" sz="1300" b="1" dirty="0">
                <a:solidFill>
                  <a:srgbClr val="0D9488"/>
                </a:solidFill>
                <a:latin typeface="Georgia" pitchFamily="34" charset="0"/>
                <a:ea typeface="Georgia" pitchFamily="34" charset="-122"/>
                <a:cs typeface="Georgia" pitchFamily="34" charset="-120"/>
              </a:rPr>
              <a:t>02</a:t>
            </a:r>
            <a:endParaRPr lang="en-US" sz="1300" dirty="0"/>
          </a:p>
        </p:txBody>
      </p:sp>
      <p:pic>
        <p:nvPicPr>
          <p:cNvPr id="11" name="Image 1" descr="preencoded.png"/>
          <p:cNvPicPr>
            <a:picLocks noChangeAspect="1"/>
          </p:cNvPicPr>
          <p:nvPr/>
        </p:nvPicPr>
        <p:blipFill>
          <a:blip r:embed="rId4"/>
          <a:stretch>
            <a:fillRect/>
          </a:stretch>
        </p:blipFill>
        <p:spPr>
          <a:xfrm>
            <a:off x="3904488" y="1627632"/>
            <a:ext cx="310896" cy="310896"/>
          </a:xfrm>
          <a:prstGeom prst="rect">
            <a:avLst/>
          </a:prstGeom>
        </p:spPr>
      </p:pic>
      <p:sp>
        <p:nvSpPr>
          <p:cNvPr id="12" name="Text 8"/>
          <p:cNvSpPr/>
          <p:nvPr/>
        </p:nvSpPr>
        <p:spPr>
          <a:xfrm>
            <a:off x="2734056" y="1993392"/>
            <a:ext cx="1609344" cy="274320"/>
          </a:xfrm>
          <a:prstGeom prst="rect">
            <a:avLst/>
          </a:prstGeom>
          <a:noFill/>
          <a:ln/>
        </p:spPr>
        <p:txBody>
          <a:bodyPr wrap="square" lIns="0" tIns="0" rIns="0" bIns="0" rtlCol="0" anchor="ctr"/>
          <a:lstStyle/>
          <a:p>
            <a:pPr marL="0" indent="0">
              <a:buNone/>
            </a:pPr>
            <a:r>
              <a:rPr lang="en-US" sz="1300" b="1" dirty="0">
                <a:solidFill>
                  <a:srgbClr val="0F2A43"/>
                </a:solidFill>
                <a:latin typeface="Calibri" pitchFamily="34" charset="0"/>
                <a:ea typeface="Calibri" pitchFamily="34" charset="-122"/>
                <a:cs typeface="Calibri" pitchFamily="34" charset="-120"/>
              </a:rPr>
              <a:t>Semantic</a:t>
            </a:r>
            <a:endParaRPr lang="en-US" sz="1300" dirty="0"/>
          </a:p>
        </p:txBody>
      </p:sp>
      <p:sp>
        <p:nvSpPr>
          <p:cNvPr id="13" name="Text 9"/>
          <p:cNvSpPr/>
          <p:nvPr/>
        </p:nvSpPr>
        <p:spPr>
          <a:xfrm>
            <a:off x="2734056" y="2267712"/>
            <a:ext cx="1609344" cy="365760"/>
          </a:xfrm>
          <a:prstGeom prst="rect">
            <a:avLst/>
          </a:prstGeom>
          <a:noFill/>
          <a:ln/>
        </p:spPr>
        <p:txBody>
          <a:bodyPr wrap="square" lIns="0" tIns="0" rIns="0" bIns="0" rtlCol="0" anchor="t"/>
          <a:lstStyle/>
          <a:p>
            <a:pPr marL="0" indent="0">
              <a:buNone/>
            </a:pPr>
            <a:r>
              <a:rPr lang="en-US" sz="950" dirty="0">
                <a:solidFill>
                  <a:srgbClr val="334155"/>
                </a:solidFill>
                <a:latin typeface="Calibri" pitchFamily="34" charset="0"/>
                <a:ea typeface="Calibri" pitchFamily="34" charset="-122"/>
                <a:cs typeface="Calibri" pitchFamily="34" charset="-120"/>
              </a:rPr>
              <a:t>Embedding-based meaning</a:t>
            </a:r>
            <a:endParaRPr lang="en-US" sz="950" dirty="0"/>
          </a:p>
        </p:txBody>
      </p:sp>
      <p:sp>
        <p:nvSpPr>
          <p:cNvPr id="14" name="Shape 10"/>
          <p:cNvSpPr/>
          <p:nvPr/>
        </p:nvSpPr>
        <p:spPr>
          <a:xfrm>
            <a:off x="4672584" y="1481328"/>
            <a:ext cx="1883664" cy="1225296"/>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15" name="Text 11"/>
          <p:cNvSpPr/>
          <p:nvPr/>
        </p:nvSpPr>
        <p:spPr>
          <a:xfrm>
            <a:off x="4818888" y="1591056"/>
            <a:ext cx="731520" cy="274320"/>
          </a:xfrm>
          <a:prstGeom prst="rect">
            <a:avLst/>
          </a:prstGeom>
          <a:noFill/>
          <a:ln/>
        </p:spPr>
        <p:txBody>
          <a:bodyPr wrap="square" lIns="0" tIns="0" rIns="0" bIns="0" rtlCol="0" anchor="ctr"/>
          <a:lstStyle/>
          <a:p>
            <a:pPr marL="0" indent="0">
              <a:buNone/>
            </a:pPr>
            <a:r>
              <a:rPr lang="en-US" sz="1300" b="1" dirty="0">
                <a:solidFill>
                  <a:srgbClr val="0D9488"/>
                </a:solidFill>
                <a:latin typeface="Georgia" pitchFamily="34" charset="0"/>
                <a:ea typeface="Georgia" pitchFamily="34" charset="-122"/>
                <a:cs typeface="Georgia" pitchFamily="34" charset="-120"/>
              </a:rPr>
              <a:t>03</a:t>
            </a:r>
            <a:endParaRPr lang="en-US" sz="1300" dirty="0"/>
          </a:p>
        </p:txBody>
      </p:sp>
      <p:pic>
        <p:nvPicPr>
          <p:cNvPr id="16" name="Image 2" descr="preencoded.png"/>
          <p:cNvPicPr>
            <a:picLocks noChangeAspect="1"/>
          </p:cNvPicPr>
          <p:nvPr/>
        </p:nvPicPr>
        <p:blipFill>
          <a:blip r:embed="rId5"/>
          <a:stretch>
            <a:fillRect/>
          </a:stretch>
        </p:blipFill>
        <p:spPr>
          <a:xfrm>
            <a:off x="5989320" y="1627632"/>
            <a:ext cx="310896" cy="310896"/>
          </a:xfrm>
          <a:prstGeom prst="rect">
            <a:avLst/>
          </a:prstGeom>
        </p:spPr>
      </p:pic>
      <p:sp>
        <p:nvSpPr>
          <p:cNvPr id="17" name="Text 12"/>
          <p:cNvSpPr/>
          <p:nvPr/>
        </p:nvSpPr>
        <p:spPr>
          <a:xfrm>
            <a:off x="4818888" y="1993392"/>
            <a:ext cx="1609344" cy="274320"/>
          </a:xfrm>
          <a:prstGeom prst="rect">
            <a:avLst/>
          </a:prstGeom>
          <a:noFill/>
          <a:ln/>
        </p:spPr>
        <p:txBody>
          <a:bodyPr wrap="square" lIns="0" tIns="0" rIns="0" bIns="0" rtlCol="0" anchor="ctr"/>
          <a:lstStyle/>
          <a:p>
            <a:pPr marL="0" indent="0">
              <a:buNone/>
            </a:pPr>
            <a:r>
              <a:rPr lang="en-US" sz="1300" b="1" dirty="0">
                <a:solidFill>
                  <a:srgbClr val="0F2A43"/>
                </a:solidFill>
                <a:latin typeface="Calibri" pitchFamily="34" charset="0"/>
                <a:ea typeface="Calibri" pitchFamily="34" charset="-122"/>
                <a:cs typeface="Calibri" pitchFamily="34" charset="-120"/>
              </a:rPr>
              <a:t>Metadata</a:t>
            </a:r>
            <a:endParaRPr lang="en-US" sz="1300" dirty="0"/>
          </a:p>
        </p:txBody>
      </p:sp>
      <p:sp>
        <p:nvSpPr>
          <p:cNvPr id="18" name="Text 13"/>
          <p:cNvSpPr/>
          <p:nvPr/>
        </p:nvSpPr>
        <p:spPr>
          <a:xfrm>
            <a:off x="4818888" y="2267712"/>
            <a:ext cx="1609344" cy="365760"/>
          </a:xfrm>
          <a:prstGeom prst="rect">
            <a:avLst/>
          </a:prstGeom>
          <a:noFill/>
          <a:ln/>
        </p:spPr>
        <p:txBody>
          <a:bodyPr wrap="square" lIns="0" tIns="0" rIns="0" bIns="0" rtlCol="0" anchor="t"/>
          <a:lstStyle/>
          <a:p>
            <a:pPr marL="0" indent="0">
              <a:buNone/>
            </a:pPr>
            <a:r>
              <a:rPr lang="en-US" sz="950" dirty="0">
                <a:solidFill>
                  <a:srgbClr val="334155"/>
                </a:solidFill>
                <a:latin typeface="Calibri" pitchFamily="34" charset="0"/>
                <a:ea typeface="Calibri" pitchFamily="34" charset="-122"/>
                <a:cs typeface="Calibri" pitchFamily="34" charset="-120"/>
              </a:rPr>
              <a:t>Knowledge &amp; aliases</a:t>
            </a:r>
            <a:endParaRPr lang="en-US" sz="950" dirty="0"/>
          </a:p>
        </p:txBody>
      </p:sp>
      <p:sp>
        <p:nvSpPr>
          <p:cNvPr id="19" name="Shape 14"/>
          <p:cNvSpPr/>
          <p:nvPr/>
        </p:nvSpPr>
        <p:spPr>
          <a:xfrm>
            <a:off x="6757416" y="1481328"/>
            <a:ext cx="1883664" cy="1225296"/>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20" name="Text 15"/>
          <p:cNvSpPr/>
          <p:nvPr/>
        </p:nvSpPr>
        <p:spPr>
          <a:xfrm>
            <a:off x="6903720" y="1591056"/>
            <a:ext cx="731520" cy="274320"/>
          </a:xfrm>
          <a:prstGeom prst="rect">
            <a:avLst/>
          </a:prstGeom>
          <a:noFill/>
          <a:ln/>
        </p:spPr>
        <p:txBody>
          <a:bodyPr wrap="square" lIns="0" tIns="0" rIns="0" bIns="0" rtlCol="0" anchor="ctr"/>
          <a:lstStyle/>
          <a:p>
            <a:pPr marL="0" indent="0">
              <a:buNone/>
            </a:pPr>
            <a:r>
              <a:rPr lang="en-US" sz="1300" b="1" dirty="0">
                <a:solidFill>
                  <a:srgbClr val="0D9488"/>
                </a:solidFill>
                <a:latin typeface="Georgia" pitchFamily="34" charset="0"/>
                <a:ea typeface="Georgia" pitchFamily="34" charset="-122"/>
                <a:cs typeface="Georgia" pitchFamily="34" charset="-120"/>
              </a:rPr>
              <a:t>04</a:t>
            </a:r>
            <a:endParaRPr lang="en-US" sz="1300" dirty="0"/>
          </a:p>
        </p:txBody>
      </p:sp>
      <p:pic>
        <p:nvPicPr>
          <p:cNvPr id="21" name="Image 3" descr="preencoded.png"/>
          <p:cNvPicPr>
            <a:picLocks noChangeAspect="1"/>
          </p:cNvPicPr>
          <p:nvPr/>
        </p:nvPicPr>
        <p:blipFill>
          <a:blip r:embed="rId6"/>
          <a:stretch>
            <a:fillRect/>
          </a:stretch>
        </p:blipFill>
        <p:spPr>
          <a:xfrm>
            <a:off x="8074152" y="1627632"/>
            <a:ext cx="310896" cy="310896"/>
          </a:xfrm>
          <a:prstGeom prst="rect">
            <a:avLst/>
          </a:prstGeom>
        </p:spPr>
      </p:pic>
      <p:sp>
        <p:nvSpPr>
          <p:cNvPr id="22" name="Text 16"/>
          <p:cNvSpPr/>
          <p:nvPr/>
        </p:nvSpPr>
        <p:spPr>
          <a:xfrm>
            <a:off x="6903720" y="1993392"/>
            <a:ext cx="1609344" cy="274320"/>
          </a:xfrm>
          <a:prstGeom prst="rect">
            <a:avLst/>
          </a:prstGeom>
          <a:noFill/>
          <a:ln/>
        </p:spPr>
        <p:txBody>
          <a:bodyPr wrap="square" lIns="0" tIns="0" rIns="0" bIns="0" rtlCol="0" anchor="ctr"/>
          <a:lstStyle/>
          <a:p>
            <a:pPr marL="0" indent="0">
              <a:buNone/>
            </a:pPr>
            <a:r>
              <a:rPr lang="en-US" sz="1300" b="1" dirty="0">
                <a:solidFill>
                  <a:srgbClr val="0F2A43"/>
                </a:solidFill>
                <a:latin typeface="Calibri" pitchFamily="34" charset="0"/>
                <a:ea typeface="Calibri" pitchFamily="34" charset="-122"/>
                <a:cs typeface="Calibri" pitchFamily="34" charset="-120"/>
              </a:rPr>
              <a:t>Canonical</a:t>
            </a:r>
            <a:endParaRPr lang="en-US" sz="1300" dirty="0"/>
          </a:p>
        </p:txBody>
      </p:sp>
      <p:sp>
        <p:nvSpPr>
          <p:cNvPr id="23" name="Text 17"/>
          <p:cNvSpPr/>
          <p:nvPr/>
        </p:nvSpPr>
        <p:spPr>
          <a:xfrm>
            <a:off x="6903720" y="2267712"/>
            <a:ext cx="1609344" cy="365760"/>
          </a:xfrm>
          <a:prstGeom prst="rect">
            <a:avLst/>
          </a:prstGeom>
          <a:noFill/>
          <a:ln/>
        </p:spPr>
        <p:txBody>
          <a:bodyPr wrap="square" lIns="0" tIns="0" rIns="0" bIns="0" rtlCol="0" anchor="t"/>
          <a:lstStyle/>
          <a:p>
            <a:pPr marL="0" indent="0">
              <a:buNone/>
            </a:pPr>
            <a:r>
              <a:rPr lang="en-US" sz="950" dirty="0">
                <a:solidFill>
                  <a:srgbClr val="334155"/>
                </a:solidFill>
                <a:latin typeface="Calibri" pitchFamily="34" charset="0"/>
                <a:ea typeface="Calibri" pitchFamily="34" charset="-122"/>
                <a:cs typeface="Calibri" pitchFamily="34" charset="-120"/>
              </a:rPr>
              <a:t>Glossary alignment signal</a:t>
            </a:r>
            <a:endParaRPr lang="en-US" sz="950" dirty="0"/>
          </a:p>
        </p:txBody>
      </p:sp>
      <p:sp>
        <p:nvSpPr>
          <p:cNvPr id="24" name="Shape 18"/>
          <p:cNvSpPr/>
          <p:nvPr/>
        </p:nvSpPr>
        <p:spPr>
          <a:xfrm>
            <a:off x="502920" y="2889504"/>
            <a:ext cx="1883664" cy="1225296"/>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25" name="Text 19"/>
          <p:cNvSpPr/>
          <p:nvPr/>
        </p:nvSpPr>
        <p:spPr>
          <a:xfrm>
            <a:off x="649224" y="2999232"/>
            <a:ext cx="731520" cy="274320"/>
          </a:xfrm>
          <a:prstGeom prst="rect">
            <a:avLst/>
          </a:prstGeom>
          <a:noFill/>
          <a:ln/>
        </p:spPr>
        <p:txBody>
          <a:bodyPr wrap="square" lIns="0" tIns="0" rIns="0" bIns="0" rtlCol="0" anchor="ctr"/>
          <a:lstStyle/>
          <a:p>
            <a:pPr marL="0" indent="0">
              <a:buNone/>
            </a:pPr>
            <a:r>
              <a:rPr lang="en-US" sz="1300" b="1" dirty="0">
                <a:solidFill>
                  <a:srgbClr val="0D9488"/>
                </a:solidFill>
                <a:latin typeface="Georgia" pitchFamily="34" charset="0"/>
                <a:ea typeface="Georgia" pitchFamily="34" charset="-122"/>
                <a:cs typeface="Georgia" pitchFamily="34" charset="-120"/>
              </a:rPr>
              <a:t>05</a:t>
            </a:r>
            <a:endParaRPr lang="en-US" sz="1300" dirty="0"/>
          </a:p>
        </p:txBody>
      </p:sp>
      <p:pic>
        <p:nvPicPr>
          <p:cNvPr id="26" name="Image 4" descr="preencoded.png"/>
          <p:cNvPicPr>
            <a:picLocks noChangeAspect="1"/>
          </p:cNvPicPr>
          <p:nvPr/>
        </p:nvPicPr>
        <p:blipFill>
          <a:blip r:embed="rId7"/>
          <a:stretch>
            <a:fillRect/>
          </a:stretch>
        </p:blipFill>
        <p:spPr>
          <a:xfrm>
            <a:off x="1819656" y="3035808"/>
            <a:ext cx="310896" cy="310896"/>
          </a:xfrm>
          <a:prstGeom prst="rect">
            <a:avLst/>
          </a:prstGeom>
        </p:spPr>
      </p:pic>
      <p:sp>
        <p:nvSpPr>
          <p:cNvPr id="27" name="Text 20"/>
          <p:cNvSpPr/>
          <p:nvPr/>
        </p:nvSpPr>
        <p:spPr>
          <a:xfrm>
            <a:off x="649224" y="3401568"/>
            <a:ext cx="1609344" cy="274320"/>
          </a:xfrm>
          <a:prstGeom prst="rect">
            <a:avLst/>
          </a:prstGeom>
          <a:noFill/>
          <a:ln/>
        </p:spPr>
        <p:txBody>
          <a:bodyPr wrap="square" lIns="0" tIns="0" rIns="0" bIns="0" rtlCol="0" anchor="ctr"/>
          <a:lstStyle/>
          <a:p>
            <a:pPr marL="0" indent="0">
              <a:buNone/>
            </a:pPr>
            <a:r>
              <a:rPr lang="en-US" sz="1300" b="1" dirty="0">
                <a:solidFill>
                  <a:srgbClr val="0F2A43"/>
                </a:solidFill>
                <a:latin typeface="Calibri" pitchFamily="34" charset="0"/>
                <a:ea typeface="Calibri" pitchFamily="34" charset="-122"/>
                <a:cs typeface="Calibri" pitchFamily="34" charset="-120"/>
              </a:rPr>
              <a:t>Statistical</a:t>
            </a:r>
            <a:endParaRPr lang="en-US" sz="1300" dirty="0"/>
          </a:p>
        </p:txBody>
      </p:sp>
      <p:sp>
        <p:nvSpPr>
          <p:cNvPr id="28" name="Text 21"/>
          <p:cNvSpPr/>
          <p:nvPr/>
        </p:nvSpPr>
        <p:spPr>
          <a:xfrm>
            <a:off x="649224" y="3675888"/>
            <a:ext cx="1609344" cy="365760"/>
          </a:xfrm>
          <a:prstGeom prst="rect">
            <a:avLst/>
          </a:prstGeom>
          <a:noFill/>
          <a:ln/>
        </p:spPr>
        <p:txBody>
          <a:bodyPr wrap="square" lIns="0" tIns="0" rIns="0" bIns="0" rtlCol="0" anchor="t"/>
          <a:lstStyle/>
          <a:p>
            <a:pPr marL="0" indent="0">
              <a:buNone/>
            </a:pPr>
            <a:r>
              <a:rPr lang="en-US" sz="950" dirty="0">
                <a:solidFill>
                  <a:srgbClr val="334155"/>
                </a:solidFill>
                <a:latin typeface="Calibri" pitchFamily="34" charset="0"/>
                <a:ea typeface="Calibri" pitchFamily="34" charset="-122"/>
                <a:cs typeface="Calibri" pitchFamily="34" charset="-120"/>
              </a:rPr>
              <a:t>Pattern &amp; value hints</a:t>
            </a:r>
            <a:endParaRPr lang="en-US" sz="950" dirty="0"/>
          </a:p>
        </p:txBody>
      </p:sp>
      <p:sp>
        <p:nvSpPr>
          <p:cNvPr id="29" name="Shape 22"/>
          <p:cNvSpPr/>
          <p:nvPr/>
        </p:nvSpPr>
        <p:spPr>
          <a:xfrm>
            <a:off x="2587752" y="2889504"/>
            <a:ext cx="1883664" cy="1225296"/>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30" name="Text 23"/>
          <p:cNvSpPr/>
          <p:nvPr/>
        </p:nvSpPr>
        <p:spPr>
          <a:xfrm>
            <a:off x="2734056" y="2999232"/>
            <a:ext cx="731520" cy="274320"/>
          </a:xfrm>
          <a:prstGeom prst="rect">
            <a:avLst/>
          </a:prstGeom>
          <a:noFill/>
          <a:ln/>
        </p:spPr>
        <p:txBody>
          <a:bodyPr wrap="square" lIns="0" tIns="0" rIns="0" bIns="0" rtlCol="0" anchor="ctr"/>
          <a:lstStyle/>
          <a:p>
            <a:pPr marL="0" indent="0">
              <a:buNone/>
            </a:pPr>
            <a:r>
              <a:rPr lang="en-US" sz="1300" b="1" dirty="0">
                <a:solidFill>
                  <a:srgbClr val="0D9488"/>
                </a:solidFill>
                <a:latin typeface="Georgia" pitchFamily="34" charset="0"/>
                <a:ea typeface="Georgia" pitchFamily="34" charset="-122"/>
                <a:cs typeface="Georgia" pitchFamily="34" charset="-120"/>
              </a:rPr>
              <a:t>06</a:t>
            </a:r>
            <a:endParaRPr lang="en-US" sz="1300" dirty="0"/>
          </a:p>
        </p:txBody>
      </p:sp>
      <p:pic>
        <p:nvPicPr>
          <p:cNvPr id="31" name="Image 5" descr="preencoded.png"/>
          <p:cNvPicPr>
            <a:picLocks noChangeAspect="1"/>
          </p:cNvPicPr>
          <p:nvPr/>
        </p:nvPicPr>
        <p:blipFill>
          <a:blip r:embed="rId8"/>
          <a:stretch>
            <a:fillRect/>
          </a:stretch>
        </p:blipFill>
        <p:spPr>
          <a:xfrm>
            <a:off x="3904488" y="3035808"/>
            <a:ext cx="310896" cy="310896"/>
          </a:xfrm>
          <a:prstGeom prst="rect">
            <a:avLst/>
          </a:prstGeom>
        </p:spPr>
      </p:pic>
      <p:sp>
        <p:nvSpPr>
          <p:cNvPr id="32" name="Text 24"/>
          <p:cNvSpPr/>
          <p:nvPr/>
        </p:nvSpPr>
        <p:spPr>
          <a:xfrm>
            <a:off x="2734056" y="3401568"/>
            <a:ext cx="1609344" cy="274320"/>
          </a:xfrm>
          <a:prstGeom prst="rect">
            <a:avLst/>
          </a:prstGeom>
          <a:noFill/>
          <a:ln/>
        </p:spPr>
        <p:txBody>
          <a:bodyPr wrap="square" lIns="0" tIns="0" rIns="0" bIns="0" rtlCol="0" anchor="ctr"/>
          <a:lstStyle/>
          <a:p>
            <a:pPr marL="0" indent="0">
              <a:buNone/>
            </a:pPr>
            <a:r>
              <a:rPr lang="en-US" sz="1300" b="1" dirty="0">
                <a:solidFill>
                  <a:srgbClr val="0F2A43"/>
                </a:solidFill>
                <a:latin typeface="Calibri" pitchFamily="34" charset="0"/>
                <a:ea typeface="Calibri" pitchFamily="34" charset="-122"/>
                <a:cs typeface="Calibri" pitchFamily="34" charset="-120"/>
              </a:rPr>
              <a:t>History</a:t>
            </a:r>
            <a:endParaRPr lang="en-US" sz="1300" dirty="0"/>
          </a:p>
        </p:txBody>
      </p:sp>
      <p:sp>
        <p:nvSpPr>
          <p:cNvPr id="33" name="Text 25"/>
          <p:cNvSpPr/>
          <p:nvPr/>
        </p:nvSpPr>
        <p:spPr>
          <a:xfrm>
            <a:off x="2734056" y="3675888"/>
            <a:ext cx="1609344" cy="365760"/>
          </a:xfrm>
          <a:prstGeom prst="rect">
            <a:avLst/>
          </a:prstGeom>
          <a:noFill/>
          <a:ln/>
        </p:spPr>
        <p:txBody>
          <a:bodyPr wrap="square" lIns="0" tIns="0" rIns="0" bIns="0" rtlCol="0" anchor="t"/>
          <a:lstStyle/>
          <a:p>
            <a:pPr marL="0" indent="0">
              <a:buNone/>
            </a:pPr>
            <a:r>
              <a:rPr lang="en-US" sz="950" dirty="0">
                <a:solidFill>
                  <a:srgbClr val="334155"/>
                </a:solidFill>
                <a:latin typeface="Calibri" pitchFamily="34" charset="0"/>
                <a:ea typeface="Calibri" pitchFamily="34" charset="-122"/>
                <a:cs typeface="Calibri" pitchFamily="34" charset="-120"/>
              </a:rPr>
              <a:t>Corrections &amp; reusable rules</a:t>
            </a:r>
            <a:endParaRPr lang="en-US" sz="950" dirty="0"/>
          </a:p>
        </p:txBody>
      </p:sp>
      <p:sp>
        <p:nvSpPr>
          <p:cNvPr id="34" name="Shape 26"/>
          <p:cNvSpPr/>
          <p:nvPr/>
        </p:nvSpPr>
        <p:spPr>
          <a:xfrm>
            <a:off x="4672584" y="2889504"/>
            <a:ext cx="1883664" cy="1225296"/>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35" name="Text 27"/>
          <p:cNvSpPr/>
          <p:nvPr/>
        </p:nvSpPr>
        <p:spPr>
          <a:xfrm>
            <a:off x="4818888" y="2999232"/>
            <a:ext cx="731520" cy="274320"/>
          </a:xfrm>
          <a:prstGeom prst="rect">
            <a:avLst/>
          </a:prstGeom>
          <a:noFill/>
          <a:ln/>
        </p:spPr>
        <p:txBody>
          <a:bodyPr wrap="square" lIns="0" tIns="0" rIns="0" bIns="0" rtlCol="0" anchor="ctr"/>
          <a:lstStyle/>
          <a:p>
            <a:pPr marL="0" indent="0">
              <a:buNone/>
            </a:pPr>
            <a:r>
              <a:rPr lang="en-US" sz="1300" b="1" dirty="0">
                <a:solidFill>
                  <a:srgbClr val="0D9488"/>
                </a:solidFill>
                <a:latin typeface="Georgia" pitchFamily="34" charset="0"/>
                <a:ea typeface="Georgia" pitchFamily="34" charset="-122"/>
                <a:cs typeface="Georgia" pitchFamily="34" charset="-120"/>
              </a:rPr>
              <a:t>07</a:t>
            </a:r>
            <a:endParaRPr lang="en-US" sz="1300" dirty="0"/>
          </a:p>
        </p:txBody>
      </p:sp>
      <p:pic>
        <p:nvPicPr>
          <p:cNvPr id="36" name="Image 6" descr="preencoded.png"/>
          <p:cNvPicPr>
            <a:picLocks noChangeAspect="1"/>
          </p:cNvPicPr>
          <p:nvPr/>
        </p:nvPicPr>
        <p:blipFill>
          <a:blip r:embed="rId9"/>
          <a:stretch>
            <a:fillRect/>
          </a:stretch>
        </p:blipFill>
        <p:spPr>
          <a:xfrm>
            <a:off x="5989320" y="3035808"/>
            <a:ext cx="310896" cy="310896"/>
          </a:xfrm>
          <a:prstGeom prst="rect">
            <a:avLst/>
          </a:prstGeom>
        </p:spPr>
      </p:pic>
      <p:sp>
        <p:nvSpPr>
          <p:cNvPr id="37" name="Text 28"/>
          <p:cNvSpPr/>
          <p:nvPr/>
        </p:nvSpPr>
        <p:spPr>
          <a:xfrm>
            <a:off x="4818888" y="3401568"/>
            <a:ext cx="1609344" cy="274320"/>
          </a:xfrm>
          <a:prstGeom prst="rect">
            <a:avLst/>
          </a:prstGeom>
          <a:noFill/>
          <a:ln/>
        </p:spPr>
        <p:txBody>
          <a:bodyPr wrap="square" lIns="0" tIns="0" rIns="0" bIns="0" rtlCol="0" anchor="ctr"/>
          <a:lstStyle/>
          <a:p>
            <a:pPr marL="0" indent="0">
              <a:buNone/>
            </a:pPr>
            <a:r>
              <a:rPr lang="en-US" sz="1300" b="1" dirty="0">
                <a:solidFill>
                  <a:srgbClr val="0F2A43"/>
                </a:solidFill>
                <a:latin typeface="Calibri" pitchFamily="34" charset="0"/>
                <a:ea typeface="Calibri" pitchFamily="34" charset="-122"/>
                <a:cs typeface="Calibri" pitchFamily="34" charset="-120"/>
              </a:rPr>
              <a:t>LLM (bounded)</a:t>
            </a:r>
            <a:endParaRPr lang="en-US" sz="1300" dirty="0"/>
          </a:p>
        </p:txBody>
      </p:sp>
      <p:sp>
        <p:nvSpPr>
          <p:cNvPr id="38" name="Text 29"/>
          <p:cNvSpPr/>
          <p:nvPr/>
        </p:nvSpPr>
        <p:spPr>
          <a:xfrm>
            <a:off x="4818888" y="3675888"/>
            <a:ext cx="1609344" cy="365760"/>
          </a:xfrm>
          <a:prstGeom prst="rect">
            <a:avLst/>
          </a:prstGeom>
          <a:noFill/>
          <a:ln/>
        </p:spPr>
        <p:txBody>
          <a:bodyPr wrap="square" lIns="0" tIns="0" rIns="0" bIns="0" rtlCol="0" anchor="t"/>
          <a:lstStyle/>
          <a:p>
            <a:pPr marL="0" indent="0">
              <a:buNone/>
            </a:pPr>
            <a:r>
              <a:rPr lang="en-US" sz="950" dirty="0">
                <a:solidFill>
                  <a:srgbClr val="334155"/>
                </a:solidFill>
                <a:latin typeface="Calibri" pitchFamily="34" charset="0"/>
                <a:ea typeface="Calibri" pitchFamily="34" charset="-122"/>
                <a:cs typeface="Calibri" pitchFamily="34" charset="-120"/>
              </a:rPr>
              <a:t>Validation on ambiguity</a:t>
            </a:r>
            <a:endParaRPr lang="en-US" sz="950" dirty="0"/>
          </a:p>
        </p:txBody>
      </p:sp>
      <p:sp>
        <p:nvSpPr>
          <p:cNvPr id="39" name="Shape 30"/>
          <p:cNvSpPr/>
          <p:nvPr/>
        </p:nvSpPr>
        <p:spPr>
          <a:xfrm>
            <a:off x="6757416" y="2889504"/>
            <a:ext cx="1883664" cy="1225296"/>
          </a:xfrm>
          <a:prstGeom prst="rect">
            <a:avLst/>
          </a:prstGeom>
          <a:solidFill>
            <a:srgbClr val="0F2A43"/>
          </a:solidFill>
          <a:ln/>
        </p:spPr>
        <p:txBody>
          <a:bodyPr/>
          <a:lstStyle/>
          <a:p>
            <a:endParaRPr lang="en-US"/>
          </a:p>
        </p:txBody>
      </p:sp>
      <p:sp>
        <p:nvSpPr>
          <p:cNvPr id="40" name="Text 31"/>
          <p:cNvSpPr/>
          <p:nvPr/>
        </p:nvSpPr>
        <p:spPr>
          <a:xfrm>
            <a:off x="6903720" y="2999232"/>
            <a:ext cx="1609344" cy="1005840"/>
          </a:xfrm>
          <a:prstGeom prst="rect">
            <a:avLst/>
          </a:prstGeom>
          <a:noFill/>
          <a:ln/>
        </p:spPr>
        <p:txBody>
          <a:bodyPr wrap="square" lIns="0" tIns="0" rIns="0" bIns="0" rtlCol="0" anchor="ctr"/>
          <a:lstStyle/>
          <a:p>
            <a:pPr marL="0" indent="0">
              <a:buNone/>
            </a:pPr>
            <a:r>
              <a:rPr lang="en-US" sz="1100" b="1" dirty="0">
                <a:solidFill>
                  <a:srgbClr val="DFF3F0"/>
                </a:solidFill>
                <a:latin typeface="Calibri" pitchFamily="34" charset="0"/>
                <a:ea typeface="Calibri" pitchFamily="34" charset="-122"/>
                <a:cs typeface="Calibri" pitchFamily="34" charset="-120"/>
              </a:rPr>
              <a:t>AI never owns the full mapping process — decisions stay auditable.</a:t>
            </a:r>
            <a:endParaRPr lang="en-US" sz="1100" dirty="0"/>
          </a:p>
        </p:txBody>
      </p:sp>
      <p:sp>
        <p:nvSpPr>
          <p:cNvPr id="41" name="Shape 32"/>
          <p:cNvSpPr/>
          <p:nvPr/>
        </p:nvSpPr>
        <p:spPr>
          <a:xfrm>
            <a:off x="502920" y="4718304"/>
            <a:ext cx="8138160" cy="0"/>
          </a:xfrm>
          <a:prstGeom prst="line">
            <a:avLst/>
          </a:prstGeom>
          <a:noFill/>
          <a:ln w="12700">
            <a:solidFill>
              <a:srgbClr val="DCE5EE"/>
            </a:solidFill>
            <a:prstDash val="solid"/>
          </a:ln>
        </p:spPr>
        <p:txBody>
          <a:bodyPr/>
          <a:lstStyle/>
          <a:p>
            <a:endParaRPr lang="en-US"/>
          </a:p>
        </p:txBody>
      </p:sp>
      <p:sp>
        <p:nvSpPr>
          <p:cNvPr id="42" name="Shape 33"/>
          <p:cNvSpPr/>
          <p:nvPr/>
        </p:nvSpPr>
        <p:spPr>
          <a:xfrm>
            <a:off x="502920" y="4846320"/>
            <a:ext cx="73152" cy="73152"/>
          </a:xfrm>
          <a:prstGeom prst="ellipse">
            <a:avLst/>
          </a:prstGeom>
          <a:solidFill>
            <a:srgbClr val="0D9488"/>
          </a:solidFill>
          <a:ln/>
        </p:spPr>
        <p:txBody>
          <a:bodyPr/>
          <a:lstStyle/>
          <a:p>
            <a:endParaRPr lang="en-US"/>
          </a:p>
        </p:txBody>
      </p:sp>
      <p:sp>
        <p:nvSpPr>
          <p:cNvPr id="43" name="Text 34"/>
          <p:cNvSpPr/>
          <p:nvPr/>
        </p:nvSpPr>
        <p:spPr>
          <a:xfrm>
            <a:off x="649224" y="4764024"/>
            <a:ext cx="2743200" cy="237744"/>
          </a:xfrm>
          <a:prstGeom prst="rect">
            <a:avLst/>
          </a:prstGeom>
          <a:noFill/>
          <a:ln/>
        </p:spPr>
        <p:txBody>
          <a:bodyPr wrap="square" lIns="0" tIns="0" rIns="0" bIns="0" rtlCol="0" anchor="ctr"/>
          <a:lstStyle/>
          <a:p>
            <a:pPr marL="0" indent="0">
              <a:buNone/>
            </a:pPr>
            <a:r>
              <a:rPr lang="en-US" sz="950" b="1" kern="0" spc="200" dirty="0">
                <a:solidFill>
                  <a:srgbClr val="64748B"/>
                </a:solidFill>
                <a:latin typeface="Calibri" pitchFamily="34" charset="0"/>
                <a:ea typeface="Calibri" pitchFamily="34" charset="-122"/>
                <a:cs typeface="Calibri" pitchFamily="34" charset="-120"/>
              </a:rPr>
              <a:t>SEMANTRA</a:t>
            </a:r>
            <a:endParaRPr lang="en-US" sz="950" dirty="0"/>
          </a:p>
        </p:txBody>
      </p:sp>
      <p:sp>
        <p:nvSpPr>
          <p:cNvPr id="44" name="Text 35"/>
          <p:cNvSpPr/>
          <p:nvPr/>
        </p:nvSpPr>
        <p:spPr>
          <a:xfrm>
            <a:off x="4800600" y="4764024"/>
            <a:ext cx="2834640" cy="237744"/>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PMO SERVICE • EA–DA BRIDGE</a:t>
            </a:r>
            <a:endParaRPr lang="en-US" sz="900" dirty="0"/>
          </a:p>
        </p:txBody>
      </p:sp>
      <p:sp>
        <p:nvSpPr>
          <p:cNvPr id="45" name="Text 36"/>
          <p:cNvSpPr/>
          <p:nvPr/>
        </p:nvSpPr>
        <p:spPr>
          <a:xfrm>
            <a:off x="7726680" y="4764024"/>
            <a:ext cx="914400" cy="237744"/>
          </a:xfrm>
          <a:prstGeom prst="rect">
            <a:avLst/>
          </a:prstGeom>
          <a:noFill/>
          <a:ln/>
        </p:spPr>
        <p:txBody>
          <a:bodyPr wrap="square" lIns="0" tIns="0" rIns="0" bIns="0" rtlCol="0" anchor="ctr"/>
          <a:lstStyle/>
          <a:p>
            <a:pPr marL="0" indent="0" algn="r">
              <a:buNone/>
            </a:pPr>
            <a:r>
              <a:rPr lang="en-US" sz="950" b="1" dirty="0">
                <a:solidFill>
                  <a:srgbClr val="0D9488"/>
                </a:solidFill>
                <a:latin typeface="Calibri" pitchFamily="34" charset="0"/>
                <a:ea typeface="Calibri" pitchFamily="34" charset="-122"/>
                <a:cs typeface="Calibri" pitchFamily="34" charset="-120"/>
              </a:rPr>
              <a:t>08 / 18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8138160" cy="274320"/>
          </a:xfrm>
          <a:prstGeom prst="rect">
            <a:avLst/>
          </a:prstGeom>
          <a:noFill/>
          <a:ln/>
        </p:spPr>
        <p:txBody>
          <a:bodyPr wrap="square" lIns="0" tIns="0" rIns="0" bIns="0" rtlCol="0" anchor="ctr"/>
          <a:lstStyle/>
          <a:p>
            <a:pPr marL="0" indent="0" algn="l">
              <a:buNone/>
            </a:pPr>
            <a:r>
              <a:rPr lang="en-US" sz="1150" b="1" kern="0" spc="200" dirty="0">
                <a:solidFill>
                  <a:srgbClr val="0D9488"/>
                </a:solidFill>
                <a:latin typeface="Calibri" pitchFamily="34" charset="0"/>
                <a:ea typeface="Calibri" pitchFamily="34" charset="-122"/>
                <a:cs typeface="Calibri" pitchFamily="34" charset="-120"/>
              </a:rPr>
              <a:t>CANONICAL LAYER &amp; MDM</a:t>
            </a:r>
            <a:endParaRPr lang="en-US" sz="1150" dirty="0"/>
          </a:p>
        </p:txBody>
      </p:sp>
      <p:sp>
        <p:nvSpPr>
          <p:cNvPr id="3" name="Text 1"/>
          <p:cNvSpPr/>
          <p:nvPr/>
        </p:nvSpPr>
        <p:spPr>
          <a:xfrm>
            <a:off x="502920" y="585216"/>
            <a:ext cx="8138160" cy="749808"/>
          </a:xfrm>
          <a:prstGeom prst="rect">
            <a:avLst/>
          </a:prstGeom>
          <a:noFill/>
          <a:ln/>
        </p:spPr>
        <p:txBody>
          <a:bodyPr wrap="square" lIns="0" tIns="0" rIns="0" bIns="0" rtlCol="0" anchor="t"/>
          <a:lstStyle/>
          <a:p>
            <a:pPr marL="0" indent="0" algn="l">
              <a:buNone/>
            </a:pPr>
            <a:r>
              <a:rPr lang="en-US" sz="2700" b="1" dirty="0">
                <a:solidFill>
                  <a:srgbClr val="0F2A43"/>
                </a:solidFill>
                <a:latin typeface="Georgia" pitchFamily="34" charset="0"/>
                <a:ea typeface="Georgia" pitchFamily="34" charset="-122"/>
                <a:cs typeface="Georgia" pitchFamily="34" charset="-120"/>
              </a:rPr>
              <a:t>Stewardship as a first-class capability</a:t>
            </a:r>
            <a:endParaRPr lang="en-US" sz="2700" dirty="0"/>
          </a:p>
        </p:txBody>
      </p:sp>
      <p:sp>
        <p:nvSpPr>
          <p:cNvPr id="4" name="Shape 2"/>
          <p:cNvSpPr/>
          <p:nvPr/>
        </p:nvSpPr>
        <p:spPr>
          <a:xfrm>
            <a:off x="502920" y="1517904"/>
            <a:ext cx="3931920" cy="1188720"/>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5" name="Shape 3"/>
          <p:cNvSpPr/>
          <p:nvPr/>
        </p:nvSpPr>
        <p:spPr>
          <a:xfrm>
            <a:off x="502920" y="1517904"/>
            <a:ext cx="64008" cy="1188720"/>
          </a:xfrm>
          <a:prstGeom prst="rect">
            <a:avLst/>
          </a:prstGeom>
          <a:solidFill>
            <a:srgbClr val="0D9488"/>
          </a:solidFill>
          <a:ln/>
        </p:spPr>
        <p:txBody>
          <a:bodyPr/>
          <a:lstStyle/>
          <a:p>
            <a:endParaRPr lang="en-US"/>
          </a:p>
        </p:txBody>
      </p:sp>
      <p:sp>
        <p:nvSpPr>
          <p:cNvPr id="6" name="Shape 4"/>
          <p:cNvSpPr/>
          <p:nvPr/>
        </p:nvSpPr>
        <p:spPr>
          <a:xfrm>
            <a:off x="740664" y="1719072"/>
            <a:ext cx="512064" cy="512064"/>
          </a:xfrm>
          <a:prstGeom prst="ellipse">
            <a:avLst/>
          </a:prstGeom>
          <a:solidFill>
            <a:srgbClr val="E6F4F2"/>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868680" y="1847088"/>
            <a:ext cx="256032" cy="256032"/>
          </a:xfrm>
          <a:prstGeom prst="rect">
            <a:avLst/>
          </a:prstGeom>
        </p:spPr>
      </p:pic>
      <p:sp>
        <p:nvSpPr>
          <p:cNvPr id="8" name="Text 5"/>
          <p:cNvSpPr/>
          <p:nvPr/>
        </p:nvSpPr>
        <p:spPr>
          <a:xfrm>
            <a:off x="1453896" y="1700784"/>
            <a:ext cx="2816352" cy="329184"/>
          </a:xfrm>
          <a:prstGeom prst="rect">
            <a:avLst/>
          </a:prstGeom>
          <a:noFill/>
          <a:ln/>
        </p:spPr>
        <p:txBody>
          <a:bodyPr wrap="square" lIns="0" tIns="0" rIns="0" bIns="0" rtlCol="0" anchor="ctr"/>
          <a:lstStyle/>
          <a:p>
            <a:pPr marL="0" indent="0">
              <a:buNone/>
            </a:pPr>
            <a:r>
              <a:rPr lang="en-US" sz="1450" b="1" dirty="0">
                <a:solidFill>
                  <a:srgbClr val="0F2A43"/>
                </a:solidFill>
                <a:latin typeface="Calibri" pitchFamily="34" charset="0"/>
                <a:ea typeface="Calibri" pitchFamily="34" charset="-122"/>
                <a:cs typeface="Calibri" pitchFamily="34" charset="-120"/>
              </a:rPr>
              <a:t>Source → canonical</a:t>
            </a:r>
            <a:endParaRPr lang="en-US" sz="1450" dirty="0"/>
          </a:p>
        </p:txBody>
      </p:sp>
      <p:sp>
        <p:nvSpPr>
          <p:cNvPr id="9" name="Text 6"/>
          <p:cNvSpPr/>
          <p:nvPr/>
        </p:nvSpPr>
        <p:spPr>
          <a:xfrm>
            <a:off x="740664" y="2304288"/>
            <a:ext cx="3474720" cy="256032"/>
          </a:xfrm>
          <a:prstGeom prst="rect">
            <a:avLst/>
          </a:prstGeom>
          <a:noFill/>
          <a:ln/>
        </p:spPr>
        <p:txBody>
          <a:bodyPr wrap="square" lIns="0" tIns="0" rIns="0" bIns="0" rtlCol="0" anchor="t"/>
          <a:lstStyle/>
          <a:p>
            <a:pPr marL="0" indent="0">
              <a:lnSpc>
                <a:spcPct val="102000"/>
              </a:lnSpc>
              <a:buNone/>
            </a:pPr>
            <a:r>
              <a:rPr lang="en-US" sz="1150" dirty="0">
                <a:solidFill>
                  <a:srgbClr val="334155"/>
                </a:solidFill>
                <a:latin typeface="Calibri" pitchFamily="34" charset="0"/>
                <a:ea typeface="Calibri" pitchFamily="34" charset="-122"/>
                <a:cs typeface="Calibri" pitchFamily="34" charset="-120"/>
              </a:rPr>
              <a:t>Map source to canonical even without a real target — the MDM golden record starts here.</a:t>
            </a:r>
            <a:endParaRPr lang="en-US" sz="1150" dirty="0"/>
          </a:p>
        </p:txBody>
      </p:sp>
      <p:sp>
        <p:nvSpPr>
          <p:cNvPr id="10" name="Shape 7"/>
          <p:cNvSpPr/>
          <p:nvPr/>
        </p:nvSpPr>
        <p:spPr>
          <a:xfrm>
            <a:off x="4709160" y="1517904"/>
            <a:ext cx="3931920" cy="1188720"/>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11" name="Shape 8"/>
          <p:cNvSpPr/>
          <p:nvPr/>
        </p:nvSpPr>
        <p:spPr>
          <a:xfrm>
            <a:off x="4709160" y="1517904"/>
            <a:ext cx="64008" cy="1188720"/>
          </a:xfrm>
          <a:prstGeom prst="rect">
            <a:avLst/>
          </a:prstGeom>
          <a:solidFill>
            <a:srgbClr val="0D9488"/>
          </a:solidFill>
          <a:ln/>
        </p:spPr>
        <p:txBody>
          <a:bodyPr/>
          <a:lstStyle/>
          <a:p>
            <a:endParaRPr lang="en-US"/>
          </a:p>
        </p:txBody>
      </p:sp>
      <p:sp>
        <p:nvSpPr>
          <p:cNvPr id="12" name="Shape 9"/>
          <p:cNvSpPr/>
          <p:nvPr/>
        </p:nvSpPr>
        <p:spPr>
          <a:xfrm>
            <a:off x="4946904" y="1719072"/>
            <a:ext cx="512064" cy="512064"/>
          </a:xfrm>
          <a:prstGeom prst="ellipse">
            <a:avLst/>
          </a:prstGeom>
          <a:solidFill>
            <a:srgbClr val="E6F4F2"/>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5074920" y="1847088"/>
            <a:ext cx="256032" cy="256032"/>
          </a:xfrm>
          <a:prstGeom prst="rect">
            <a:avLst/>
          </a:prstGeom>
        </p:spPr>
      </p:pic>
      <p:sp>
        <p:nvSpPr>
          <p:cNvPr id="14" name="Text 10"/>
          <p:cNvSpPr/>
          <p:nvPr/>
        </p:nvSpPr>
        <p:spPr>
          <a:xfrm>
            <a:off x="5660136" y="1700784"/>
            <a:ext cx="2816352" cy="329184"/>
          </a:xfrm>
          <a:prstGeom prst="rect">
            <a:avLst/>
          </a:prstGeom>
          <a:noFill/>
          <a:ln/>
        </p:spPr>
        <p:txBody>
          <a:bodyPr wrap="square" lIns="0" tIns="0" rIns="0" bIns="0" rtlCol="0" anchor="ctr"/>
          <a:lstStyle/>
          <a:p>
            <a:pPr marL="0" indent="0">
              <a:buNone/>
            </a:pPr>
            <a:r>
              <a:rPr lang="en-US" sz="1450" b="1" dirty="0">
                <a:solidFill>
                  <a:srgbClr val="0F2A43"/>
                </a:solidFill>
                <a:latin typeface="Calibri" pitchFamily="34" charset="0"/>
                <a:ea typeface="Calibri" pitchFamily="34" charset="-122"/>
                <a:cs typeface="Calibri" pitchFamily="34" charset="-120"/>
              </a:rPr>
              <a:t>Concept registry</a:t>
            </a:r>
            <a:endParaRPr lang="en-US" sz="1450" dirty="0"/>
          </a:p>
        </p:txBody>
      </p:sp>
      <p:sp>
        <p:nvSpPr>
          <p:cNvPr id="15" name="Text 11"/>
          <p:cNvSpPr/>
          <p:nvPr/>
        </p:nvSpPr>
        <p:spPr>
          <a:xfrm>
            <a:off x="4946904" y="2304288"/>
            <a:ext cx="3474720" cy="256032"/>
          </a:xfrm>
          <a:prstGeom prst="rect">
            <a:avLst/>
          </a:prstGeom>
          <a:noFill/>
          <a:ln/>
        </p:spPr>
        <p:txBody>
          <a:bodyPr wrap="square" lIns="0" tIns="0" rIns="0" bIns="0" rtlCol="0" anchor="t"/>
          <a:lstStyle/>
          <a:p>
            <a:pPr marL="0" indent="0">
              <a:lnSpc>
                <a:spcPct val="102000"/>
              </a:lnSpc>
              <a:buNone/>
            </a:pPr>
            <a:r>
              <a:rPr lang="en-US" sz="1150" dirty="0">
                <a:solidFill>
                  <a:srgbClr val="334155"/>
                </a:solidFill>
                <a:latin typeface="Calibri" pitchFamily="34" charset="0"/>
                <a:ea typeface="Calibri" pitchFamily="34" charset="-122"/>
                <a:cs typeface="Calibri" pitchFamily="34" charset="-120"/>
              </a:rPr>
              <a:t>Canonical concept registry with detailed views.</a:t>
            </a:r>
            <a:endParaRPr lang="en-US" sz="1150" dirty="0"/>
          </a:p>
        </p:txBody>
      </p:sp>
      <p:sp>
        <p:nvSpPr>
          <p:cNvPr id="16" name="Shape 12"/>
          <p:cNvSpPr/>
          <p:nvPr/>
        </p:nvSpPr>
        <p:spPr>
          <a:xfrm>
            <a:off x="502920" y="2907792"/>
            <a:ext cx="3931920" cy="1188720"/>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17" name="Shape 13"/>
          <p:cNvSpPr/>
          <p:nvPr/>
        </p:nvSpPr>
        <p:spPr>
          <a:xfrm>
            <a:off x="502920" y="2907792"/>
            <a:ext cx="64008" cy="1188720"/>
          </a:xfrm>
          <a:prstGeom prst="rect">
            <a:avLst/>
          </a:prstGeom>
          <a:solidFill>
            <a:srgbClr val="0D9488"/>
          </a:solidFill>
          <a:ln/>
        </p:spPr>
        <p:txBody>
          <a:bodyPr/>
          <a:lstStyle/>
          <a:p>
            <a:endParaRPr lang="en-US"/>
          </a:p>
        </p:txBody>
      </p:sp>
      <p:sp>
        <p:nvSpPr>
          <p:cNvPr id="18" name="Shape 14"/>
          <p:cNvSpPr/>
          <p:nvPr/>
        </p:nvSpPr>
        <p:spPr>
          <a:xfrm>
            <a:off x="740664" y="3108960"/>
            <a:ext cx="512064" cy="512064"/>
          </a:xfrm>
          <a:prstGeom prst="ellipse">
            <a:avLst/>
          </a:prstGeom>
          <a:solidFill>
            <a:srgbClr val="E6F4F2"/>
          </a:solidFill>
          <a:ln/>
        </p:spPr>
        <p:txBody>
          <a:bodyPr/>
          <a:lstStyle/>
          <a:p>
            <a:endParaRPr lang="en-US"/>
          </a:p>
        </p:txBody>
      </p:sp>
      <p:pic>
        <p:nvPicPr>
          <p:cNvPr id="19" name="Image 2" descr="preencoded.png"/>
          <p:cNvPicPr>
            <a:picLocks noChangeAspect="1"/>
          </p:cNvPicPr>
          <p:nvPr/>
        </p:nvPicPr>
        <p:blipFill>
          <a:blip r:embed="rId5"/>
          <a:stretch>
            <a:fillRect/>
          </a:stretch>
        </p:blipFill>
        <p:spPr>
          <a:xfrm>
            <a:off x="868680" y="3236976"/>
            <a:ext cx="256032" cy="256032"/>
          </a:xfrm>
          <a:prstGeom prst="rect">
            <a:avLst/>
          </a:prstGeom>
        </p:spPr>
      </p:pic>
      <p:sp>
        <p:nvSpPr>
          <p:cNvPr id="20" name="Text 15"/>
          <p:cNvSpPr/>
          <p:nvPr/>
        </p:nvSpPr>
        <p:spPr>
          <a:xfrm>
            <a:off x="1453896" y="3090672"/>
            <a:ext cx="2816352" cy="329184"/>
          </a:xfrm>
          <a:prstGeom prst="rect">
            <a:avLst/>
          </a:prstGeom>
          <a:noFill/>
          <a:ln/>
        </p:spPr>
        <p:txBody>
          <a:bodyPr wrap="square" lIns="0" tIns="0" rIns="0" bIns="0" rtlCol="0" anchor="ctr"/>
          <a:lstStyle/>
          <a:p>
            <a:pPr marL="0" indent="0">
              <a:buNone/>
            </a:pPr>
            <a:r>
              <a:rPr lang="en-US" sz="1450" b="1" dirty="0">
                <a:solidFill>
                  <a:srgbClr val="0F2A43"/>
                </a:solidFill>
                <a:latin typeface="Calibri" pitchFamily="34" charset="0"/>
                <a:ea typeface="Calibri" pitchFamily="34" charset="-122"/>
                <a:cs typeface="Calibri" pitchFamily="34" charset="-120"/>
              </a:rPr>
              <a:t>Gap review</a:t>
            </a:r>
            <a:endParaRPr lang="en-US" sz="1450" dirty="0"/>
          </a:p>
        </p:txBody>
      </p:sp>
      <p:sp>
        <p:nvSpPr>
          <p:cNvPr id="21" name="Text 16"/>
          <p:cNvSpPr/>
          <p:nvPr/>
        </p:nvSpPr>
        <p:spPr>
          <a:xfrm>
            <a:off x="740664" y="3694176"/>
            <a:ext cx="3474720" cy="256032"/>
          </a:xfrm>
          <a:prstGeom prst="rect">
            <a:avLst/>
          </a:prstGeom>
          <a:noFill/>
          <a:ln/>
        </p:spPr>
        <p:txBody>
          <a:bodyPr wrap="square" lIns="0" tIns="0" rIns="0" bIns="0" rtlCol="0" anchor="t"/>
          <a:lstStyle/>
          <a:p>
            <a:pPr marL="0" indent="0">
              <a:lnSpc>
                <a:spcPct val="102000"/>
              </a:lnSpc>
              <a:buNone/>
            </a:pPr>
            <a:r>
              <a:rPr lang="en-US" sz="1150" dirty="0">
                <a:solidFill>
                  <a:srgbClr val="334155"/>
                </a:solidFill>
                <a:latin typeface="Calibri" pitchFamily="34" charset="0"/>
                <a:ea typeface="Calibri" pitchFamily="34" charset="-122"/>
                <a:cs typeface="Calibri" pitchFamily="34" charset="-120"/>
              </a:rPr>
              <a:t>Canonical-gap review and suggestion flow for missing entries.</a:t>
            </a:r>
            <a:endParaRPr lang="en-US" sz="1150" dirty="0"/>
          </a:p>
        </p:txBody>
      </p:sp>
      <p:sp>
        <p:nvSpPr>
          <p:cNvPr id="22" name="Shape 17"/>
          <p:cNvSpPr/>
          <p:nvPr/>
        </p:nvSpPr>
        <p:spPr>
          <a:xfrm>
            <a:off x="4709160" y="2907792"/>
            <a:ext cx="3931920" cy="1188720"/>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23" name="Shape 18"/>
          <p:cNvSpPr/>
          <p:nvPr/>
        </p:nvSpPr>
        <p:spPr>
          <a:xfrm>
            <a:off x="4709160" y="2907792"/>
            <a:ext cx="64008" cy="1188720"/>
          </a:xfrm>
          <a:prstGeom prst="rect">
            <a:avLst/>
          </a:prstGeom>
          <a:solidFill>
            <a:srgbClr val="0D9488"/>
          </a:solidFill>
          <a:ln/>
        </p:spPr>
        <p:txBody>
          <a:bodyPr/>
          <a:lstStyle/>
          <a:p>
            <a:endParaRPr lang="en-US"/>
          </a:p>
        </p:txBody>
      </p:sp>
      <p:sp>
        <p:nvSpPr>
          <p:cNvPr id="24" name="Shape 19"/>
          <p:cNvSpPr/>
          <p:nvPr/>
        </p:nvSpPr>
        <p:spPr>
          <a:xfrm>
            <a:off x="4946904" y="3108960"/>
            <a:ext cx="512064" cy="512064"/>
          </a:xfrm>
          <a:prstGeom prst="ellipse">
            <a:avLst/>
          </a:prstGeom>
          <a:solidFill>
            <a:srgbClr val="E6F4F2"/>
          </a:solidFill>
          <a:ln/>
        </p:spPr>
        <p:txBody>
          <a:bodyPr/>
          <a:lstStyle/>
          <a:p>
            <a:endParaRPr lang="en-US"/>
          </a:p>
        </p:txBody>
      </p:sp>
      <p:pic>
        <p:nvPicPr>
          <p:cNvPr id="25" name="Image 3" descr="preencoded.png"/>
          <p:cNvPicPr>
            <a:picLocks noChangeAspect="1"/>
          </p:cNvPicPr>
          <p:nvPr/>
        </p:nvPicPr>
        <p:blipFill>
          <a:blip r:embed="rId6"/>
          <a:stretch>
            <a:fillRect/>
          </a:stretch>
        </p:blipFill>
        <p:spPr>
          <a:xfrm>
            <a:off x="5074920" y="3236976"/>
            <a:ext cx="256032" cy="256032"/>
          </a:xfrm>
          <a:prstGeom prst="rect">
            <a:avLst/>
          </a:prstGeom>
        </p:spPr>
      </p:pic>
      <p:sp>
        <p:nvSpPr>
          <p:cNvPr id="26" name="Text 20"/>
          <p:cNvSpPr/>
          <p:nvPr/>
        </p:nvSpPr>
        <p:spPr>
          <a:xfrm>
            <a:off x="5660136" y="3090672"/>
            <a:ext cx="2816352" cy="329184"/>
          </a:xfrm>
          <a:prstGeom prst="rect">
            <a:avLst/>
          </a:prstGeom>
          <a:noFill/>
          <a:ln/>
        </p:spPr>
        <p:txBody>
          <a:bodyPr wrap="square" lIns="0" tIns="0" rIns="0" bIns="0" rtlCol="0" anchor="ctr"/>
          <a:lstStyle/>
          <a:p>
            <a:pPr marL="0" indent="0">
              <a:buNone/>
            </a:pPr>
            <a:r>
              <a:rPr lang="en-US" sz="1450" b="1" dirty="0">
                <a:solidFill>
                  <a:srgbClr val="0F2A43"/>
                </a:solidFill>
                <a:latin typeface="Calibri" pitchFamily="34" charset="0"/>
                <a:ea typeface="Calibri" pitchFamily="34" charset="-122"/>
                <a:cs typeface="Calibri" pitchFamily="34" charset="-120"/>
              </a:rPr>
              <a:t>Overlay lifecycle</a:t>
            </a:r>
            <a:endParaRPr lang="en-US" sz="1450" dirty="0"/>
          </a:p>
        </p:txBody>
      </p:sp>
      <p:sp>
        <p:nvSpPr>
          <p:cNvPr id="27" name="Text 21"/>
          <p:cNvSpPr/>
          <p:nvPr/>
        </p:nvSpPr>
        <p:spPr>
          <a:xfrm>
            <a:off x="4946904" y="3694176"/>
            <a:ext cx="3474720" cy="256032"/>
          </a:xfrm>
          <a:prstGeom prst="rect">
            <a:avLst/>
          </a:prstGeom>
          <a:noFill/>
          <a:ln/>
        </p:spPr>
        <p:txBody>
          <a:bodyPr wrap="square" lIns="0" tIns="0" rIns="0" bIns="0" rtlCol="0" anchor="t"/>
          <a:lstStyle/>
          <a:p>
            <a:pPr marL="0" indent="0">
              <a:lnSpc>
                <a:spcPct val="102000"/>
              </a:lnSpc>
              <a:buNone/>
            </a:pPr>
            <a:r>
              <a:rPr lang="en-US" sz="1150" dirty="0">
                <a:solidFill>
                  <a:srgbClr val="334155"/>
                </a:solidFill>
                <a:latin typeface="Calibri" pitchFamily="34" charset="0"/>
                <a:ea typeface="Calibri" pitchFamily="34" charset="-122"/>
                <a:cs typeface="Calibri" pitchFamily="34" charset="-120"/>
              </a:rPr>
              <a:t>Promote drafts into the governed glossary via stewardship workflow.</a:t>
            </a:r>
            <a:endParaRPr lang="en-US" sz="1150" dirty="0"/>
          </a:p>
        </p:txBody>
      </p:sp>
      <p:sp>
        <p:nvSpPr>
          <p:cNvPr id="28" name="Text 22"/>
          <p:cNvSpPr/>
          <p:nvPr/>
        </p:nvSpPr>
        <p:spPr>
          <a:xfrm>
            <a:off x="502920" y="4224528"/>
            <a:ext cx="8138160" cy="365760"/>
          </a:xfrm>
          <a:prstGeom prst="rect">
            <a:avLst/>
          </a:prstGeom>
          <a:noFill/>
          <a:ln/>
        </p:spPr>
        <p:txBody>
          <a:bodyPr wrap="square" lIns="0" tIns="0" rIns="0" bIns="0" rtlCol="0" anchor="ctr"/>
          <a:lstStyle/>
          <a:p>
            <a:pPr marL="0" indent="0">
              <a:buNone/>
            </a:pPr>
            <a:r>
              <a:rPr lang="en-US" sz="1250" b="1" i="1" dirty="0">
                <a:solidFill>
                  <a:srgbClr val="0D9488"/>
                </a:solidFill>
                <a:latin typeface="Calibri" pitchFamily="34" charset="0"/>
                <a:ea typeface="Calibri" pitchFamily="34" charset="-122"/>
                <a:cs typeface="Calibri" pitchFamily="34" charset="-120"/>
              </a:rPr>
              <a:t>The canonical layer is already an active governance surface — not only a future idea.</a:t>
            </a:r>
            <a:endParaRPr lang="en-US" sz="1250" dirty="0"/>
          </a:p>
        </p:txBody>
      </p:sp>
      <p:sp>
        <p:nvSpPr>
          <p:cNvPr id="29" name="Shape 23"/>
          <p:cNvSpPr/>
          <p:nvPr/>
        </p:nvSpPr>
        <p:spPr>
          <a:xfrm>
            <a:off x="502920" y="4718304"/>
            <a:ext cx="8138160" cy="0"/>
          </a:xfrm>
          <a:prstGeom prst="line">
            <a:avLst/>
          </a:prstGeom>
          <a:noFill/>
          <a:ln w="12700">
            <a:solidFill>
              <a:srgbClr val="DCE5EE"/>
            </a:solidFill>
            <a:prstDash val="solid"/>
          </a:ln>
        </p:spPr>
        <p:txBody>
          <a:bodyPr/>
          <a:lstStyle/>
          <a:p>
            <a:endParaRPr lang="en-US"/>
          </a:p>
        </p:txBody>
      </p:sp>
      <p:sp>
        <p:nvSpPr>
          <p:cNvPr id="30" name="Shape 24"/>
          <p:cNvSpPr/>
          <p:nvPr/>
        </p:nvSpPr>
        <p:spPr>
          <a:xfrm>
            <a:off x="502920" y="4846320"/>
            <a:ext cx="73152" cy="73152"/>
          </a:xfrm>
          <a:prstGeom prst="ellipse">
            <a:avLst/>
          </a:prstGeom>
          <a:solidFill>
            <a:srgbClr val="0D9488"/>
          </a:solidFill>
          <a:ln/>
        </p:spPr>
        <p:txBody>
          <a:bodyPr/>
          <a:lstStyle/>
          <a:p>
            <a:endParaRPr lang="en-US"/>
          </a:p>
        </p:txBody>
      </p:sp>
      <p:sp>
        <p:nvSpPr>
          <p:cNvPr id="31" name="Text 25"/>
          <p:cNvSpPr/>
          <p:nvPr/>
        </p:nvSpPr>
        <p:spPr>
          <a:xfrm>
            <a:off x="649224" y="4764024"/>
            <a:ext cx="2743200" cy="237744"/>
          </a:xfrm>
          <a:prstGeom prst="rect">
            <a:avLst/>
          </a:prstGeom>
          <a:noFill/>
          <a:ln/>
        </p:spPr>
        <p:txBody>
          <a:bodyPr wrap="square" lIns="0" tIns="0" rIns="0" bIns="0" rtlCol="0" anchor="ctr"/>
          <a:lstStyle/>
          <a:p>
            <a:pPr marL="0" indent="0">
              <a:buNone/>
            </a:pPr>
            <a:r>
              <a:rPr lang="en-US" sz="950" b="1" kern="0" spc="200" dirty="0">
                <a:solidFill>
                  <a:srgbClr val="64748B"/>
                </a:solidFill>
                <a:latin typeface="Calibri" pitchFamily="34" charset="0"/>
                <a:ea typeface="Calibri" pitchFamily="34" charset="-122"/>
                <a:cs typeface="Calibri" pitchFamily="34" charset="-120"/>
              </a:rPr>
              <a:t>SEMANTRA</a:t>
            </a:r>
            <a:endParaRPr lang="en-US" sz="950" dirty="0"/>
          </a:p>
        </p:txBody>
      </p:sp>
      <p:sp>
        <p:nvSpPr>
          <p:cNvPr id="32" name="Text 26"/>
          <p:cNvSpPr/>
          <p:nvPr/>
        </p:nvSpPr>
        <p:spPr>
          <a:xfrm>
            <a:off x="4800600" y="4764024"/>
            <a:ext cx="2834640" cy="237744"/>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PMO SERVICE • EA–DA BRIDGE</a:t>
            </a:r>
            <a:endParaRPr lang="en-US" sz="900" dirty="0"/>
          </a:p>
        </p:txBody>
      </p:sp>
      <p:sp>
        <p:nvSpPr>
          <p:cNvPr id="33" name="Text 27"/>
          <p:cNvSpPr/>
          <p:nvPr/>
        </p:nvSpPr>
        <p:spPr>
          <a:xfrm>
            <a:off x="7726680" y="4764024"/>
            <a:ext cx="914400" cy="237744"/>
          </a:xfrm>
          <a:prstGeom prst="rect">
            <a:avLst/>
          </a:prstGeom>
          <a:noFill/>
          <a:ln/>
        </p:spPr>
        <p:txBody>
          <a:bodyPr wrap="square" lIns="0" tIns="0" rIns="0" bIns="0" rtlCol="0" anchor="ctr"/>
          <a:lstStyle/>
          <a:p>
            <a:pPr marL="0" indent="0" algn="r">
              <a:buNone/>
            </a:pPr>
            <a:r>
              <a:rPr lang="en-US" sz="950" b="1" dirty="0">
                <a:solidFill>
                  <a:srgbClr val="0D9488"/>
                </a:solidFill>
                <a:latin typeface="Calibri" pitchFamily="34" charset="0"/>
                <a:ea typeface="Calibri" pitchFamily="34" charset="-122"/>
                <a:cs typeface="Calibri" pitchFamily="34" charset="-120"/>
              </a:rPr>
              <a:t>09 / 18</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8138160" cy="274320"/>
          </a:xfrm>
          <a:prstGeom prst="rect">
            <a:avLst/>
          </a:prstGeom>
          <a:noFill/>
          <a:ln/>
        </p:spPr>
        <p:txBody>
          <a:bodyPr wrap="square" lIns="0" tIns="0" rIns="0" bIns="0" rtlCol="0" anchor="ctr"/>
          <a:lstStyle/>
          <a:p>
            <a:pPr marL="0" indent="0" algn="l">
              <a:buNone/>
            </a:pPr>
            <a:r>
              <a:rPr lang="en-US" sz="1150" b="1" kern="0" spc="200" dirty="0">
                <a:solidFill>
                  <a:srgbClr val="0D9488"/>
                </a:solidFill>
                <a:latin typeface="Calibri" pitchFamily="34" charset="0"/>
                <a:ea typeface="Calibri" pitchFamily="34" charset="-122"/>
                <a:cs typeface="Calibri" pitchFamily="34" charset="-120"/>
              </a:rPr>
              <a:t>GOVERNANCE</a:t>
            </a:r>
            <a:endParaRPr lang="en-US" sz="1150" dirty="0"/>
          </a:p>
        </p:txBody>
      </p:sp>
      <p:sp>
        <p:nvSpPr>
          <p:cNvPr id="3" name="Text 1"/>
          <p:cNvSpPr/>
          <p:nvPr/>
        </p:nvSpPr>
        <p:spPr>
          <a:xfrm>
            <a:off x="502920" y="585216"/>
            <a:ext cx="8138160" cy="749808"/>
          </a:xfrm>
          <a:prstGeom prst="rect">
            <a:avLst/>
          </a:prstGeom>
          <a:noFill/>
          <a:ln/>
        </p:spPr>
        <p:txBody>
          <a:bodyPr wrap="square" lIns="0" tIns="0" rIns="0" bIns="0" rtlCol="0" anchor="t"/>
          <a:lstStyle/>
          <a:p>
            <a:pPr marL="0" indent="0" algn="l">
              <a:buNone/>
            </a:pPr>
            <a:r>
              <a:rPr lang="en-US" sz="2700" b="1" dirty="0">
                <a:solidFill>
                  <a:srgbClr val="0F2A43"/>
                </a:solidFill>
                <a:latin typeface="Georgia" pitchFamily="34" charset="0"/>
                <a:ea typeface="Georgia" pitchFamily="34" charset="-122"/>
                <a:cs typeface="Georgia" pitchFamily="34" charset="-120"/>
              </a:rPr>
              <a:t>Explicit control points, not blind automation</a:t>
            </a:r>
            <a:endParaRPr lang="en-US" sz="2700" dirty="0"/>
          </a:p>
        </p:txBody>
      </p:sp>
      <p:sp>
        <p:nvSpPr>
          <p:cNvPr id="4" name="Shape 2"/>
          <p:cNvSpPr/>
          <p:nvPr/>
        </p:nvSpPr>
        <p:spPr>
          <a:xfrm>
            <a:off x="502920" y="1499616"/>
            <a:ext cx="2554224" cy="1280160"/>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5" name="Text 3"/>
          <p:cNvSpPr/>
          <p:nvPr/>
        </p:nvSpPr>
        <p:spPr>
          <a:xfrm>
            <a:off x="2325624" y="1609344"/>
            <a:ext cx="603504" cy="292608"/>
          </a:xfrm>
          <a:prstGeom prst="rect">
            <a:avLst/>
          </a:prstGeom>
          <a:noFill/>
          <a:ln/>
        </p:spPr>
        <p:txBody>
          <a:bodyPr wrap="square" lIns="0" tIns="0" rIns="0" bIns="0" rtlCol="0" anchor="ctr"/>
          <a:lstStyle/>
          <a:p>
            <a:pPr marL="0" indent="0" algn="r">
              <a:buNone/>
            </a:pPr>
            <a:r>
              <a:rPr lang="en-US" sz="1600" b="1" dirty="0">
                <a:solidFill>
                  <a:srgbClr val="C7D6E2"/>
                </a:solidFill>
                <a:latin typeface="Georgia" pitchFamily="34" charset="0"/>
                <a:ea typeface="Georgia" pitchFamily="34" charset="-122"/>
                <a:cs typeface="Georgia" pitchFamily="34" charset="-120"/>
              </a:rPr>
              <a:t>01</a:t>
            </a:r>
            <a:endParaRPr lang="en-US" sz="1600" dirty="0"/>
          </a:p>
        </p:txBody>
      </p:sp>
      <p:sp>
        <p:nvSpPr>
          <p:cNvPr id="6" name="Shape 4"/>
          <p:cNvSpPr/>
          <p:nvPr/>
        </p:nvSpPr>
        <p:spPr>
          <a:xfrm>
            <a:off x="704088" y="1664208"/>
            <a:ext cx="457200" cy="457200"/>
          </a:xfrm>
          <a:prstGeom prst="ellipse">
            <a:avLst/>
          </a:prstGeom>
          <a:solidFill>
            <a:srgbClr val="E6F4F2"/>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809244" y="1769364"/>
            <a:ext cx="228600" cy="228600"/>
          </a:xfrm>
          <a:prstGeom prst="rect">
            <a:avLst/>
          </a:prstGeom>
        </p:spPr>
      </p:pic>
      <p:sp>
        <p:nvSpPr>
          <p:cNvPr id="8" name="Text 5"/>
          <p:cNvSpPr/>
          <p:nvPr/>
        </p:nvSpPr>
        <p:spPr>
          <a:xfrm>
            <a:off x="704088" y="2194560"/>
            <a:ext cx="2188464" cy="274320"/>
          </a:xfrm>
          <a:prstGeom prst="rect">
            <a:avLst/>
          </a:prstGeom>
          <a:noFill/>
          <a:ln/>
        </p:spPr>
        <p:txBody>
          <a:bodyPr wrap="square" lIns="0" tIns="0" rIns="0" bIns="0" rtlCol="0" anchor="ctr"/>
          <a:lstStyle/>
          <a:p>
            <a:pPr marL="0" indent="0">
              <a:buNone/>
            </a:pPr>
            <a:r>
              <a:rPr lang="en-US" sz="1300" b="1" dirty="0">
                <a:solidFill>
                  <a:srgbClr val="0F2A43"/>
                </a:solidFill>
                <a:latin typeface="Calibri" pitchFamily="34" charset="0"/>
                <a:ea typeface="Calibri" pitchFamily="34" charset="-122"/>
                <a:cs typeface="Calibri" pitchFamily="34" charset="-120"/>
              </a:rPr>
              <a:t>Versioned sets</a:t>
            </a:r>
            <a:endParaRPr lang="en-US" sz="1300" dirty="0"/>
          </a:p>
        </p:txBody>
      </p:sp>
      <p:sp>
        <p:nvSpPr>
          <p:cNvPr id="9" name="Text 6"/>
          <p:cNvSpPr/>
          <p:nvPr/>
        </p:nvSpPr>
        <p:spPr>
          <a:xfrm>
            <a:off x="704088" y="2450592"/>
            <a:ext cx="2170176" cy="292608"/>
          </a:xfrm>
          <a:prstGeom prst="rect">
            <a:avLst/>
          </a:prstGeom>
          <a:noFill/>
          <a:ln/>
        </p:spPr>
        <p:txBody>
          <a:bodyPr wrap="square" lIns="0" tIns="0" rIns="0" bIns="0" rtlCol="0" anchor="t"/>
          <a:lstStyle/>
          <a:p>
            <a:pPr marL="0" indent="0">
              <a:buNone/>
            </a:pPr>
            <a:r>
              <a:rPr lang="en-US" sz="1000" dirty="0">
                <a:solidFill>
                  <a:srgbClr val="334155"/>
                </a:solidFill>
                <a:latin typeface="Calibri" pitchFamily="34" charset="0"/>
                <a:ea typeface="Calibri" pitchFamily="34" charset="-122"/>
                <a:cs typeface="Calibri" pitchFamily="34" charset="-120"/>
              </a:rPr>
              <a:t>Status, audit, and diff across mapping sets.</a:t>
            </a:r>
            <a:endParaRPr lang="en-US" sz="1000" dirty="0"/>
          </a:p>
        </p:txBody>
      </p:sp>
      <p:sp>
        <p:nvSpPr>
          <p:cNvPr id="10" name="Shape 7"/>
          <p:cNvSpPr/>
          <p:nvPr/>
        </p:nvSpPr>
        <p:spPr>
          <a:xfrm>
            <a:off x="3294888" y="1499616"/>
            <a:ext cx="2554224" cy="1280160"/>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11" name="Text 8"/>
          <p:cNvSpPr/>
          <p:nvPr/>
        </p:nvSpPr>
        <p:spPr>
          <a:xfrm>
            <a:off x="5117592" y="1609344"/>
            <a:ext cx="603504" cy="292608"/>
          </a:xfrm>
          <a:prstGeom prst="rect">
            <a:avLst/>
          </a:prstGeom>
          <a:noFill/>
          <a:ln/>
        </p:spPr>
        <p:txBody>
          <a:bodyPr wrap="square" lIns="0" tIns="0" rIns="0" bIns="0" rtlCol="0" anchor="ctr"/>
          <a:lstStyle/>
          <a:p>
            <a:pPr marL="0" indent="0" algn="r">
              <a:buNone/>
            </a:pPr>
            <a:r>
              <a:rPr lang="en-US" sz="1600" b="1" dirty="0">
                <a:solidFill>
                  <a:srgbClr val="C7D6E2"/>
                </a:solidFill>
                <a:latin typeface="Georgia" pitchFamily="34" charset="0"/>
                <a:ea typeface="Georgia" pitchFamily="34" charset="-122"/>
                <a:cs typeface="Georgia" pitchFamily="34" charset="-120"/>
              </a:rPr>
              <a:t>02</a:t>
            </a:r>
            <a:endParaRPr lang="en-US" sz="1600" dirty="0"/>
          </a:p>
        </p:txBody>
      </p:sp>
      <p:sp>
        <p:nvSpPr>
          <p:cNvPr id="12" name="Shape 9"/>
          <p:cNvSpPr/>
          <p:nvPr/>
        </p:nvSpPr>
        <p:spPr>
          <a:xfrm>
            <a:off x="3496056" y="1664208"/>
            <a:ext cx="457200" cy="457200"/>
          </a:xfrm>
          <a:prstGeom prst="ellipse">
            <a:avLst/>
          </a:prstGeom>
          <a:solidFill>
            <a:srgbClr val="E6F4F2"/>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3601212" y="1769364"/>
            <a:ext cx="228600" cy="228600"/>
          </a:xfrm>
          <a:prstGeom prst="rect">
            <a:avLst/>
          </a:prstGeom>
        </p:spPr>
      </p:pic>
      <p:sp>
        <p:nvSpPr>
          <p:cNvPr id="14" name="Text 10"/>
          <p:cNvSpPr/>
          <p:nvPr/>
        </p:nvSpPr>
        <p:spPr>
          <a:xfrm>
            <a:off x="3496056" y="2194560"/>
            <a:ext cx="2188464" cy="274320"/>
          </a:xfrm>
          <a:prstGeom prst="rect">
            <a:avLst/>
          </a:prstGeom>
          <a:noFill/>
          <a:ln/>
        </p:spPr>
        <p:txBody>
          <a:bodyPr wrap="square" lIns="0" tIns="0" rIns="0" bIns="0" rtlCol="0" anchor="ctr"/>
          <a:lstStyle/>
          <a:p>
            <a:pPr marL="0" indent="0">
              <a:buNone/>
            </a:pPr>
            <a:r>
              <a:rPr lang="en-US" sz="1300" b="1" dirty="0">
                <a:solidFill>
                  <a:srgbClr val="0F2A43"/>
                </a:solidFill>
                <a:latin typeface="Calibri" pitchFamily="34" charset="0"/>
                <a:ea typeface="Calibri" pitchFamily="34" charset="-122"/>
                <a:cs typeface="Calibri" pitchFamily="34" charset="-120"/>
              </a:rPr>
              <a:t>Approved-only reuse</a:t>
            </a:r>
            <a:endParaRPr lang="en-US" sz="1300" dirty="0"/>
          </a:p>
        </p:txBody>
      </p:sp>
      <p:sp>
        <p:nvSpPr>
          <p:cNvPr id="15" name="Text 11"/>
          <p:cNvSpPr/>
          <p:nvPr/>
        </p:nvSpPr>
        <p:spPr>
          <a:xfrm>
            <a:off x="3496056" y="2450592"/>
            <a:ext cx="2170176" cy="292608"/>
          </a:xfrm>
          <a:prstGeom prst="rect">
            <a:avLst/>
          </a:prstGeom>
          <a:noFill/>
          <a:ln/>
        </p:spPr>
        <p:txBody>
          <a:bodyPr wrap="square" lIns="0" tIns="0" rIns="0" bIns="0" rtlCol="0" anchor="t"/>
          <a:lstStyle/>
          <a:p>
            <a:pPr marL="0" indent="0">
              <a:buNone/>
            </a:pPr>
            <a:r>
              <a:rPr lang="en-US" sz="1000" dirty="0">
                <a:solidFill>
                  <a:srgbClr val="334155"/>
                </a:solidFill>
                <a:latin typeface="Calibri" pitchFamily="34" charset="0"/>
                <a:ea typeface="Calibri" pitchFamily="34" charset="-122"/>
                <a:cs typeface="Calibri" pitchFamily="34" charset="-120"/>
              </a:rPr>
              <a:t>Only approved work flows back into Workspace.</a:t>
            </a:r>
            <a:endParaRPr lang="en-US" sz="1000" dirty="0"/>
          </a:p>
        </p:txBody>
      </p:sp>
      <p:sp>
        <p:nvSpPr>
          <p:cNvPr id="16" name="Shape 12"/>
          <p:cNvSpPr/>
          <p:nvPr/>
        </p:nvSpPr>
        <p:spPr>
          <a:xfrm>
            <a:off x="6086856" y="1499616"/>
            <a:ext cx="2554224" cy="1280160"/>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17" name="Text 13"/>
          <p:cNvSpPr/>
          <p:nvPr/>
        </p:nvSpPr>
        <p:spPr>
          <a:xfrm>
            <a:off x="7909560" y="1609344"/>
            <a:ext cx="603504" cy="292608"/>
          </a:xfrm>
          <a:prstGeom prst="rect">
            <a:avLst/>
          </a:prstGeom>
          <a:noFill/>
          <a:ln/>
        </p:spPr>
        <p:txBody>
          <a:bodyPr wrap="square" lIns="0" tIns="0" rIns="0" bIns="0" rtlCol="0" anchor="ctr"/>
          <a:lstStyle/>
          <a:p>
            <a:pPr marL="0" indent="0" algn="r">
              <a:buNone/>
            </a:pPr>
            <a:r>
              <a:rPr lang="en-US" sz="1600" b="1" dirty="0">
                <a:solidFill>
                  <a:srgbClr val="C7D6E2"/>
                </a:solidFill>
                <a:latin typeface="Georgia" pitchFamily="34" charset="0"/>
                <a:ea typeface="Georgia" pitchFamily="34" charset="-122"/>
                <a:cs typeface="Georgia" pitchFamily="34" charset="-120"/>
              </a:rPr>
              <a:t>03</a:t>
            </a:r>
            <a:endParaRPr lang="en-US" sz="1600" dirty="0"/>
          </a:p>
        </p:txBody>
      </p:sp>
      <p:sp>
        <p:nvSpPr>
          <p:cNvPr id="18" name="Shape 14"/>
          <p:cNvSpPr/>
          <p:nvPr/>
        </p:nvSpPr>
        <p:spPr>
          <a:xfrm>
            <a:off x="6288024" y="1664208"/>
            <a:ext cx="457200" cy="457200"/>
          </a:xfrm>
          <a:prstGeom prst="ellipse">
            <a:avLst/>
          </a:prstGeom>
          <a:solidFill>
            <a:srgbClr val="E6F4F2"/>
          </a:solidFill>
          <a:ln/>
        </p:spPr>
        <p:txBody>
          <a:bodyPr/>
          <a:lstStyle/>
          <a:p>
            <a:endParaRPr lang="en-US"/>
          </a:p>
        </p:txBody>
      </p:sp>
      <p:pic>
        <p:nvPicPr>
          <p:cNvPr id="19" name="Image 2" descr="preencoded.png"/>
          <p:cNvPicPr>
            <a:picLocks noChangeAspect="1"/>
          </p:cNvPicPr>
          <p:nvPr/>
        </p:nvPicPr>
        <p:blipFill>
          <a:blip r:embed="rId5"/>
          <a:stretch>
            <a:fillRect/>
          </a:stretch>
        </p:blipFill>
        <p:spPr>
          <a:xfrm>
            <a:off x="6393180" y="1769364"/>
            <a:ext cx="228600" cy="228600"/>
          </a:xfrm>
          <a:prstGeom prst="rect">
            <a:avLst/>
          </a:prstGeom>
        </p:spPr>
      </p:pic>
      <p:sp>
        <p:nvSpPr>
          <p:cNvPr id="20" name="Text 15"/>
          <p:cNvSpPr/>
          <p:nvPr/>
        </p:nvSpPr>
        <p:spPr>
          <a:xfrm>
            <a:off x="6288024" y="2194560"/>
            <a:ext cx="2188464" cy="274320"/>
          </a:xfrm>
          <a:prstGeom prst="rect">
            <a:avLst/>
          </a:prstGeom>
          <a:noFill/>
          <a:ln/>
        </p:spPr>
        <p:txBody>
          <a:bodyPr wrap="square" lIns="0" tIns="0" rIns="0" bIns="0" rtlCol="0" anchor="ctr"/>
          <a:lstStyle/>
          <a:p>
            <a:pPr marL="0" indent="0">
              <a:buNone/>
            </a:pPr>
            <a:r>
              <a:rPr lang="en-US" sz="1300" b="1" dirty="0">
                <a:solidFill>
                  <a:srgbClr val="0F2A43"/>
                </a:solidFill>
                <a:latin typeface="Calibri" pitchFamily="34" charset="0"/>
                <a:ea typeface="Calibri" pitchFamily="34" charset="-122"/>
                <a:cs typeface="Calibri" pitchFamily="34" charset="-120"/>
              </a:rPr>
              <a:t>Advisory preview</a:t>
            </a:r>
            <a:endParaRPr lang="en-US" sz="1300" dirty="0"/>
          </a:p>
        </p:txBody>
      </p:sp>
      <p:sp>
        <p:nvSpPr>
          <p:cNvPr id="21" name="Text 16"/>
          <p:cNvSpPr/>
          <p:nvPr/>
        </p:nvSpPr>
        <p:spPr>
          <a:xfrm>
            <a:off x="6288024" y="2450592"/>
            <a:ext cx="2170176" cy="292608"/>
          </a:xfrm>
          <a:prstGeom prst="rect">
            <a:avLst/>
          </a:prstGeom>
          <a:noFill/>
          <a:ln/>
        </p:spPr>
        <p:txBody>
          <a:bodyPr wrap="square" lIns="0" tIns="0" rIns="0" bIns="0" rtlCol="0" anchor="t"/>
          <a:lstStyle/>
          <a:p>
            <a:pPr marL="0" indent="0">
              <a:buNone/>
            </a:pPr>
            <a:r>
              <a:rPr lang="en-US" sz="1000" dirty="0">
                <a:solidFill>
                  <a:srgbClr val="334155"/>
                </a:solidFill>
                <a:latin typeface="Calibri" pitchFamily="34" charset="0"/>
                <a:ea typeface="Calibri" pitchFamily="34" charset="-122"/>
                <a:cs typeface="Calibri" pitchFamily="34" charset="-120"/>
              </a:rPr>
              <a:t>Inspect impact before final approval.</a:t>
            </a:r>
            <a:endParaRPr lang="en-US" sz="1000" dirty="0"/>
          </a:p>
        </p:txBody>
      </p:sp>
      <p:sp>
        <p:nvSpPr>
          <p:cNvPr id="22" name="Shape 17"/>
          <p:cNvSpPr/>
          <p:nvPr/>
        </p:nvSpPr>
        <p:spPr>
          <a:xfrm>
            <a:off x="502920" y="2962656"/>
            <a:ext cx="2554224" cy="1280160"/>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23" name="Text 18"/>
          <p:cNvSpPr/>
          <p:nvPr/>
        </p:nvSpPr>
        <p:spPr>
          <a:xfrm>
            <a:off x="2325624" y="3072384"/>
            <a:ext cx="603504" cy="292608"/>
          </a:xfrm>
          <a:prstGeom prst="rect">
            <a:avLst/>
          </a:prstGeom>
          <a:noFill/>
          <a:ln/>
        </p:spPr>
        <p:txBody>
          <a:bodyPr wrap="square" lIns="0" tIns="0" rIns="0" bIns="0" rtlCol="0" anchor="ctr"/>
          <a:lstStyle/>
          <a:p>
            <a:pPr marL="0" indent="0" algn="r">
              <a:buNone/>
            </a:pPr>
            <a:r>
              <a:rPr lang="en-US" sz="1600" b="1" dirty="0">
                <a:solidFill>
                  <a:srgbClr val="C7D6E2"/>
                </a:solidFill>
                <a:latin typeface="Georgia" pitchFamily="34" charset="0"/>
                <a:ea typeface="Georgia" pitchFamily="34" charset="-122"/>
                <a:cs typeface="Georgia" pitchFamily="34" charset="-120"/>
              </a:rPr>
              <a:t>04</a:t>
            </a:r>
            <a:endParaRPr lang="en-US" sz="1600" dirty="0"/>
          </a:p>
        </p:txBody>
      </p:sp>
      <p:sp>
        <p:nvSpPr>
          <p:cNvPr id="24" name="Shape 19"/>
          <p:cNvSpPr/>
          <p:nvPr/>
        </p:nvSpPr>
        <p:spPr>
          <a:xfrm>
            <a:off x="704088" y="3127248"/>
            <a:ext cx="457200" cy="457200"/>
          </a:xfrm>
          <a:prstGeom prst="ellipse">
            <a:avLst/>
          </a:prstGeom>
          <a:solidFill>
            <a:srgbClr val="E6F4F2"/>
          </a:solidFill>
          <a:ln/>
        </p:spPr>
        <p:txBody>
          <a:bodyPr/>
          <a:lstStyle/>
          <a:p>
            <a:endParaRPr lang="en-US"/>
          </a:p>
        </p:txBody>
      </p:sp>
      <p:pic>
        <p:nvPicPr>
          <p:cNvPr id="25" name="Image 3" descr="preencoded.png"/>
          <p:cNvPicPr>
            <a:picLocks noChangeAspect="1"/>
          </p:cNvPicPr>
          <p:nvPr/>
        </p:nvPicPr>
        <p:blipFill>
          <a:blip r:embed="rId6"/>
          <a:stretch>
            <a:fillRect/>
          </a:stretch>
        </p:blipFill>
        <p:spPr>
          <a:xfrm>
            <a:off x="809244" y="3232404"/>
            <a:ext cx="228600" cy="228600"/>
          </a:xfrm>
          <a:prstGeom prst="rect">
            <a:avLst/>
          </a:prstGeom>
        </p:spPr>
      </p:pic>
      <p:sp>
        <p:nvSpPr>
          <p:cNvPr id="26" name="Text 20"/>
          <p:cNvSpPr/>
          <p:nvPr/>
        </p:nvSpPr>
        <p:spPr>
          <a:xfrm>
            <a:off x="704088" y="3657600"/>
            <a:ext cx="2188464" cy="274320"/>
          </a:xfrm>
          <a:prstGeom prst="rect">
            <a:avLst/>
          </a:prstGeom>
          <a:noFill/>
          <a:ln/>
        </p:spPr>
        <p:txBody>
          <a:bodyPr wrap="square" lIns="0" tIns="0" rIns="0" bIns="0" rtlCol="0" anchor="ctr"/>
          <a:lstStyle/>
          <a:p>
            <a:pPr marL="0" indent="0">
              <a:buNone/>
            </a:pPr>
            <a:r>
              <a:rPr lang="en-US" sz="1300" b="1" dirty="0">
                <a:solidFill>
                  <a:srgbClr val="0F2A43"/>
                </a:solidFill>
                <a:latin typeface="Calibri" pitchFamily="34" charset="0"/>
                <a:ea typeface="Calibri" pitchFamily="34" charset="-122"/>
                <a:cs typeface="Calibri" pitchFamily="34" charset="-120"/>
              </a:rPr>
              <a:t>Gated codegen</a:t>
            </a:r>
            <a:endParaRPr lang="en-US" sz="1300" dirty="0"/>
          </a:p>
        </p:txBody>
      </p:sp>
      <p:sp>
        <p:nvSpPr>
          <p:cNvPr id="27" name="Text 21"/>
          <p:cNvSpPr/>
          <p:nvPr/>
        </p:nvSpPr>
        <p:spPr>
          <a:xfrm>
            <a:off x="704088" y="3913632"/>
            <a:ext cx="2170176" cy="292608"/>
          </a:xfrm>
          <a:prstGeom prst="rect">
            <a:avLst/>
          </a:prstGeom>
          <a:noFill/>
          <a:ln/>
        </p:spPr>
        <p:txBody>
          <a:bodyPr wrap="square" lIns="0" tIns="0" rIns="0" bIns="0" rtlCol="0" anchor="t"/>
          <a:lstStyle/>
          <a:p>
            <a:pPr marL="0" indent="0">
              <a:buNone/>
            </a:pPr>
            <a:r>
              <a:rPr lang="en-US" sz="1000" dirty="0">
                <a:solidFill>
                  <a:srgbClr val="334155"/>
                </a:solidFill>
                <a:latin typeface="Calibri" pitchFamily="34" charset="0"/>
                <a:ea typeface="Calibri" pitchFamily="34" charset="-122"/>
                <a:cs typeface="Calibri" pitchFamily="34" charset="-120"/>
              </a:rPr>
              <a:t>Code &amp; transformation tests gated by approval.</a:t>
            </a:r>
            <a:endParaRPr lang="en-US" sz="1000" dirty="0"/>
          </a:p>
        </p:txBody>
      </p:sp>
      <p:sp>
        <p:nvSpPr>
          <p:cNvPr id="28" name="Shape 22"/>
          <p:cNvSpPr/>
          <p:nvPr/>
        </p:nvSpPr>
        <p:spPr>
          <a:xfrm>
            <a:off x="3294888" y="2962656"/>
            <a:ext cx="2554224" cy="1280160"/>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29" name="Text 23"/>
          <p:cNvSpPr/>
          <p:nvPr/>
        </p:nvSpPr>
        <p:spPr>
          <a:xfrm>
            <a:off x="5117592" y="3072384"/>
            <a:ext cx="603504" cy="292608"/>
          </a:xfrm>
          <a:prstGeom prst="rect">
            <a:avLst/>
          </a:prstGeom>
          <a:noFill/>
          <a:ln/>
        </p:spPr>
        <p:txBody>
          <a:bodyPr wrap="square" lIns="0" tIns="0" rIns="0" bIns="0" rtlCol="0" anchor="ctr"/>
          <a:lstStyle/>
          <a:p>
            <a:pPr marL="0" indent="0" algn="r">
              <a:buNone/>
            </a:pPr>
            <a:r>
              <a:rPr lang="en-US" sz="1600" b="1" dirty="0">
                <a:solidFill>
                  <a:srgbClr val="C7D6E2"/>
                </a:solidFill>
                <a:latin typeface="Georgia" pitchFamily="34" charset="0"/>
                <a:ea typeface="Georgia" pitchFamily="34" charset="-122"/>
                <a:cs typeface="Georgia" pitchFamily="34" charset="-120"/>
              </a:rPr>
              <a:t>05</a:t>
            </a:r>
            <a:endParaRPr lang="en-US" sz="1600" dirty="0"/>
          </a:p>
        </p:txBody>
      </p:sp>
      <p:sp>
        <p:nvSpPr>
          <p:cNvPr id="30" name="Shape 24"/>
          <p:cNvSpPr/>
          <p:nvPr/>
        </p:nvSpPr>
        <p:spPr>
          <a:xfrm>
            <a:off x="3496056" y="3127248"/>
            <a:ext cx="457200" cy="457200"/>
          </a:xfrm>
          <a:prstGeom prst="ellipse">
            <a:avLst/>
          </a:prstGeom>
          <a:solidFill>
            <a:srgbClr val="E6F4F2"/>
          </a:solidFill>
          <a:ln/>
        </p:spPr>
        <p:txBody>
          <a:bodyPr/>
          <a:lstStyle/>
          <a:p>
            <a:endParaRPr lang="en-US"/>
          </a:p>
        </p:txBody>
      </p:sp>
      <p:pic>
        <p:nvPicPr>
          <p:cNvPr id="31" name="Image 4" descr="preencoded.png"/>
          <p:cNvPicPr>
            <a:picLocks noChangeAspect="1"/>
          </p:cNvPicPr>
          <p:nvPr/>
        </p:nvPicPr>
        <p:blipFill>
          <a:blip r:embed="rId7"/>
          <a:stretch>
            <a:fillRect/>
          </a:stretch>
        </p:blipFill>
        <p:spPr>
          <a:xfrm>
            <a:off x="3601212" y="3232404"/>
            <a:ext cx="228600" cy="228600"/>
          </a:xfrm>
          <a:prstGeom prst="rect">
            <a:avLst/>
          </a:prstGeom>
        </p:spPr>
      </p:pic>
      <p:sp>
        <p:nvSpPr>
          <p:cNvPr id="32" name="Text 25"/>
          <p:cNvSpPr/>
          <p:nvPr/>
        </p:nvSpPr>
        <p:spPr>
          <a:xfrm>
            <a:off x="3496056" y="3657600"/>
            <a:ext cx="2188464" cy="274320"/>
          </a:xfrm>
          <a:prstGeom prst="rect">
            <a:avLst/>
          </a:prstGeom>
          <a:noFill/>
          <a:ln/>
        </p:spPr>
        <p:txBody>
          <a:bodyPr wrap="square" lIns="0" tIns="0" rIns="0" bIns="0" rtlCol="0" anchor="ctr"/>
          <a:lstStyle/>
          <a:p>
            <a:pPr marL="0" indent="0">
              <a:buNone/>
            </a:pPr>
            <a:r>
              <a:rPr lang="en-US" sz="1300" b="1" dirty="0">
                <a:solidFill>
                  <a:srgbClr val="0F2A43"/>
                </a:solidFill>
                <a:latin typeface="Calibri" pitchFamily="34" charset="0"/>
                <a:ea typeface="Calibri" pitchFamily="34" charset="-122"/>
                <a:cs typeface="Calibri" pitchFamily="34" charset="-120"/>
              </a:rPr>
              <a:t>Closed-review fixes</a:t>
            </a:r>
            <a:endParaRPr lang="en-US" sz="1300" dirty="0"/>
          </a:p>
        </p:txBody>
      </p:sp>
      <p:sp>
        <p:nvSpPr>
          <p:cNvPr id="33" name="Text 26"/>
          <p:cNvSpPr/>
          <p:nvPr/>
        </p:nvSpPr>
        <p:spPr>
          <a:xfrm>
            <a:off x="3496056" y="3913632"/>
            <a:ext cx="2170176" cy="292608"/>
          </a:xfrm>
          <a:prstGeom prst="rect">
            <a:avLst/>
          </a:prstGeom>
          <a:noFill/>
          <a:ln/>
        </p:spPr>
        <p:txBody>
          <a:bodyPr wrap="square" lIns="0" tIns="0" rIns="0" bIns="0" rtlCol="0" anchor="t"/>
          <a:lstStyle/>
          <a:p>
            <a:pPr marL="0" indent="0">
              <a:buNone/>
            </a:pPr>
            <a:r>
              <a:rPr lang="en-US" sz="1000" dirty="0">
                <a:solidFill>
                  <a:srgbClr val="334155"/>
                </a:solidFill>
                <a:latin typeface="Calibri" pitchFamily="34" charset="0"/>
                <a:ea typeface="Calibri" pitchFamily="34" charset="-122"/>
                <a:cs typeface="Calibri" pitchFamily="34" charset="-120"/>
              </a:rPr>
              <a:t>Only reviewed corrections become durable.</a:t>
            </a:r>
            <a:endParaRPr lang="en-US" sz="1000" dirty="0"/>
          </a:p>
        </p:txBody>
      </p:sp>
      <p:sp>
        <p:nvSpPr>
          <p:cNvPr id="34" name="Shape 27"/>
          <p:cNvSpPr/>
          <p:nvPr/>
        </p:nvSpPr>
        <p:spPr>
          <a:xfrm>
            <a:off x="6086856" y="2962656"/>
            <a:ext cx="2554224" cy="1280160"/>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35" name="Text 28"/>
          <p:cNvSpPr/>
          <p:nvPr/>
        </p:nvSpPr>
        <p:spPr>
          <a:xfrm>
            <a:off x="7909560" y="3072384"/>
            <a:ext cx="603504" cy="292608"/>
          </a:xfrm>
          <a:prstGeom prst="rect">
            <a:avLst/>
          </a:prstGeom>
          <a:noFill/>
          <a:ln/>
        </p:spPr>
        <p:txBody>
          <a:bodyPr wrap="square" lIns="0" tIns="0" rIns="0" bIns="0" rtlCol="0" anchor="ctr"/>
          <a:lstStyle/>
          <a:p>
            <a:pPr marL="0" indent="0" algn="r">
              <a:buNone/>
            </a:pPr>
            <a:r>
              <a:rPr lang="en-US" sz="1600" b="1" dirty="0">
                <a:solidFill>
                  <a:srgbClr val="C7D6E2"/>
                </a:solidFill>
                <a:latin typeface="Georgia" pitchFamily="34" charset="0"/>
                <a:ea typeface="Georgia" pitchFamily="34" charset="-122"/>
                <a:cs typeface="Georgia" pitchFamily="34" charset="-120"/>
              </a:rPr>
              <a:t>06</a:t>
            </a:r>
            <a:endParaRPr lang="en-US" sz="1600" dirty="0"/>
          </a:p>
        </p:txBody>
      </p:sp>
      <p:sp>
        <p:nvSpPr>
          <p:cNvPr id="36" name="Shape 29"/>
          <p:cNvSpPr/>
          <p:nvPr/>
        </p:nvSpPr>
        <p:spPr>
          <a:xfrm>
            <a:off x="6288024" y="3127248"/>
            <a:ext cx="457200" cy="457200"/>
          </a:xfrm>
          <a:prstGeom prst="ellipse">
            <a:avLst/>
          </a:prstGeom>
          <a:solidFill>
            <a:srgbClr val="E6F4F2"/>
          </a:solidFill>
          <a:ln/>
        </p:spPr>
        <p:txBody>
          <a:bodyPr/>
          <a:lstStyle/>
          <a:p>
            <a:endParaRPr lang="en-US"/>
          </a:p>
        </p:txBody>
      </p:sp>
      <p:pic>
        <p:nvPicPr>
          <p:cNvPr id="37" name="Image 5" descr="preencoded.png"/>
          <p:cNvPicPr>
            <a:picLocks noChangeAspect="1"/>
          </p:cNvPicPr>
          <p:nvPr/>
        </p:nvPicPr>
        <p:blipFill>
          <a:blip r:embed="rId8"/>
          <a:stretch>
            <a:fillRect/>
          </a:stretch>
        </p:blipFill>
        <p:spPr>
          <a:xfrm>
            <a:off x="6393180" y="3232404"/>
            <a:ext cx="228600" cy="228600"/>
          </a:xfrm>
          <a:prstGeom prst="rect">
            <a:avLst/>
          </a:prstGeom>
        </p:spPr>
      </p:pic>
      <p:sp>
        <p:nvSpPr>
          <p:cNvPr id="38" name="Text 30"/>
          <p:cNvSpPr/>
          <p:nvPr/>
        </p:nvSpPr>
        <p:spPr>
          <a:xfrm>
            <a:off x="6288024" y="3657600"/>
            <a:ext cx="2188464" cy="274320"/>
          </a:xfrm>
          <a:prstGeom prst="rect">
            <a:avLst/>
          </a:prstGeom>
          <a:noFill/>
          <a:ln/>
        </p:spPr>
        <p:txBody>
          <a:bodyPr wrap="square" lIns="0" tIns="0" rIns="0" bIns="0" rtlCol="0" anchor="ctr"/>
          <a:lstStyle/>
          <a:p>
            <a:pPr marL="0" indent="0">
              <a:buNone/>
            </a:pPr>
            <a:r>
              <a:rPr lang="en-US" sz="1300" b="1" dirty="0">
                <a:solidFill>
                  <a:srgbClr val="0F2A43"/>
                </a:solidFill>
                <a:latin typeface="Calibri" pitchFamily="34" charset="0"/>
                <a:ea typeface="Calibri" pitchFamily="34" charset="-122"/>
                <a:cs typeface="Calibri" pitchFamily="34" charset="-120"/>
              </a:rPr>
              <a:t>First RBAC slice</a:t>
            </a:r>
            <a:endParaRPr lang="en-US" sz="1300" dirty="0"/>
          </a:p>
        </p:txBody>
      </p:sp>
      <p:sp>
        <p:nvSpPr>
          <p:cNvPr id="39" name="Text 31"/>
          <p:cNvSpPr/>
          <p:nvPr/>
        </p:nvSpPr>
        <p:spPr>
          <a:xfrm>
            <a:off x="6288024" y="3913632"/>
            <a:ext cx="2170176" cy="292608"/>
          </a:xfrm>
          <a:prstGeom prst="rect">
            <a:avLst/>
          </a:prstGeom>
          <a:noFill/>
          <a:ln/>
        </p:spPr>
        <p:txBody>
          <a:bodyPr wrap="square" lIns="0" tIns="0" rIns="0" bIns="0" rtlCol="0" anchor="t"/>
          <a:lstStyle/>
          <a:p>
            <a:pPr marL="0" indent="0">
              <a:buNone/>
            </a:pPr>
            <a:r>
              <a:rPr lang="en-US" sz="1000" dirty="0">
                <a:solidFill>
                  <a:srgbClr val="334155"/>
                </a:solidFill>
                <a:latin typeface="Calibri" pitchFamily="34" charset="0"/>
                <a:ea typeface="Calibri" pitchFamily="34" charset="-122"/>
                <a:cs typeface="Calibri" pitchFamily="34" charset="-120"/>
              </a:rPr>
              <a:t>Role-based access for mapping &amp; draft sessions.</a:t>
            </a:r>
            <a:endParaRPr lang="en-US" sz="1000" dirty="0"/>
          </a:p>
        </p:txBody>
      </p:sp>
      <p:sp>
        <p:nvSpPr>
          <p:cNvPr id="40" name="Shape 32"/>
          <p:cNvSpPr/>
          <p:nvPr/>
        </p:nvSpPr>
        <p:spPr>
          <a:xfrm>
            <a:off x="502920" y="4718304"/>
            <a:ext cx="8138160" cy="0"/>
          </a:xfrm>
          <a:prstGeom prst="line">
            <a:avLst/>
          </a:prstGeom>
          <a:noFill/>
          <a:ln w="12700">
            <a:solidFill>
              <a:srgbClr val="DCE5EE"/>
            </a:solidFill>
            <a:prstDash val="solid"/>
          </a:ln>
        </p:spPr>
        <p:txBody>
          <a:bodyPr/>
          <a:lstStyle/>
          <a:p>
            <a:endParaRPr lang="en-US"/>
          </a:p>
        </p:txBody>
      </p:sp>
      <p:sp>
        <p:nvSpPr>
          <p:cNvPr id="41" name="Shape 33"/>
          <p:cNvSpPr/>
          <p:nvPr/>
        </p:nvSpPr>
        <p:spPr>
          <a:xfrm>
            <a:off x="502920" y="4846320"/>
            <a:ext cx="73152" cy="73152"/>
          </a:xfrm>
          <a:prstGeom prst="ellipse">
            <a:avLst/>
          </a:prstGeom>
          <a:solidFill>
            <a:srgbClr val="0D9488"/>
          </a:solidFill>
          <a:ln/>
        </p:spPr>
        <p:txBody>
          <a:bodyPr/>
          <a:lstStyle/>
          <a:p>
            <a:endParaRPr lang="en-US"/>
          </a:p>
        </p:txBody>
      </p:sp>
      <p:sp>
        <p:nvSpPr>
          <p:cNvPr id="42" name="Text 34"/>
          <p:cNvSpPr/>
          <p:nvPr/>
        </p:nvSpPr>
        <p:spPr>
          <a:xfrm>
            <a:off x="649224" y="4764024"/>
            <a:ext cx="2743200" cy="237744"/>
          </a:xfrm>
          <a:prstGeom prst="rect">
            <a:avLst/>
          </a:prstGeom>
          <a:noFill/>
          <a:ln/>
        </p:spPr>
        <p:txBody>
          <a:bodyPr wrap="square" lIns="0" tIns="0" rIns="0" bIns="0" rtlCol="0" anchor="ctr"/>
          <a:lstStyle/>
          <a:p>
            <a:pPr marL="0" indent="0">
              <a:buNone/>
            </a:pPr>
            <a:r>
              <a:rPr lang="en-US" sz="950" b="1" kern="0" spc="200" dirty="0">
                <a:solidFill>
                  <a:srgbClr val="64748B"/>
                </a:solidFill>
                <a:latin typeface="Calibri" pitchFamily="34" charset="0"/>
                <a:ea typeface="Calibri" pitchFamily="34" charset="-122"/>
                <a:cs typeface="Calibri" pitchFamily="34" charset="-120"/>
              </a:rPr>
              <a:t>SEMANTRA</a:t>
            </a:r>
            <a:endParaRPr lang="en-US" sz="950" dirty="0"/>
          </a:p>
        </p:txBody>
      </p:sp>
      <p:sp>
        <p:nvSpPr>
          <p:cNvPr id="43" name="Text 35"/>
          <p:cNvSpPr/>
          <p:nvPr/>
        </p:nvSpPr>
        <p:spPr>
          <a:xfrm>
            <a:off x="4800600" y="4764024"/>
            <a:ext cx="2834640" cy="237744"/>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PMO SERVICE • EA–DA BRIDGE</a:t>
            </a:r>
            <a:endParaRPr lang="en-US" sz="900" dirty="0"/>
          </a:p>
        </p:txBody>
      </p:sp>
      <p:sp>
        <p:nvSpPr>
          <p:cNvPr id="44" name="Text 36"/>
          <p:cNvSpPr/>
          <p:nvPr/>
        </p:nvSpPr>
        <p:spPr>
          <a:xfrm>
            <a:off x="7726680" y="4764024"/>
            <a:ext cx="914400" cy="237744"/>
          </a:xfrm>
          <a:prstGeom prst="rect">
            <a:avLst/>
          </a:prstGeom>
          <a:noFill/>
          <a:ln/>
        </p:spPr>
        <p:txBody>
          <a:bodyPr wrap="square" lIns="0" tIns="0" rIns="0" bIns="0" rtlCol="0" anchor="ctr"/>
          <a:lstStyle/>
          <a:p>
            <a:pPr marL="0" indent="0" algn="r">
              <a:buNone/>
            </a:pPr>
            <a:r>
              <a:rPr lang="en-US" sz="950" b="1" dirty="0">
                <a:solidFill>
                  <a:srgbClr val="0D9488"/>
                </a:solidFill>
                <a:latin typeface="Calibri" pitchFamily="34" charset="0"/>
                <a:ea typeface="Calibri" pitchFamily="34" charset="-122"/>
                <a:cs typeface="Calibri" pitchFamily="34" charset="-120"/>
              </a:rPr>
              <a:t>10 / 18</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8138160" cy="274320"/>
          </a:xfrm>
          <a:prstGeom prst="rect">
            <a:avLst/>
          </a:prstGeom>
          <a:noFill/>
          <a:ln/>
        </p:spPr>
        <p:txBody>
          <a:bodyPr wrap="square" lIns="0" tIns="0" rIns="0" bIns="0" rtlCol="0" anchor="ctr"/>
          <a:lstStyle/>
          <a:p>
            <a:pPr marL="0" indent="0" algn="l">
              <a:buNone/>
            </a:pPr>
            <a:r>
              <a:rPr lang="en-US" sz="1150" b="1" kern="0" spc="200" dirty="0">
                <a:solidFill>
                  <a:srgbClr val="0D9488"/>
                </a:solidFill>
                <a:latin typeface="Calibri" pitchFamily="34" charset="0"/>
                <a:ea typeface="Calibri" pitchFamily="34" charset="-122"/>
                <a:cs typeface="Calibri" pitchFamily="34" charset="-120"/>
              </a:rPr>
              <a:t>CATALOG</a:t>
            </a:r>
            <a:endParaRPr lang="en-US" sz="1150" dirty="0"/>
          </a:p>
        </p:txBody>
      </p:sp>
      <p:sp>
        <p:nvSpPr>
          <p:cNvPr id="3" name="Text 1"/>
          <p:cNvSpPr/>
          <p:nvPr/>
        </p:nvSpPr>
        <p:spPr>
          <a:xfrm>
            <a:off x="502920" y="585216"/>
            <a:ext cx="8138160" cy="749808"/>
          </a:xfrm>
          <a:prstGeom prst="rect">
            <a:avLst/>
          </a:prstGeom>
          <a:noFill/>
          <a:ln/>
        </p:spPr>
        <p:txBody>
          <a:bodyPr wrap="square" lIns="0" tIns="0" rIns="0" bIns="0" rtlCol="0" anchor="t"/>
          <a:lstStyle/>
          <a:p>
            <a:pPr marL="0" indent="0" algn="l">
              <a:buNone/>
            </a:pPr>
            <a:r>
              <a:rPr lang="en-US" sz="2700" b="1" dirty="0">
                <a:solidFill>
                  <a:srgbClr val="0F2A43"/>
                </a:solidFill>
                <a:latin typeface="Georgia" pitchFamily="34" charset="0"/>
                <a:ea typeface="Georgia" pitchFamily="34" charset="-122"/>
                <a:cs typeface="Georgia" pitchFamily="34" charset="-120"/>
              </a:rPr>
              <a:t>A reusable memory layer for the PMO</a:t>
            </a:r>
            <a:endParaRPr lang="en-US" sz="2700" dirty="0"/>
          </a:p>
        </p:txBody>
      </p:sp>
      <p:sp>
        <p:nvSpPr>
          <p:cNvPr id="4" name="Shape 2"/>
          <p:cNvSpPr/>
          <p:nvPr/>
        </p:nvSpPr>
        <p:spPr>
          <a:xfrm>
            <a:off x="502920" y="1517904"/>
            <a:ext cx="2743200" cy="2651760"/>
          </a:xfrm>
          <a:prstGeom prst="rect">
            <a:avLst/>
          </a:prstGeom>
          <a:solidFill>
            <a:srgbClr val="0F2A43"/>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554480" y="1828800"/>
            <a:ext cx="640080" cy="640080"/>
          </a:xfrm>
          <a:prstGeom prst="rect">
            <a:avLst/>
          </a:prstGeom>
        </p:spPr>
      </p:pic>
      <p:sp>
        <p:nvSpPr>
          <p:cNvPr id="6" name="Text 3"/>
          <p:cNvSpPr/>
          <p:nvPr/>
        </p:nvSpPr>
        <p:spPr>
          <a:xfrm>
            <a:off x="685800" y="2606040"/>
            <a:ext cx="2377440" cy="36576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Reusable memory</a:t>
            </a:r>
            <a:endParaRPr lang="en-US" sz="1800" dirty="0"/>
          </a:p>
        </p:txBody>
      </p:sp>
      <p:sp>
        <p:nvSpPr>
          <p:cNvPr id="7" name="Text 4"/>
          <p:cNvSpPr/>
          <p:nvPr/>
        </p:nvSpPr>
        <p:spPr>
          <a:xfrm>
            <a:off x="731520" y="3035808"/>
            <a:ext cx="2286000" cy="914400"/>
          </a:xfrm>
          <a:prstGeom prst="rect">
            <a:avLst/>
          </a:prstGeom>
          <a:noFill/>
          <a:ln/>
        </p:spPr>
        <p:txBody>
          <a:bodyPr wrap="square" lIns="0" tIns="0" rIns="0" bIns="0" rtlCol="0" anchor="ctr"/>
          <a:lstStyle/>
          <a:p>
            <a:pPr marL="0" indent="0" algn="ctr">
              <a:lnSpc>
                <a:spcPct val="115000"/>
              </a:lnSpc>
              <a:buNone/>
            </a:pPr>
            <a:r>
              <a:rPr lang="en-US" sz="1150" dirty="0">
                <a:solidFill>
                  <a:srgbClr val="AEC2D4"/>
                </a:solidFill>
                <a:latin typeface="Calibri" pitchFamily="34" charset="0"/>
                <a:ea typeface="Calibri" pitchFamily="34" charset="-122"/>
                <a:cs typeface="Calibri" pitchFamily="34" charset="-120"/>
              </a:rPr>
              <a:t>Every approved mapping feeds the service catalog and MDM governance records.</a:t>
            </a:r>
            <a:endParaRPr lang="en-US" sz="1150" dirty="0"/>
          </a:p>
        </p:txBody>
      </p:sp>
      <p:sp>
        <p:nvSpPr>
          <p:cNvPr id="8" name="Shape 5"/>
          <p:cNvSpPr/>
          <p:nvPr/>
        </p:nvSpPr>
        <p:spPr>
          <a:xfrm>
            <a:off x="3520440" y="1554480"/>
            <a:ext cx="5120640" cy="457200"/>
          </a:xfrm>
          <a:prstGeom prst="rect">
            <a:avLst/>
          </a:prstGeom>
          <a:solidFill>
            <a:srgbClr val="F4F7FA"/>
          </a:solidFill>
          <a:ln w="12700">
            <a:solidFill>
              <a:srgbClr val="DCE5EE"/>
            </a:solidFill>
            <a:prstDash val="solid"/>
          </a:ln>
        </p:spPr>
        <p:txBody>
          <a:bodyPr/>
          <a:lstStyle/>
          <a:p>
            <a:endParaRPr lang="en-US"/>
          </a:p>
        </p:txBody>
      </p:sp>
      <p:pic>
        <p:nvPicPr>
          <p:cNvPr id="9" name="Image 1" descr="preencoded.png"/>
          <p:cNvPicPr>
            <a:picLocks noChangeAspect="1"/>
          </p:cNvPicPr>
          <p:nvPr/>
        </p:nvPicPr>
        <p:blipFill>
          <a:blip r:embed="rId4"/>
          <a:stretch>
            <a:fillRect/>
          </a:stretch>
        </p:blipFill>
        <p:spPr>
          <a:xfrm>
            <a:off x="3666744" y="1673352"/>
            <a:ext cx="219456" cy="219456"/>
          </a:xfrm>
          <a:prstGeom prst="rect">
            <a:avLst/>
          </a:prstGeom>
        </p:spPr>
      </p:pic>
      <p:sp>
        <p:nvSpPr>
          <p:cNvPr id="10" name="Text 6"/>
          <p:cNvSpPr/>
          <p:nvPr/>
        </p:nvSpPr>
        <p:spPr>
          <a:xfrm>
            <a:off x="3995928" y="1554480"/>
            <a:ext cx="4526280" cy="457200"/>
          </a:xfrm>
          <a:prstGeom prst="rect">
            <a:avLst/>
          </a:prstGeom>
          <a:noFill/>
          <a:ln/>
        </p:spPr>
        <p:txBody>
          <a:bodyPr wrap="square" lIns="0" tIns="0" rIns="0" bIns="0" rtlCol="0" anchor="ctr"/>
          <a:lstStyle/>
          <a:p>
            <a:pPr marL="0" indent="0">
              <a:buNone/>
            </a:pPr>
            <a:r>
              <a:rPr lang="en-US" sz="1250" b="1" dirty="0">
                <a:solidFill>
                  <a:srgbClr val="0F2A43"/>
                </a:solidFill>
                <a:latin typeface="Calibri" pitchFamily="34" charset="0"/>
                <a:ea typeface="Calibri" pitchFamily="34" charset="-122"/>
                <a:cs typeface="Calibri" pitchFamily="34" charset="-120"/>
              </a:rPr>
              <a:t>Integration listing &amp; search</a:t>
            </a:r>
            <a:endParaRPr lang="en-US" sz="1250" dirty="0"/>
          </a:p>
        </p:txBody>
      </p:sp>
      <p:sp>
        <p:nvSpPr>
          <p:cNvPr id="11" name="Shape 7"/>
          <p:cNvSpPr/>
          <p:nvPr/>
        </p:nvSpPr>
        <p:spPr>
          <a:xfrm>
            <a:off x="3520440" y="2080260"/>
            <a:ext cx="5120640" cy="457200"/>
          </a:xfrm>
          <a:prstGeom prst="rect">
            <a:avLst/>
          </a:prstGeom>
          <a:solidFill>
            <a:srgbClr val="EEF3F8"/>
          </a:solidFill>
          <a:ln w="12700">
            <a:solidFill>
              <a:srgbClr val="DCE5EE"/>
            </a:solidFill>
            <a:prstDash val="solid"/>
          </a:ln>
        </p:spPr>
        <p:txBody>
          <a:bodyPr/>
          <a:lstStyle/>
          <a:p>
            <a:endParaRPr lang="en-US"/>
          </a:p>
        </p:txBody>
      </p:sp>
      <p:pic>
        <p:nvPicPr>
          <p:cNvPr id="12" name="Image 2" descr="preencoded.png"/>
          <p:cNvPicPr>
            <a:picLocks noChangeAspect="1"/>
          </p:cNvPicPr>
          <p:nvPr/>
        </p:nvPicPr>
        <p:blipFill>
          <a:blip r:embed="rId5"/>
          <a:stretch>
            <a:fillRect/>
          </a:stretch>
        </p:blipFill>
        <p:spPr>
          <a:xfrm>
            <a:off x="3666744" y="2199132"/>
            <a:ext cx="219456" cy="219456"/>
          </a:xfrm>
          <a:prstGeom prst="rect">
            <a:avLst/>
          </a:prstGeom>
        </p:spPr>
      </p:pic>
      <p:sp>
        <p:nvSpPr>
          <p:cNvPr id="13" name="Text 8"/>
          <p:cNvSpPr/>
          <p:nvPr/>
        </p:nvSpPr>
        <p:spPr>
          <a:xfrm>
            <a:off x="3995928" y="2080260"/>
            <a:ext cx="4526280" cy="457200"/>
          </a:xfrm>
          <a:prstGeom prst="rect">
            <a:avLst/>
          </a:prstGeom>
          <a:noFill/>
          <a:ln/>
        </p:spPr>
        <p:txBody>
          <a:bodyPr wrap="square" lIns="0" tIns="0" rIns="0" bIns="0" rtlCol="0" anchor="ctr"/>
          <a:lstStyle/>
          <a:p>
            <a:pPr marL="0" indent="0">
              <a:buNone/>
            </a:pPr>
            <a:r>
              <a:rPr lang="en-US" sz="1250" b="1" dirty="0">
                <a:solidFill>
                  <a:srgbClr val="0F2A43"/>
                </a:solidFill>
                <a:latin typeface="Calibri" pitchFamily="34" charset="0"/>
                <a:ea typeface="Calibri" pitchFamily="34" charset="-122"/>
                <a:cs typeface="Calibri" pitchFamily="34" charset="-120"/>
              </a:rPr>
              <a:t>Concept-centric detail views</a:t>
            </a:r>
            <a:endParaRPr lang="en-US" sz="1250" dirty="0"/>
          </a:p>
        </p:txBody>
      </p:sp>
      <p:sp>
        <p:nvSpPr>
          <p:cNvPr id="14" name="Shape 9"/>
          <p:cNvSpPr/>
          <p:nvPr/>
        </p:nvSpPr>
        <p:spPr>
          <a:xfrm>
            <a:off x="3520440" y="2606040"/>
            <a:ext cx="5120640" cy="457200"/>
          </a:xfrm>
          <a:prstGeom prst="rect">
            <a:avLst/>
          </a:prstGeom>
          <a:solidFill>
            <a:srgbClr val="F4F7FA"/>
          </a:solidFill>
          <a:ln w="12700">
            <a:solidFill>
              <a:srgbClr val="DCE5EE"/>
            </a:solidFill>
            <a:prstDash val="solid"/>
          </a:ln>
        </p:spPr>
        <p:txBody>
          <a:bodyPr/>
          <a:lstStyle/>
          <a:p>
            <a:endParaRPr lang="en-US"/>
          </a:p>
        </p:txBody>
      </p:sp>
      <p:pic>
        <p:nvPicPr>
          <p:cNvPr id="15" name="Image 3" descr="preencoded.png"/>
          <p:cNvPicPr>
            <a:picLocks noChangeAspect="1"/>
          </p:cNvPicPr>
          <p:nvPr/>
        </p:nvPicPr>
        <p:blipFill>
          <a:blip r:embed="rId6"/>
          <a:stretch>
            <a:fillRect/>
          </a:stretch>
        </p:blipFill>
        <p:spPr>
          <a:xfrm>
            <a:off x="3666744" y="2724912"/>
            <a:ext cx="219456" cy="219456"/>
          </a:xfrm>
          <a:prstGeom prst="rect">
            <a:avLst/>
          </a:prstGeom>
        </p:spPr>
      </p:pic>
      <p:sp>
        <p:nvSpPr>
          <p:cNvPr id="16" name="Text 10"/>
          <p:cNvSpPr/>
          <p:nvPr/>
        </p:nvSpPr>
        <p:spPr>
          <a:xfrm>
            <a:off x="3995928" y="2606040"/>
            <a:ext cx="4526280" cy="457200"/>
          </a:xfrm>
          <a:prstGeom prst="rect">
            <a:avLst/>
          </a:prstGeom>
          <a:noFill/>
          <a:ln/>
        </p:spPr>
        <p:txBody>
          <a:bodyPr wrap="square" lIns="0" tIns="0" rIns="0" bIns="0" rtlCol="0" anchor="ctr"/>
          <a:lstStyle/>
          <a:p>
            <a:pPr marL="0" indent="0">
              <a:buNone/>
            </a:pPr>
            <a:r>
              <a:rPr lang="en-US" sz="1250" b="1" dirty="0">
                <a:solidFill>
                  <a:srgbClr val="0F2A43"/>
                </a:solidFill>
                <a:latin typeface="Calibri" pitchFamily="34" charset="0"/>
                <a:ea typeface="Calibri" pitchFamily="34" charset="-122"/>
                <a:cs typeface="Calibri" pitchFamily="34" charset="-120"/>
              </a:rPr>
              <a:t>Similar-integration discovery</a:t>
            </a:r>
            <a:endParaRPr lang="en-US" sz="1250" dirty="0"/>
          </a:p>
        </p:txBody>
      </p:sp>
      <p:sp>
        <p:nvSpPr>
          <p:cNvPr id="17" name="Shape 11"/>
          <p:cNvSpPr/>
          <p:nvPr/>
        </p:nvSpPr>
        <p:spPr>
          <a:xfrm>
            <a:off x="3520440" y="3131820"/>
            <a:ext cx="5120640" cy="457200"/>
          </a:xfrm>
          <a:prstGeom prst="rect">
            <a:avLst/>
          </a:prstGeom>
          <a:solidFill>
            <a:srgbClr val="EEF3F8"/>
          </a:solidFill>
          <a:ln w="12700">
            <a:solidFill>
              <a:srgbClr val="DCE5EE"/>
            </a:solidFill>
            <a:prstDash val="solid"/>
          </a:ln>
        </p:spPr>
        <p:txBody>
          <a:bodyPr/>
          <a:lstStyle/>
          <a:p>
            <a:endParaRPr lang="en-US"/>
          </a:p>
        </p:txBody>
      </p:sp>
      <p:pic>
        <p:nvPicPr>
          <p:cNvPr id="18" name="Image 4" descr="preencoded.png"/>
          <p:cNvPicPr>
            <a:picLocks noChangeAspect="1"/>
          </p:cNvPicPr>
          <p:nvPr/>
        </p:nvPicPr>
        <p:blipFill>
          <a:blip r:embed="rId7"/>
          <a:stretch>
            <a:fillRect/>
          </a:stretch>
        </p:blipFill>
        <p:spPr>
          <a:xfrm>
            <a:off x="3666744" y="3250692"/>
            <a:ext cx="219456" cy="219456"/>
          </a:xfrm>
          <a:prstGeom prst="rect">
            <a:avLst/>
          </a:prstGeom>
        </p:spPr>
      </p:pic>
      <p:sp>
        <p:nvSpPr>
          <p:cNvPr id="19" name="Text 12"/>
          <p:cNvSpPr/>
          <p:nvPr/>
        </p:nvSpPr>
        <p:spPr>
          <a:xfrm>
            <a:off x="3995928" y="3131820"/>
            <a:ext cx="4526280" cy="457200"/>
          </a:xfrm>
          <a:prstGeom prst="rect">
            <a:avLst/>
          </a:prstGeom>
          <a:noFill/>
          <a:ln/>
        </p:spPr>
        <p:txBody>
          <a:bodyPr wrap="square" lIns="0" tIns="0" rIns="0" bIns="0" rtlCol="0" anchor="ctr"/>
          <a:lstStyle/>
          <a:p>
            <a:pPr marL="0" indent="0">
              <a:buNone/>
            </a:pPr>
            <a:r>
              <a:rPr lang="en-US" sz="1250" b="1" dirty="0">
                <a:solidFill>
                  <a:srgbClr val="0F2A43"/>
                </a:solidFill>
                <a:latin typeface="Calibri" pitchFamily="34" charset="0"/>
                <a:ea typeface="Calibri" pitchFamily="34" charset="-122"/>
                <a:cs typeface="Calibri" pitchFamily="34" charset="-120"/>
              </a:rPr>
              <a:t>Approved artifact reuse into Workspace</a:t>
            </a:r>
            <a:endParaRPr lang="en-US" sz="1250" dirty="0"/>
          </a:p>
        </p:txBody>
      </p:sp>
      <p:sp>
        <p:nvSpPr>
          <p:cNvPr id="20" name="Shape 13"/>
          <p:cNvSpPr/>
          <p:nvPr/>
        </p:nvSpPr>
        <p:spPr>
          <a:xfrm>
            <a:off x="3520440" y="3657600"/>
            <a:ext cx="5120640" cy="457200"/>
          </a:xfrm>
          <a:prstGeom prst="rect">
            <a:avLst/>
          </a:prstGeom>
          <a:solidFill>
            <a:srgbClr val="F4F7FA"/>
          </a:solidFill>
          <a:ln w="12700">
            <a:solidFill>
              <a:srgbClr val="DCE5EE"/>
            </a:solidFill>
            <a:prstDash val="solid"/>
          </a:ln>
        </p:spPr>
        <p:txBody>
          <a:bodyPr/>
          <a:lstStyle/>
          <a:p>
            <a:endParaRPr lang="en-US"/>
          </a:p>
        </p:txBody>
      </p:sp>
      <p:pic>
        <p:nvPicPr>
          <p:cNvPr id="21" name="Image 5" descr="preencoded.png"/>
          <p:cNvPicPr>
            <a:picLocks noChangeAspect="1"/>
          </p:cNvPicPr>
          <p:nvPr/>
        </p:nvPicPr>
        <p:blipFill>
          <a:blip r:embed="rId8"/>
          <a:stretch>
            <a:fillRect/>
          </a:stretch>
        </p:blipFill>
        <p:spPr>
          <a:xfrm>
            <a:off x="3666744" y="3776472"/>
            <a:ext cx="219456" cy="219456"/>
          </a:xfrm>
          <a:prstGeom prst="rect">
            <a:avLst/>
          </a:prstGeom>
        </p:spPr>
      </p:pic>
      <p:sp>
        <p:nvSpPr>
          <p:cNvPr id="22" name="Text 14"/>
          <p:cNvSpPr/>
          <p:nvPr/>
        </p:nvSpPr>
        <p:spPr>
          <a:xfrm>
            <a:off x="3995928" y="3657600"/>
            <a:ext cx="4526280" cy="457200"/>
          </a:xfrm>
          <a:prstGeom prst="rect">
            <a:avLst/>
          </a:prstGeom>
          <a:noFill/>
          <a:ln/>
        </p:spPr>
        <p:txBody>
          <a:bodyPr wrap="square" lIns="0" tIns="0" rIns="0" bIns="0" rtlCol="0" anchor="ctr"/>
          <a:lstStyle/>
          <a:p>
            <a:pPr marL="0" indent="0">
              <a:buNone/>
            </a:pPr>
            <a:r>
              <a:rPr lang="en-US" sz="1250" b="1" dirty="0">
                <a:solidFill>
                  <a:srgbClr val="0F2A43"/>
                </a:solidFill>
                <a:latin typeface="Calibri" pitchFamily="34" charset="0"/>
                <a:ea typeface="Calibri" pitchFamily="34" charset="-122"/>
                <a:cs typeface="Calibri" pitchFamily="34" charset="-120"/>
              </a:rPr>
              <a:t>Standard &amp; canonical-only saved artifacts</a:t>
            </a:r>
            <a:endParaRPr lang="en-US" sz="1250" dirty="0"/>
          </a:p>
        </p:txBody>
      </p:sp>
      <p:sp>
        <p:nvSpPr>
          <p:cNvPr id="23" name="Shape 15"/>
          <p:cNvSpPr/>
          <p:nvPr/>
        </p:nvSpPr>
        <p:spPr>
          <a:xfrm>
            <a:off x="502920" y="4718304"/>
            <a:ext cx="8138160" cy="0"/>
          </a:xfrm>
          <a:prstGeom prst="line">
            <a:avLst/>
          </a:prstGeom>
          <a:noFill/>
          <a:ln w="12700">
            <a:solidFill>
              <a:srgbClr val="DCE5EE"/>
            </a:solidFill>
            <a:prstDash val="solid"/>
          </a:ln>
        </p:spPr>
        <p:txBody>
          <a:bodyPr/>
          <a:lstStyle/>
          <a:p>
            <a:endParaRPr lang="en-US"/>
          </a:p>
        </p:txBody>
      </p:sp>
      <p:sp>
        <p:nvSpPr>
          <p:cNvPr id="24" name="Shape 16"/>
          <p:cNvSpPr/>
          <p:nvPr/>
        </p:nvSpPr>
        <p:spPr>
          <a:xfrm>
            <a:off x="502920" y="4846320"/>
            <a:ext cx="73152" cy="73152"/>
          </a:xfrm>
          <a:prstGeom prst="ellipse">
            <a:avLst/>
          </a:prstGeom>
          <a:solidFill>
            <a:srgbClr val="0D9488"/>
          </a:solidFill>
          <a:ln/>
        </p:spPr>
        <p:txBody>
          <a:bodyPr/>
          <a:lstStyle/>
          <a:p>
            <a:endParaRPr lang="en-US"/>
          </a:p>
        </p:txBody>
      </p:sp>
      <p:sp>
        <p:nvSpPr>
          <p:cNvPr id="25" name="Text 17"/>
          <p:cNvSpPr/>
          <p:nvPr/>
        </p:nvSpPr>
        <p:spPr>
          <a:xfrm>
            <a:off x="649224" y="4764024"/>
            <a:ext cx="2743200" cy="237744"/>
          </a:xfrm>
          <a:prstGeom prst="rect">
            <a:avLst/>
          </a:prstGeom>
          <a:noFill/>
          <a:ln/>
        </p:spPr>
        <p:txBody>
          <a:bodyPr wrap="square" lIns="0" tIns="0" rIns="0" bIns="0" rtlCol="0" anchor="ctr"/>
          <a:lstStyle/>
          <a:p>
            <a:pPr marL="0" indent="0">
              <a:buNone/>
            </a:pPr>
            <a:r>
              <a:rPr lang="en-US" sz="950" b="1" kern="0" spc="200" dirty="0">
                <a:solidFill>
                  <a:srgbClr val="64748B"/>
                </a:solidFill>
                <a:latin typeface="Calibri" pitchFamily="34" charset="0"/>
                <a:ea typeface="Calibri" pitchFamily="34" charset="-122"/>
                <a:cs typeface="Calibri" pitchFamily="34" charset="-120"/>
              </a:rPr>
              <a:t>SEMANTRA</a:t>
            </a:r>
            <a:endParaRPr lang="en-US" sz="950" dirty="0"/>
          </a:p>
        </p:txBody>
      </p:sp>
      <p:sp>
        <p:nvSpPr>
          <p:cNvPr id="26" name="Text 18"/>
          <p:cNvSpPr/>
          <p:nvPr/>
        </p:nvSpPr>
        <p:spPr>
          <a:xfrm>
            <a:off x="4800600" y="4764024"/>
            <a:ext cx="2834640" cy="237744"/>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PMO SERVICE • EA–DA BRIDGE</a:t>
            </a:r>
            <a:endParaRPr lang="en-US" sz="900" dirty="0"/>
          </a:p>
        </p:txBody>
      </p:sp>
      <p:sp>
        <p:nvSpPr>
          <p:cNvPr id="27" name="Text 19"/>
          <p:cNvSpPr/>
          <p:nvPr/>
        </p:nvSpPr>
        <p:spPr>
          <a:xfrm>
            <a:off x="7726680" y="4764024"/>
            <a:ext cx="914400" cy="237744"/>
          </a:xfrm>
          <a:prstGeom prst="rect">
            <a:avLst/>
          </a:prstGeom>
          <a:noFill/>
          <a:ln/>
        </p:spPr>
        <p:txBody>
          <a:bodyPr wrap="square" lIns="0" tIns="0" rIns="0" bIns="0" rtlCol="0" anchor="ctr"/>
          <a:lstStyle/>
          <a:p>
            <a:pPr marL="0" indent="0" algn="r">
              <a:buNone/>
            </a:pPr>
            <a:r>
              <a:rPr lang="en-US" sz="950" b="1" dirty="0">
                <a:solidFill>
                  <a:srgbClr val="0D9488"/>
                </a:solidFill>
                <a:latin typeface="Calibri" pitchFamily="34" charset="0"/>
                <a:ea typeface="Calibri" pitchFamily="34" charset="-122"/>
                <a:cs typeface="Calibri" pitchFamily="34" charset="-120"/>
              </a:rPr>
              <a:t>11 / 18</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8138160" cy="274320"/>
          </a:xfrm>
          <a:prstGeom prst="rect">
            <a:avLst/>
          </a:prstGeom>
          <a:noFill/>
          <a:ln/>
        </p:spPr>
        <p:txBody>
          <a:bodyPr wrap="square" lIns="0" tIns="0" rIns="0" bIns="0" rtlCol="0" anchor="ctr"/>
          <a:lstStyle/>
          <a:p>
            <a:pPr marL="0" indent="0" algn="l">
              <a:buNone/>
            </a:pPr>
            <a:r>
              <a:rPr lang="en-US" sz="1150" b="1" kern="0" spc="200" dirty="0">
                <a:solidFill>
                  <a:srgbClr val="0D9488"/>
                </a:solidFill>
                <a:latin typeface="Calibri" pitchFamily="34" charset="0"/>
                <a:ea typeface="Calibri" pitchFamily="34" charset="-122"/>
                <a:cs typeface="Calibri" pitchFamily="34" charset="-120"/>
              </a:rPr>
              <a:t>QUALITY &amp; LEARNING</a:t>
            </a:r>
            <a:endParaRPr lang="en-US" sz="1150" dirty="0"/>
          </a:p>
        </p:txBody>
      </p:sp>
      <p:sp>
        <p:nvSpPr>
          <p:cNvPr id="3" name="Text 1"/>
          <p:cNvSpPr/>
          <p:nvPr/>
        </p:nvSpPr>
        <p:spPr>
          <a:xfrm>
            <a:off x="502920" y="585216"/>
            <a:ext cx="8138160" cy="749808"/>
          </a:xfrm>
          <a:prstGeom prst="rect">
            <a:avLst/>
          </a:prstGeom>
          <a:noFill/>
          <a:ln/>
        </p:spPr>
        <p:txBody>
          <a:bodyPr wrap="square" lIns="0" tIns="0" rIns="0" bIns="0" rtlCol="0" anchor="t"/>
          <a:lstStyle/>
          <a:p>
            <a:pPr marL="0" indent="0" algn="l">
              <a:buNone/>
            </a:pPr>
            <a:r>
              <a:rPr lang="en-US" sz="2700" b="1" dirty="0">
                <a:solidFill>
                  <a:srgbClr val="0F2A43"/>
                </a:solidFill>
                <a:latin typeface="Georgia" pitchFamily="34" charset="0"/>
                <a:ea typeface="Georgia" pitchFamily="34" charset="-122"/>
                <a:cs typeface="Georgia" pitchFamily="34" charset="-120"/>
              </a:rPr>
              <a:t>Mapping quality is measured, not assumed</a:t>
            </a:r>
            <a:endParaRPr lang="en-US" sz="2700" dirty="0"/>
          </a:p>
        </p:txBody>
      </p:sp>
      <p:sp>
        <p:nvSpPr>
          <p:cNvPr id="4" name="Shape 2"/>
          <p:cNvSpPr/>
          <p:nvPr/>
        </p:nvSpPr>
        <p:spPr>
          <a:xfrm>
            <a:off x="502920" y="1554480"/>
            <a:ext cx="1869948" cy="1783080"/>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5" name="Shape 3"/>
          <p:cNvSpPr/>
          <p:nvPr/>
        </p:nvSpPr>
        <p:spPr>
          <a:xfrm>
            <a:off x="502920" y="1554480"/>
            <a:ext cx="1869948" cy="64008"/>
          </a:xfrm>
          <a:prstGeom prst="rect">
            <a:avLst/>
          </a:prstGeom>
          <a:solidFill>
            <a:srgbClr val="0D9488"/>
          </a:solidFill>
          <a:ln/>
        </p:spPr>
        <p:txBody>
          <a:bodyPr/>
          <a:lstStyle/>
          <a:p>
            <a:endParaRPr lang="en-US"/>
          </a:p>
        </p:txBody>
      </p:sp>
      <p:sp>
        <p:nvSpPr>
          <p:cNvPr id="6" name="Shape 4"/>
          <p:cNvSpPr/>
          <p:nvPr/>
        </p:nvSpPr>
        <p:spPr>
          <a:xfrm>
            <a:off x="1126998" y="1828800"/>
            <a:ext cx="621792" cy="621792"/>
          </a:xfrm>
          <a:prstGeom prst="ellipse">
            <a:avLst/>
          </a:prstGeom>
          <a:solidFill>
            <a:srgbClr val="0F2A43"/>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255014" y="1956816"/>
            <a:ext cx="365760" cy="365760"/>
          </a:xfrm>
          <a:prstGeom prst="rect">
            <a:avLst/>
          </a:prstGeom>
        </p:spPr>
      </p:pic>
      <p:sp>
        <p:nvSpPr>
          <p:cNvPr id="8" name="Text 5"/>
          <p:cNvSpPr/>
          <p:nvPr/>
        </p:nvSpPr>
        <p:spPr>
          <a:xfrm>
            <a:off x="594360" y="2578608"/>
            <a:ext cx="1687068" cy="292608"/>
          </a:xfrm>
          <a:prstGeom prst="rect">
            <a:avLst/>
          </a:prstGeom>
          <a:noFill/>
          <a:ln/>
        </p:spPr>
        <p:txBody>
          <a:bodyPr wrap="square" lIns="0" tIns="0" rIns="0" bIns="0" rtlCol="0" anchor="ctr"/>
          <a:lstStyle/>
          <a:p>
            <a:pPr marL="0" indent="0" algn="ctr">
              <a:buNone/>
            </a:pPr>
            <a:r>
              <a:rPr lang="en-US" sz="1350" b="1" dirty="0">
                <a:solidFill>
                  <a:srgbClr val="0F2A43"/>
                </a:solidFill>
                <a:latin typeface="Calibri" pitchFamily="34" charset="0"/>
                <a:ea typeface="Calibri" pitchFamily="34" charset="-122"/>
                <a:cs typeface="Calibri" pitchFamily="34" charset="-120"/>
              </a:rPr>
              <a:t>Datasets</a:t>
            </a:r>
            <a:endParaRPr lang="en-US" sz="1350" dirty="0"/>
          </a:p>
        </p:txBody>
      </p:sp>
      <p:sp>
        <p:nvSpPr>
          <p:cNvPr id="9" name="Text 6"/>
          <p:cNvSpPr/>
          <p:nvPr/>
        </p:nvSpPr>
        <p:spPr>
          <a:xfrm>
            <a:off x="630936" y="2871216"/>
            <a:ext cx="1613916" cy="457200"/>
          </a:xfrm>
          <a:prstGeom prst="rect">
            <a:avLst/>
          </a:prstGeom>
          <a:noFill/>
          <a:ln/>
        </p:spPr>
        <p:txBody>
          <a:bodyPr wrap="square" lIns="0" tIns="0" rIns="0" bIns="0" rtlCol="0" anchor="t"/>
          <a:lstStyle/>
          <a:p>
            <a:pPr marL="0" indent="0" algn="ctr">
              <a:buNone/>
            </a:pPr>
            <a:r>
              <a:rPr lang="en-US" sz="1050" dirty="0">
                <a:solidFill>
                  <a:srgbClr val="334155"/>
                </a:solidFill>
                <a:latin typeface="Calibri" pitchFamily="34" charset="0"/>
                <a:ea typeface="Calibri" pitchFamily="34" charset="-122"/>
                <a:cs typeface="Calibri" pitchFamily="34" charset="-120"/>
              </a:rPr>
              <a:t>Saved benchmark datasets and runs as baselines.</a:t>
            </a:r>
            <a:endParaRPr lang="en-US" sz="1050" dirty="0"/>
          </a:p>
        </p:txBody>
      </p:sp>
      <p:sp>
        <p:nvSpPr>
          <p:cNvPr id="10" name="Shape 7"/>
          <p:cNvSpPr/>
          <p:nvPr/>
        </p:nvSpPr>
        <p:spPr>
          <a:xfrm>
            <a:off x="2592324" y="1554480"/>
            <a:ext cx="1869948" cy="1783080"/>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11" name="Shape 8"/>
          <p:cNvSpPr/>
          <p:nvPr/>
        </p:nvSpPr>
        <p:spPr>
          <a:xfrm>
            <a:off x="2592324" y="1554480"/>
            <a:ext cx="1869948" cy="64008"/>
          </a:xfrm>
          <a:prstGeom prst="rect">
            <a:avLst/>
          </a:prstGeom>
          <a:solidFill>
            <a:srgbClr val="0D9488"/>
          </a:solidFill>
          <a:ln/>
        </p:spPr>
        <p:txBody>
          <a:bodyPr/>
          <a:lstStyle/>
          <a:p>
            <a:endParaRPr lang="en-US"/>
          </a:p>
        </p:txBody>
      </p:sp>
      <p:sp>
        <p:nvSpPr>
          <p:cNvPr id="12" name="Shape 9"/>
          <p:cNvSpPr/>
          <p:nvPr/>
        </p:nvSpPr>
        <p:spPr>
          <a:xfrm>
            <a:off x="3216402" y="1828800"/>
            <a:ext cx="621792" cy="621792"/>
          </a:xfrm>
          <a:prstGeom prst="ellipse">
            <a:avLst/>
          </a:prstGeom>
          <a:solidFill>
            <a:srgbClr val="0F2A43"/>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3344418" y="1956816"/>
            <a:ext cx="365760" cy="365760"/>
          </a:xfrm>
          <a:prstGeom prst="rect">
            <a:avLst/>
          </a:prstGeom>
        </p:spPr>
      </p:pic>
      <p:sp>
        <p:nvSpPr>
          <p:cNvPr id="14" name="Text 10"/>
          <p:cNvSpPr/>
          <p:nvPr/>
        </p:nvSpPr>
        <p:spPr>
          <a:xfrm>
            <a:off x="2683764" y="2578608"/>
            <a:ext cx="1687068" cy="292608"/>
          </a:xfrm>
          <a:prstGeom prst="rect">
            <a:avLst/>
          </a:prstGeom>
          <a:noFill/>
          <a:ln/>
        </p:spPr>
        <p:txBody>
          <a:bodyPr wrap="square" lIns="0" tIns="0" rIns="0" bIns="0" rtlCol="0" anchor="ctr"/>
          <a:lstStyle/>
          <a:p>
            <a:pPr marL="0" indent="0" algn="ctr">
              <a:buNone/>
            </a:pPr>
            <a:r>
              <a:rPr lang="en-US" sz="1350" b="1" dirty="0">
                <a:solidFill>
                  <a:srgbClr val="0F2A43"/>
                </a:solidFill>
                <a:latin typeface="Calibri" pitchFamily="34" charset="0"/>
                <a:ea typeface="Calibri" pitchFamily="34" charset="-122"/>
                <a:cs typeface="Calibri" pitchFamily="34" charset="-120"/>
              </a:rPr>
              <a:t>Impact</a:t>
            </a:r>
            <a:endParaRPr lang="en-US" sz="1350" dirty="0"/>
          </a:p>
        </p:txBody>
      </p:sp>
      <p:sp>
        <p:nvSpPr>
          <p:cNvPr id="15" name="Text 11"/>
          <p:cNvSpPr/>
          <p:nvPr/>
        </p:nvSpPr>
        <p:spPr>
          <a:xfrm>
            <a:off x="2720340" y="2871216"/>
            <a:ext cx="1613916" cy="457200"/>
          </a:xfrm>
          <a:prstGeom prst="rect">
            <a:avLst/>
          </a:prstGeom>
          <a:noFill/>
          <a:ln/>
        </p:spPr>
        <p:txBody>
          <a:bodyPr wrap="square" lIns="0" tIns="0" rIns="0" bIns="0" rtlCol="0" anchor="t"/>
          <a:lstStyle/>
          <a:p>
            <a:pPr marL="0" indent="0" algn="ctr">
              <a:buNone/>
            </a:pPr>
            <a:r>
              <a:rPr lang="en-US" sz="1050" dirty="0">
                <a:solidFill>
                  <a:srgbClr val="334155"/>
                </a:solidFill>
                <a:latin typeface="Calibri" pitchFamily="34" charset="0"/>
                <a:ea typeface="Calibri" pitchFamily="34" charset="-122"/>
                <a:cs typeface="Calibri" pitchFamily="34" charset="-120"/>
              </a:rPr>
              <a:t>Correction-impact measurement over time.</a:t>
            </a:r>
            <a:endParaRPr lang="en-US" sz="1050" dirty="0"/>
          </a:p>
        </p:txBody>
      </p:sp>
      <p:sp>
        <p:nvSpPr>
          <p:cNvPr id="16" name="Shape 12"/>
          <p:cNvSpPr/>
          <p:nvPr/>
        </p:nvSpPr>
        <p:spPr>
          <a:xfrm>
            <a:off x="4681728" y="1554480"/>
            <a:ext cx="1869948" cy="1783080"/>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17" name="Shape 13"/>
          <p:cNvSpPr/>
          <p:nvPr/>
        </p:nvSpPr>
        <p:spPr>
          <a:xfrm>
            <a:off x="4681728" y="1554480"/>
            <a:ext cx="1869948" cy="64008"/>
          </a:xfrm>
          <a:prstGeom prst="rect">
            <a:avLst/>
          </a:prstGeom>
          <a:solidFill>
            <a:srgbClr val="0D9488"/>
          </a:solidFill>
          <a:ln/>
        </p:spPr>
        <p:txBody>
          <a:bodyPr/>
          <a:lstStyle/>
          <a:p>
            <a:endParaRPr lang="en-US"/>
          </a:p>
        </p:txBody>
      </p:sp>
      <p:sp>
        <p:nvSpPr>
          <p:cNvPr id="18" name="Shape 14"/>
          <p:cNvSpPr/>
          <p:nvPr/>
        </p:nvSpPr>
        <p:spPr>
          <a:xfrm>
            <a:off x="5305806" y="1828800"/>
            <a:ext cx="621792" cy="621792"/>
          </a:xfrm>
          <a:prstGeom prst="ellipse">
            <a:avLst/>
          </a:prstGeom>
          <a:solidFill>
            <a:srgbClr val="0F2A43"/>
          </a:solidFill>
          <a:ln/>
        </p:spPr>
        <p:txBody>
          <a:bodyPr/>
          <a:lstStyle/>
          <a:p>
            <a:endParaRPr lang="en-US"/>
          </a:p>
        </p:txBody>
      </p:sp>
      <p:pic>
        <p:nvPicPr>
          <p:cNvPr id="19" name="Image 2" descr="preencoded.png"/>
          <p:cNvPicPr>
            <a:picLocks noChangeAspect="1"/>
          </p:cNvPicPr>
          <p:nvPr/>
        </p:nvPicPr>
        <p:blipFill>
          <a:blip r:embed="rId5"/>
          <a:stretch>
            <a:fillRect/>
          </a:stretch>
        </p:blipFill>
        <p:spPr>
          <a:xfrm>
            <a:off x="5433822" y="1956816"/>
            <a:ext cx="365760" cy="365760"/>
          </a:xfrm>
          <a:prstGeom prst="rect">
            <a:avLst/>
          </a:prstGeom>
        </p:spPr>
      </p:pic>
      <p:sp>
        <p:nvSpPr>
          <p:cNvPr id="20" name="Text 15"/>
          <p:cNvSpPr/>
          <p:nvPr/>
        </p:nvSpPr>
        <p:spPr>
          <a:xfrm>
            <a:off x="4773168" y="2578608"/>
            <a:ext cx="1687068" cy="292608"/>
          </a:xfrm>
          <a:prstGeom prst="rect">
            <a:avLst/>
          </a:prstGeom>
          <a:noFill/>
          <a:ln/>
        </p:spPr>
        <p:txBody>
          <a:bodyPr wrap="square" lIns="0" tIns="0" rIns="0" bIns="0" rtlCol="0" anchor="ctr"/>
          <a:lstStyle/>
          <a:p>
            <a:pPr marL="0" indent="0" algn="ctr">
              <a:buNone/>
            </a:pPr>
            <a:r>
              <a:rPr lang="en-US" sz="1350" b="1" dirty="0">
                <a:solidFill>
                  <a:srgbClr val="0F2A43"/>
                </a:solidFill>
                <a:latin typeface="Calibri" pitchFamily="34" charset="0"/>
                <a:ea typeface="Calibri" pitchFamily="34" charset="-122"/>
                <a:cs typeface="Calibri" pitchFamily="34" charset="-120"/>
              </a:rPr>
              <a:t>Persist</a:t>
            </a:r>
            <a:endParaRPr lang="en-US" sz="1350" dirty="0"/>
          </a:p>
        </p:txBody>
      </p:sp>
      <p:sp>
        <p:nvSpPr>
          <p:cNvPr id="21" name="Text 16"/>
          <p:cNvSpPr/>
          <p:nvPr/>
        </p:nvSpPr>
        <p:spPr>
          <a:xfrm>
            <a:off x="4809744" y="2871216"/>
            <a:ext cx="1613916" cy="457200"/>
          </a:xfrm>
          <a:prstGeom prst="rect">
            <a:avLst/>
          </a:prstGeom>
          <a:noFill/>
          <a:ln/>
        </p:spPr>
        <p:txBody>
          <a:bodyPr wrap="square" lIns="0" tIns="0" rIns="0" bIns="0" rtlCol="0" anchor="t"/>
          <a:lstStyle/>
          <a:p>
            <a:pPr marL="0" indent="0" algn="ctr">
              <a:buNone/>
            </a:pPr>
            <a:r>
              <a:rPr lang="en-US" sz="1050" dirty="0">
                <a:solidFill>
                  <a:srgbClr val="334155"/>
                </a:solidFill>
                <a:latin typeface="Calibri" pitchFamily="34" charset="0"/>
                <a:ea typeface="Calibri" pitchFamily="34" charset="-122"/>
                <a:cs typeface="Calibri" pitchFamily="34" charset="-120"/>
              </a:rPr>
              <a:t>Governed correction memory — no lesson lost.</a:t>
            </a:r>
            <a:endParaRPr lang="en-US" sz="1050" dirty="0"/>
          </a:p>
        </p:txBody>
      </p:sp>
      <p:sp>
        <p:nvSpPr>
          <p:cNvPr id="22" name="Shape 17"/>
          <p:cNvSpPr/>
          <p:nvPr/>
        </p:nvSpPr>
        <p:spPr>
          <a:xfrm>
            <a:off x="6771132" y="1554480"/>
            <a:ext cx="1869948" cy="1783080"/>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23" name="Shape 18"/>
          <p:cNvSpPr/>
          <p:nvPr/>
        </p:nvSpPr>
        <p:spPr>
          <a:xfrm>
            <a:off x="6771132" y="1554480"/>
            <a:ext cx="1869948" cy="64008"/>
          </a:xfrm>
          <a:prstGeom prst="rect">
            <a:avLst/>
          </a:prstGeom>
          <a:solidFill>
            <a:srgbClr val="0D9488"/>
          </a:solidFill>
          <a:ln/>
        </p:spPr>
        <p:txBody>
          <a:bodyPr/>
          <a:lstStyle/>
          <a:p>
            <a:endParaRPr lang="en-US"/>
          </a:p>
        </p:txBody>
      </p:sp>
      <p:sp>
        <p:nvSpPr>
          <p:cNvPr id="24" name="Shape 19"/>
          <p:cNvSpPr/>
          <p:nvPr/>
        </p:nvSpPr>
        <p:spPr>
          <a:xfrm>
            <a:off x="7395210" y="1828800"/>
            <a:ext cx="621792" cy="621792"/>
          </a:xfrm>
          <a:prstGeom prst="ellipse">
            <a:avLst/>
          </a:prstGeom>
          <a:solidFill>
            <a:srgbClr val="0F2A43"/>
          </a:solidFill>
          <a:ln/>
        </p:spPr>
        <p:txBody>
          <a:bodyPr/>
          <a:lstStyle/>
          <a:p>
            <a:endParaRPr lang="en-US"/>
          </a:p>
        </p:txBody>
      </p:sp>
      <p:pic>
        <p:nvPicPr>
          <p:cNvPr id="25" name="Image 3" descr="preencoded.png"/>
          <p:cNvPicPr>
            <a:picLocks noChangeAspect="1"/>
          </p:cNvPicPr>
          <p:nvPr/>
        </p:nvPicPr>
        <p:blipFill>
          <a:blip r:embed="rId6"/>
          <a:stretch>
            <a:fillRect/>
          </a:stretch>
        </p:blipFill>
        <p:spPr>
          <a:xfrm>
            <a:off x="7523226" y="1956816"/>
            <a:ext cx="365760" cy="365760"/>
          </a:xfrm>
          <a:prstGeom prst="rect">
            <a:avLst/>
          </a:prstGeom>
        </p:spPr>
      </p:pic>
      <p:sp>
        <p:nvSpPr>
          <p:cNvPr id="26" name="Text 20"/>
          <p:cNvSpPr/>
          <p:nvPr/>
        </p:nvSpPr>
        <p:spPr>
          <a:xfrm>
            <a:off x="6862572" y="2578608"/>
            <a:ext cx="1687068" cy="292608"/>
          </a:xfrm>
          <a:prstGeom prst="rect">
            <a:avLst/>
          </a:prstGeom>
          <a:noFill/>
          <a:ln/>
        </p:spPr>
        <p:txBody>
          <a:bodyPr wrap="square" lIns="0" tIns="0" rIns="0" bIns="0" rtlCol="0" anchor="ctr"/>
          <a:lstStyle/>
          <a:p>
            <a:pPr marL="0" indent="0" algn="ctr">
              <a:buNone/>
            </a:pPr>
            <a:r>
              <a:rPr lang="en-US" sz="1350" b="1" dirty="0">
                <a:solidFill>
                  <a:srgbClr val="0F2A43"/>
                </a:solidFill>
                <a:latin typeface="Calibri" pitchFamily="34" charset="0"/>
                <a:ea typeface="Calibri" pitchFamily="34" charset="-122"/>
                <a:cs typeface="Calibri" pitchFamily="34" charset="-120"/>
              </a:rPr>
              <a:t>Learn</a:t>
            </a:r>
            <a:endParaRPr lang="en-US" sz="1350" dirty="0"/>
          </a:p>
        </p:txBody>
      </p:sp>
      <p:sp>
        <p:nvSpPr>
          <p:cNvPr id="27" name="Text 21"/>
          <p:cNvSpPr/>
          <p:nvPr/>
        </p:nvSpPr>
        <p:spPr>
          <a:xfrm>
            <a:off x="6899148" y="2871216"/>
            <a:ext cx="1613916" cy="457200"/>
          </a:xfrm>
          <a:prstGeom prst="rect">
            <a:avLst/>
          </a:prstGeom>
          <a:noFill/>
          <a:ln/>
        </p:spPr>
        <p:txBody>
          <a:bodyPr wrap="square" lIns="0" tIns="0" rIns="0" bIns="0" rtlCol="0" anchor="t"/>
          <a:lstStyle/>
          <a:p>
            <a:pPr marL="0" indent="0" algn="ctr">
              <a:buNone/>
            </a:pPr>
            <a:r>
              <a:rPr lang="en-US" sz="1050" dirty="0">
                <a:solidFill>
                  <a:srgbClr val="334155"/>
                </a:solidFill>
                <a:latin typeface="Calibri" pitchFamily="34" charset="0"/>
                <a:ea typeface="Calibri" pitchFamily="34" charset="-122"/>
                <a:cs typeface="Calibri" pitchFamily="34" charset="-120"/>
              </a:rPr>
              <a:t>Reusable learning through promoted rules.</a:t>
            </a:r>
            <a:endParaRPr lang="en-US" sz="1050" dirty="0"/>
          </a:p>
        </p:txBody>
      </p:sp>
      <p:sp>
        <p:nvSpPr>
          <p:cNvPr id="28" name="Text 22"/>
          <p:cNvSpPr/>
          <p:nvPr/>
        </p:nvSpPr>
        <p:spPr>
          <a:xfrm>
            <a:off x="502920" y="3639312"/>
            <a:ext cx="8138160" cy="365760"/>
          </a:xfrm>
          <a:prstGeom prst="rect">
            <a:avLst/>
          </a:prstGeom>
          <a:noFill/>
          <a:ln/>
        </p:spPr>
        <p:txBody>
          <a:bodyPr wrap="square" lIns="0" tIns="0" rIns="0" bIns="0" rtlCol="0" anchor="ctr"/>
          <a:lstStyle/>
          <a:p>
            <a:pPr marL="0" indent="0" algn="ctr">
              <a:buNone/>
            </a:pPr>
            <a:r>
              <a:rPr lang="en-US" sz="1250" b="1" i="1" dirty="0">
                <a:solidFill>
                  <a:srgbClr val="0D9488"/>
                </a:solidFill>
                <a:latin typeface="Calibri" pitchFamily="34" charset="0"/>
                <a:ea typeface="Calibri" pitchFamily="34" charset="-122"/>
                <a:cs typeface="Calibri" pitchFamily="34" charset="-120"/>
              </a:rPr>
              <a:t>Measurable improvement — the ROI of governed mapping becomes visible over time.</a:t>
            </a:r>
            <a:endParaRPr lang="en-US" sz="1250" dirty="0"/>
          </a:p>
        </p:txBody>
      </p:sp>
      <p:sp>
        <p:nvSpPr>
          <p:cNvPr id="29" name="Shape 23"/>
          <p:cNvSpPr/>
          <p:nvPr/>
        </p:nvSpPr>
        <p:spPr>
          <a:xfrm>
            <a:off x="502920" y="4718304"/>
            <a:ext cx="8138160" cy="0"/>
          </a:xfrm>
          <a:prstGeom prst="line">
            <a:avLst/>
          </a:prstGeom>
          <a:noFill/>
          <a:ln w="12700">
            <a:solidFill>
              <a:srgbClr val="DCE5EE"/>
            </a:solidFill>
            <a:prstDash val="solid"/>
          </a:ln>
        </p:spPr>
        <p:txBody>
          <a:bodyPr/>
          <a:lstStyle/>
          <a:p>
            <a:endParaRPr lang="en-US"/>
          </a:p>
        </p:txBody>
      </p:sp>
      <p:sp>
        <p:nvSpPr>
          <p:cNvPr id="30" name="Shape 24"/>
          <p:cNvSpPr/>
          <p:nvPr/>
        </p:nvSpPr>
        <p:spPr>
          <a:xfrm>
            <a:off x="502920" y="4846320"/>
            <a:ext cx="73152" cy="73152"/>
          </a:xfrm>
          <a:prstGeom prst="ellipse">
            <a:avLst/>
          </a:prstGeom>
          <a:solidFill>
            <a:srgbClr val="0D9488"/>
          </a:solidFill>
          <a:ln/>
        </p:spPr>
        <p:txBody>
          <a:bodyPr/>
          <a:lstStyle/>
          <a:p>
            <a:endParaRPr lang="en-US"/>
          </a:p>
        </p:txBody>
      </p:sp>
      <p:sp>
        <p:nvSpPr>
          <p:cNvPr id="31" name="Text 25"/>
          <p:cNvSpPr/>
          <p:nvPr/>
        </p:nvSpPr>
        <p:spPr>
          <a:xfrm>
            <a:off x="649224" y="4764024"/>
            <a:ext cx="2743200" cy="237744"/>
          </a:xfrm>
          <a:prstGeom prst="rect">
            <a:avLst/>
          </a:prstGeom>
          <a:noFill/>
          <a:ln/>
        </p:spPr>
        <p:txBody>
          <a:bodyPr wrap="square" lIns="0" tIns="0" rIns="0" bIns="0" rtlCol="0" anchor="ctr"/>
          <a:lstStyle/>
          <a:p>
            <a:pPr marL="0" indent="0">
              <a:buNone/>
            </a:pPr>
            <a:r>
              <a:rPr lang="en-US" sz="950" b="1" kern="0" spc="200" dirty="0">
                <a:solidFill>
                  <a:srgbClr val="64748B"/>
                </a:solidFill>
                <a:latin typeface="Calibri" pitchFamily="34" charset="0"/>
                <a:ea typeface="Calibri" pitchFamily="34" charset="-122"/>
                <a:cs typeface="Calibri" pitchFamily="34" charset="-120"/>
              </a:rPr>
              <a:t>SEMANTRA</a:t>
            </a:r>
            <a:endParaRPr lang="en-US" sz="950" dirty="0"/>
          </a:p>
        </p:txBody>
      </p:sp>
      <p:sp>
        <p:nvSpPr>
          <p:cNvPr id="32" name="Text 26"/>
          <p:cNvSpPr/>
          <p:nvPr/>
        </p:nvSpPr>
        <p:spPr>
          <a:xfrm>
            <a:off x="4800600" y="4764024"/>
            <a:ext cx="2834640" cy="237744"/>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PMO SERVICE • EA–DA BRIDGE</a:t>
            </a:r>
            <a:endParaRPr lang="en-US" sz="900" dirty="0"/>
          </a:p>
        </p:txBody>
      </p:sp>
      <p:sp>
        <p:nvSpPr>
          <p:cNvPr id="33" name="Text 27"/>
          <p:cNvSpPr/>
          <p:nvPr/>
        </p:nvSpPr>
        <p:spPr>
          <a:xfrm>
            <a:off x="7726680" y="4764024"/>
            <a:ext cx="914400" cy="237744"/>
          </a:xfrm>
          <a:prstGeom prst="rect">
            <a:avLst/>
          </a:prstGeom>
          <a:noFill/>
          <a:ln/>
        </p:spPr>
        <p:txBody>
          <a:bodyPr wrap="square" lIns="0" tIns="0" rIns="0" bIns="0" rtlCol="0" anchor="ctr"/>
          <a:lstStyle/>
          <a:p>
            <a:pPr marL="0" indent="0" algn="r">
              <a:buNone/>
            </a:pPr>
            <a:r>
              <a:rPr lang="en-US" sz="950" b="1" dirty="0">
                <a:solidFill>
                  <a:srgbClr val="0D9488"/>
                </a:solidFill>
                <a:latin typeface="Calibri" pitchFamily="34" charset="0"/>
                <a:ea typeface="Calibri" pitchFamily="34" charset="-122"/>
                <a:cs typeface="Calibri" pitchFamily="34" charset="-120"/>
              </a:rPr>
              <a:t>12 / 18</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8138160" cy="274320"/>
          </a:xfrm>
          <a:prstGeom prst="rect">
            <a:avLst/>
          </a:prstGeom>
          <a:noFill/>
          <a:ln/>
        </p:spPr>
        <p:txBody>
          <a:bodyPr wrap="square" lIns="0" tIns="0" rIns="0" bIns="0" rtlCol="0" anchor="ctr"/>
          <a:lstStyle/>
          <a:p>
            <a:pPr marL="0" indent="0" algn="l">
              <a:buNone/>
            </a:pPr>
            <a:r>
              <a:rPr lang="en-US" sz="1150" b="1" kern="0" spc="200" dirty="0">
                <a:solidFill>
                  <a:srgbClr val="0D9488"/>
                </a:solidFill>
                <a:latin typeface="Calibri" pitchFamily="34" charset="0"/>
                <a:ea typeface="Calibri" pitchFamily="34" charset="-122"/>
                <a:cs typeface="Calibri" pitchFamily="34" charset="-120"/>
              </a:rPr>
              <a:t>EMERGING CAPABILITY</a:t>
            </a:r>
            <a:endParaRPr lang="en-US" sz="1150" dirty="0"/>
          </a:p>
        </p:txBody>
      </p:sp>
      <p:sp>
        <p:nvSpPr>
          <p:cNvPr id="3" name="Text 1"/>
          <p:cNvSpPr/>
          <p:nvPr/>
        </p:nvSpPr>
        <p:spPr>
          <a:xfrm>
            <a:off x="502920" y="585216"/>
            <a:ext cx="8138160" cy="749808"/>
          </a:xfrm>
          <a:prstGeom prst="rect">
            <a:avLst/>
          </a:prstGeom>
          <a:noFill/>
          <a:ln/>
        </p:spPr>
        <p:txBody>
          <a:bodyPr wrap="square" lIns="0" tIns="0" rIns="0" bIns="0" rtlCol="0" anchor="t"/>
          <a:lstStyle/>
          <a:p>
            <a:pPr marL="0" indent="0" algn="l">
              <a:buNone/>
            </a:pPr>
            <a:r>
              <a:rPr lang="en-US" sz="2700" b="1" dirty="0">
                <a:solidFill>
                  <a:srgbClr val="0F2A43"/>
                </a:solidFill>
                <a:latin typeface="Georgia" pitchFamily="34" charset="0"/>
                <a:ea typeface="Georgia" pitchFamily="34" charset="-122"/>
                <a:cs typeface="Georgia" pitchFamily="34" charset="-120"/>
              </a:rPr>
              <a:t>The BA Mapping Report: outcome made business-facing</a:t>
            </a:r>
            <a:endParaRPr lang="en-US" sz="2700" dirty="0"/>
          </a:p>
        </p:txBody>
      </p:sp>
      <p:sp>
        <p:nvSpPr>
          <p:cNvPr id="4" name="Shape 2"/>
          <p:cNvSpPr/>
          <p:nvPr/>
        </p:nvSpPr>
        <p:spPr>
          <a:xfrm>
            <a:off x="502920" y="1517904"/>
            <a:ext cx="3200400" cy="2651760"/>
          </a:xfrm>
          <a:prstGeom prst="rect">
            <a:avLst/>
          </a:prstGeom>
          <a:solidFill>
            <a:srgbClr val="E6F4F2"/>
          </a:solidFill>
          <a:ln w="12700">
            <a:solidFill>
              <a:srgbClr val="0D9488"/>
            </a:solidFill>
            <a:prstDash val="solid"/>
          </a:ln>
        </p:spPr>
        <p:txBody>
          <a:bodyPr/>
          <a:lstStyle/>
          <a:p>
            <a:endParaRPr lang="en-US"/>
          </a:p>
        </p:txBody>
      </p:sp>
      <p:sp>
        <p:nvSpPr>
          <p:cNvPr id="5" name="Shape 3"/>
          <p:cNvSpPr/>
          <p:nvPr/>
        </p:nvSpPr>
        <p:spPr>
          <a:xfrm>
            <a:off x="1828800" y="1792224"/>
            <a:ext cx="548640" cy="548640"/>
          </a:xfrm>
          <a:prstGeom prst="ellipse">
            <a:avLst/>
          </a:prstGeom>
          <a:solidFill>
            <a:srgbClr val="0F2A43"/>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984248" y="1947672"/>
            <a:ext cx="237744" cy="237744"/>
          </a:xfrm>
          <a:prstGeom prst="rect">
            <a:avLst/>
          </a:prstGeom>
        </p:spPr>
      </p:pic>
      <p:sp>
        <p:nvSpPr>
          <p:cNvPr id="7" name="Text 4"/>
          <p:cNvSpPr/>
          <p:nvPr/>
        </p:nvSpPr>
        <p:spPr>
          <a:xfrm>
            <a:off x="731520" y="2468880"/>
            <a:ext cx="2743200" cy="914400"/>
          </a:xfrm>
          <a:prstGeom prst="rect">
            <a:avLst/>
          </a:prstGeom>
          <a:noFill/>
          <a:ln/>
        </p:spPr>
        <p:txBody>
          <a:bodyPr wrap="square" lIns="0" tIns="0" rIns="0" bIns="0" rtlCol="0" anchor="ctr"/>
          <a:lstStyle/>
          <a:p>
            <a:pPr marL="0" indent="0" algn="ctr">
              <a:lnSpc>
                <a:spcPct val="115000"/>
              </a:lnSpc>
              <a:buNone/>
            </a:pPr>
            <a:r>
              <a:rPr lang="en-US" sz="1300" b="1" dirty="0">
                <a:solidFill>
                  <a:srgbClr val="0F2A43"/>
                </a:solidFill>
                <a:latin typeface="Calibri" pitchFamily="34" charset="0"/>
                <a:ea typeface="Calibri" pitchFamily="34" charset="-122"/>
                <a:cs typeface="Calibri" pitchFamily="34" charset="-120"/>
              </a:rPr>
              <a:t>From workspace evidence to a structured, analyst-ready summary.</a:t>
            </a:r>
            <a:endParaRPr lang="en-US" sz="1300" dirty="0"/>
          </a:p>
        </p:txBody>
      </p:sp>
      <p:sp>
        <p:nvSpPr>
          <p:cNvPr id="8" name="Text 5"/>
          <p:cNvSpPr/>
          <p:nvPr/>
        </p:nvSpPr>
        <p:spPr>
          <a:xfrm>
            <a:off x="731520" y="3383280"/>
            <a:ext cx="2743200" cy="731520"/>
          </a:xfrm>
          <a:prstGeom prst="rect">
            <a:avLst/>
          </a:prstGeom>
          <a:noFill/>
          <a:ln/>
        </p:spPr>
        <p:txBody>
          <a:bodyPr wrap="square" lIns="0" tIns="0" rIns="0" bIns="0" rtlCol="0" anchor="ctr"/>
          <a:lstStyle/>
          <a:p>
            <a:pPr marL="0" indent="0" algn="ctr">
              <a:lnSpc>
                <a:spcPct val="112000"/>
              </a:lnSpc>
              <a:buNone/>
            </a:pPr>
            <a:r>
              <a:rPr lang="en-US" sz="1050" dirty="0">
                <a:solidFill>
                  <a:srgbClr val="1E3A52"/>
                </a:solidFill>
                <a:latin typeface="Calibri" pitchFamily="34" charset="0"/>
                <a:ea typeface="Calibri" pitchFamily="34" charset="-122"/>
                <a:cs typeface="Calibri" pitchFamily="34" charset="-120"/>
              </a:rPr>
              <a:t>Turns mapping decisions and canonical paths into a shareable, business-facing artifact.</a:t>
            </a:r>
            <a:endParaRPr lang="en-US" sz="1050" dirty="0"/>
          </a:p>
        </p:txBody>
      </p:sp>
      <p:sp>
        <p:nvSpPr>
          <p:cNvPr id="9" name="Shape 6"/>
          <p:cNvSpPr/>
          <p:nvPr/>
        </p:nvSpPr>
        <p:spPr>
          <a:xfrm>
            <a:off x="3977640" y="1517904"/>
            <a:ext cx="4663440" cy="786384"/>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10" name="Shape 7"/>
          <p:cNvSpPr/>
          <p:nvPr/>
        </p:nvSpPr>
        <p:spPr>
          <a:xfrm>
            <a:off x="4142232" y="1682496"/>
            <a:ext cx="457200" cy="457200"/>
          </a:xfrm>
          <a:prstGeom prst="ellipse">
            <a:avLst/>
          </a:prstGeom>
          <a:solidFill>
            <a:srgbClr val="E6F4F2"/>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4247388" y="1787652"/>
            <a:ext cx="228600" cy="228600"/>
          </a:xfrm>
          <a:prstGeom prst="rect">
            <a:avLst/>
          </a:prstGeom>
        </p:spPr>
      </p:pic>
      <p:sp>
        <p:nvSpPr>
          <p:cNvPr id="12" name="Text 8"/>
          <p:cNvSpPr/>
          <p:nvPr/>
        </p:nvSpPr>
        <p:spPr>
          <a:xfrm>
            <a:off x="4745736" y="1627632"/>
            <a:ext cx="3749040" cy="274320"/>
          </a:xfrm>
          <a:prstGeom prst="rect">
            <a:avLst/>
          </a:prstGeom>
          <a:noFill/>
          <a:ln/>
        </p:spPr>
        <p:txBody>
          <a:bodyPr wrap="square" lIns="0" tIns="0" rIns="0" bIns="0" rtlCol="0" anchor="ctr"/>
          <a:lstStyle/>
          <a:p>
            <a:pPr marL="0" indent="0">
              <a:buNone/>
            </a:pPr>
            <a:r>
              <a:rPr lang="en-US" sz="1350" b="1" dirty="0">
                <a:solidFill>
                  <a:srgbClr val="0F2A43"/>
                </a:solidFill>
                <a:latin typeface="Calibri" pitchFamily="34" charset="0"/>
                <a:ea typeface="Calibri" pitchFamily="34" charset="-122"/>
                <a:cs typeface="Calibri" pitchFamily="34" charset="-120"/>
              </a:rPr>
              <a:t>Business-facing</a:t>
            </a:r>
            <a:endParaRPr lang="en-US" sz="1350" dirty="0"/>
          </a:p>
        </p:txBody>
      </p:sp>
      <p:sp>
        <p:nvSpPr>
          <p:cNvPr id="13" name="Text 9"/>
          <p:cNvSpPr/>
          <p:nvPr/>
        </p:nvSpPr>
        <p:spPr>
          <a:xfrm>
            <a:off x="4745736" y="1901952"/>
            <a:ext cx="3749040" cy="347472"/>
          </a:xfrm>
          <a:prstGeom prst="rect">
            <a:avLst/>
          </a:prstGeom>
          <a:noFill/>
          <a:ln/>
        </p:spPr>
        <p:txBody>
          <a:bodyPr wrap="square" lIns="0" tIns="0" rIns="0" bIns="0" rtlCol="0" anchor="t"/>
          <a:lstStyle/>
          <a:p>
            <a:pPr marL="0" indent="0">
              <a:buNone/>
            </a:pPr>
            <a:r>
              <a:rPr lang="en-US" sz="1050" dirty="0">
                <a:solidFill>
                  <a:srgbClr val="334155"/>
                </a:solidFill>
                <a:latin typeface="Calibri" pitchFamily="34" charset="0"/>
                <a:ea typeface="Calibri" pitchFamily="34" charset="-122"/>
                <a:cs typeface="Calibri" pitchFamily="34" charset="-120"/>
              </a:rPr>
              <a:t>Makes the outcome visible to business and delivery stakeholders.</a:t>
            </a:r>
            <a:endParaRPr lang="en-US" sz="1050" dirty="0"/>
          </a:p>
        </p:txBody>
      </p:sp>
      <p:sp>
        <p:nvSpPr>
          <p:cNvPr id="14" name="Shape 10"/>
          <p:cNvSpPr/>
          <p:nvPr/>
        </p:nvSpPr>
        <p:spPr>
          <a:xfrm>
            <a:off x="3977640" y="2450592"/>
            <a:ext cx="4663440" cy="786384"/>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15" name="Shape 11"/>
          <p:cNvSpPr/>
          <p:nvPr/>
        </p:nvSpPr>
        <p:spPr>
          <a:xfrm>
            <a:off x="4142232" y="2615184"/>
            <a:ext cx="457200" cy="457200"/>
          </a:xfrm>
          <a:prstGeom prst="ellipse">
            <a:avLst/>
          </a:prstGeom>
          <a:solidFill>
            <a:srgbClr val="E6F4F2"/>
          </a:solidFill>
          <a:ln/>
        </p:spPr>
        <p:txBody>
          <a:bodyPr/>
          <a:lstStyle/>
          <a:p>
            <a:endParaRPr lang="en-US"/>
          </a:p>
        </p:txBody>
      </p:sp>
      <p:pic>
        <p:nvPicPr>
          <p:cNvPr id="16" name="Image 2" descr="preencoded.png"/>
          <p:cNvPicPr>
            <a:picLocks noChangeAspect="1"/>
          </p:cNvPicPr>
          <p:nvPr/>
        </p:nvPicPr>
        <p:blipFill>
          <a:blip r:embed="rId5"/>
          <a:stretch>
            <a:fillRect/>
          </a:stretch>
        </p:blipFill>
        <p:spPr>
          <a:xfrm>
            <a:off x="4247388" y="2720340"/>
            <a:ext cx="228600" cy="228600"/>
          </a:xfrm>
          <a:prstGeom prst="rect">
            <a:avLst/>
          </a:prstGeom>
        </p:spPr>
      </p:pic>
      <p:sp>
        <p:nvSpPr>
          <p:cNvPr id="17" name="Text 12"/>
          <p:cNvSpPr/>
          <p:nvPr/>
        </p:nvSpPr>
        <p:spPr>
          <a:xfrm>
            <a:off x="4745736" y="2560320"/>
            <a:ext cx="3749040" cy="274320"/>
          </a:xfrm>
          <a:prstGeom prst="rect">
            <a:avLst/>
          </a:prstGeom>
          <a:noFill/>
          <a:ln/>
        </p:spPr>
        <p:txBody>
          <a:bodyPr wrap="square" lIns="0" tIns="0" rIns="0" bIns="0" rtlCol="0" anchor="ctr"/>
          <a:lstStyle/>
          <a:p>
            <a:pPr marL="0" indent="0">
              <a:buNone/>
            </a:pPr>
            <a:r>
              <a:rPr lang="en-US" sz="1350" b="1" dirty="0">
                <a:solidFill>
                  <a:srgbClr val="0F2A43"/>
                </a:solidFill>
                <a:latin typeface="Calibri" pitchFamily="34" charset="0"/>
                <a:ea typeface="Calibri" pitchFamily="34" charset="-122"/>
                <a:cs typeface="Calibri" pitchFamily="34" charset="-120"/>
              </a:rPr>
              <a:t>Maturing to approval</a:t>
            </a:r>
            <a:endParaRPr lang="en-US" sz="1350" dirty="0"/>
          </a:p>
        </p:txBody>
      </p:sp>
      <p:sp>
        <p:nvSpPr>
          <p:cNvPr id="18" name="Text 13"/>
          <p:cNvSpPr/>
          <p:nvPr/>
        </p:nvSpPr>
        <p:spPr>
          <a:xfrm>
            <a:off x="4745736" y="2834640"/>
            <a:ext cx="3749040" cy="347472"/>
          </a:xfrm>
          <a:prstGeom prst="rect">
            <a:avLst/>
          </a:prstGeom>
          <a:noFill/>
          <a:ln/>
        </p:spPr>
        <p:txBody>
          <a:bodyPr wrap="square" lIns="0" tIns="0" rIns="0" bIns="0" rtlCol="0" anchor="t"/>
          <a:lstStyle/>
          <a:p>
            <a:pPr marL="0" indent="0">
              <a:buNone/>
            </a:pPr>
            <a:r>
              <a:rPr lang="en-US" sz="1050" dirty="0">
                <a:solidFill>
                  <a:srgbClr val="334155"/>
                </a:solidFill>
                <a:latin typeface="Calibri" pitchFamily="34" charset="0"/>
                <a:ea typeface="Calibri" pitchFamily="34" charset="-122"/>
                <a:cs typeface="Calibri" pitchFamily="34" charset="-120"/>
              </a:rPr>
              <a:t>Evolving into an exportable approval and handoff artifact.</a:t>
            </a:r>
            <a:endParaRPr lang="en-US" sz="1050" dirty="0"/>
          </a:p>
        </p:txBody>
      </p:sp>
      <p:sp>
        <p:nvSpPr>
          <p:cNvPr id="19" name="Shape 14"/>
          <p:cNvSpPr/>
          <p:nvPr/>
        </p:nvSpPr>
        <p:spPr>
          <a:xfrm>
            <a:off x="3977640" y="3383280"/>
            <a:ext cx="4663440" cy="786384"/>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20" name="Shape 15"/>
          <p:cNvSpPr/>
          <p:nvPr/>
        </p:nvSpPr>
        <p:spPr>
          <a:xfrm>
            <a:off x="4142232" y="3547872"/>
            <a:ext cx="457200" cy="457200"/>
          </a:xfrm>
          <a:prstGeom prst="ellipse">
            <a:avLst/>
          </a:prstGeom>
          <a:solidFill>
            <a:srgbClr val="E6F4F2"/>
          </a:solidFill>
          <a:ln/>
        </p:spPr>
        <p:txBody>
          <a:bodyPr/>
          <a:lstStyle/>
          <a:p>
            <a:endParaRPr lang="en-US"/>
          </a:p>
        </p:txBody>
      </p:sp>
      <p:pic>
        <p:nvPicPr>
          <p:cNvPr id="21" name="Image 3" descr="preencoded.png"/>
          <p:cNvPicPr>
            <a:picLocks noChangeAspect="1"/>
          </p:cNvPicPr>
          <p:nvPr/>
        </p:nvPicPr>
        <p:blipFill>
          <a:blip r:embed="rId6"/>
          <a:stretch>
            <a:fillRect/>
          </a:stretch>
        </p:blipFill>
        <p:spPr>
          <a:xfrm>
            <a:off x="4247388" y="3653028"/>
            <a:ext cx="228600" cy="228600"/>
          </a:xfrm>
          <a:prstGeom prst="rect">
            <a:avLst/>
          </a:prstGeom>
        </p:spPr>
      </p:pic>
      <p:sp>
        <p:nvSpPr>
          <p:cNvPr id="22" name="Text 16"/>
          <p:cNvSpPr/>
          <p:nvPr/>
        </p:nvSpPr>
        <p:spPr>
          <a:xfrm>
            <a:off x="4745736" y="3493008"/>
            <a:ext cx="3749040" cy="274320"/>
          </a:xfrm>
          <a:prstGeom prst="rect">
            <a:avLst/>
          </a:prstGeom>
          <a:noFill/>
          <a:ln/>
        </p:spPr>
        <p:txBody>
          <a:bodyPr wrap="square" lIns="0" tIns="0" rIns="0" bIns="0" rtlCol="0" anchor="ctr"/>
          <a:lstStyle/>
          <a:p>
            <a:pPr marL="0" indent="0">
              <a:buNone/>
            </a:pPr>
            <a:r>
              <a:rPr lang="en-US" sz="1350" b="1" dirty="0">
                <a:solidFill>
                  <a:srgbClr val="0F2A43"/>
                </a:solidFill>
                <a:latin typeface="Calibri" pitchFamily="34" charset="0"/>
                <a:ea typeface="Calibri" pitchFamily="34" charset="-122"/>
                <a:cs typeface="Calibri" pitchFamily="34" charset="-120"/>
              </a:rPr>
              <a:t>Stronger handoff</a:t>
            </a:r>
            <a:endParaRPr lang="en-US" sz="1350" dirty="0"/>
          </a:p>
        </p:txBody>
      </p:sp>
      <p:sp>
        <p:nvSpPr>
          <p:cNvPr id="23" name="Text 17"/>
          <p:cNvSpPr/>
          <p:nvPr/>
        </p:nvSpPr>
        <p:spPr>
          <a:xfrm>
            <a:off x="4745736" y="3767328"/>
            <a:ext cx="3749040" cy="347472"/>
          </a:xfrm>
          <a:prstGeom prst="rect">
            <a:avLst/>
          </a:prstGeom>
          <a:noFill/>
          <a:ln/>
        </p:spPr>
        <p:txBody>
          <a:bodyPr wrap="square" lIns="0" tIns="0" rIns="0" bIns="0" rtlCol="0" anchor="t"/>
          <a:lstStyle/>
          <a:p>
            <a:pPr marL="0" indent="0">
              <a:buNone/>
            </a:pPr>
            <a:r>
              <a:rPr lang="en-US" sz="1050" dirty="0">
                <a:solidFill>
                  <a:srgbClr val="334155"/>
                </a:solidFill>
                <a:latin typeface="Calibri" pitchFamily="34" charset="0"/>
                <a:ea typeface="Calibri" pitchFamily="34" charset="-122"/>
                <a:cs typeface="Calibri" pitchFamily="34" charset="-120"/>
              </a:rPr>
              <a:t>Supports analyst-to-implementation handoff with traceability.</a:t>
            </a:r>
            <a:endParaRPr lang="en-US" sz="1050" dirty="0"/>
          </a:p>
        </p:txBody>
      </p:sp>
      <p:sp>
        <p:nvSpPr>
          <p:cNvPr id="24" name="Shape 18"/>
          <p:cNvSpPr/>
          <p:nvPr/>
        </p:nvSpPr>
        <p:spPr>
          <a:xfrm>
            <a:off x="502920" y="4718304"/>
            <a:ext cx="8138160" cy="0"/>
          </a:xfrm>
          <a:prstGeom prst="line">
            <a:avLst/>
          </a:prstGeom>
          <a:noFill/>
          <a:ln w="12700">
            <a:solidFill>
              <a:srgbClr val="DCE5EE"/>
            </a:solidFill>
            <a:prstDash val="solid"/>
          </a:ln>
        </p:spPr>
        <p:txBody>
          <a:bodyPr/>
          <a:lstStyle/>
          <a:p>
            <a:endParaRPr lang="en-US"/>
          </a:p>
        </p:txBody>
      </p:sp>
      <p:sp>
        <p:nvSpPr>
          <p:cNvPr id="25" name="Shape 19"/>
          <p:cNvSpPr/>
          <p:nvPr/>
        </p:nvSpPr>
        <p:spPr>
          <a:xfrm>
            <a:off x="502920" y="4846320"/>
            <a:ext cx="73152" cy="73152"/>
          </a:xfrm>
          <a:prstGeom prst="ellipse">
            <a:avLst/>
          </a:prstGeom>
          <a:solidFill>
            <a:srgbClr val="0D9488"/>
          </a:solidFill>
          <a:ln/>
        </p:spPr>
        <p:txBody>
          <a:bodyPr/>
          <a:lstStyle/>
          <a:p>
            <a:endParaRPr lang="en-US"/>
          </a:p>
        </p:txBody>
      </p:sp>
      <p:sp>
        <p:nvSpPr>
          <p:cNvPr id="26" name="Text 20"/>
          <p:cNvSpPr/>
          <p:nvPr/>
        </p:nvSpPr>
        <p:spPr>
          <a:xfrm>
            <a:off x="649224" y="4764024"/>
            <a:ext cx="2743200" cy="237744"/>
          </a:xfrm>
          <a:prstGeom prst="rect">
            <a:avLst/>
          </a:prstGeom>
          <a:noFill/>
          <a:ln/>
        </p:spPr>
        <p:txBody>
          <a:bodyPr wrap="square" lIns="0" tIns="0" rIns="0" bIns="0" rtlCol="0" anchor="ctr"/>
          <a:lstStyle/>
          <a:p>
            <a:pPr marL="0" indent="0">
              <a:buNone/>
            </a:pPr>
            <a:r>
              <a:rPr lang="en-US" sz="950" b="1" kern="0" spc="200" dirty="0">
                <a:solidFill>
                  <a:srgbClr val="64748B"/>
                </a:solidFill>
                <a:latin typeface="Calibri" pitchFamily="34" charset="0"/>
                <a:ea typeface="Calibri" pitchFamily="34" charset="-122"/>
                <a:cs typeface="Calibri" pitchFamily="34" charset="-120"/>
              </a:rPr>
              <a:t>SEMANTRA</a:t>
            </a:r>
            <a:endParaRPr lang="en-US" sz="950" dirty="0"/>
          </a:p>
        </p:txBody>
      </p:sp>
      <p:sp>
        <p:nvSpPr>
          <p:cNvPr id="27" name="Text 21"/>
          <p:cNvSpPr/>
          <p:nvPr/>
        </p:nvSpPr>
        <p:spPr>
          <a:xfrm>
            <a:off x="4800600" y="4764024"/>
            <a:ext cx="2834640" cy="237744"/>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PMO SERVICE • EA–DA BRIDGE</a:t>
            </a:r>
            <a:endParaRPr lang="en-US" sz="900" dirty="0"/>
          </a:p>
        </p:txBody>
      </p:sp>
      <p:sp>
        <p:nvSpPr>
          <p:cNvPr id="28" name="Text 22"/>
          <p:cNvSpPr/>
          <p:nvPr/>
        </p:nvSpPr>
        <p:spPr>
          <a:xfrm>
            <a:off x="7726680" y="4764024"/>
            <a:ext cx="914400" cy="237744"/>
          </a:xfrm>
          <a:prstGeom prst="rect">
            <a:avLst/>
          </a:prstGeom>
          <a:noFill/>
          <a:ln/>
        </p:spPr>
        <p:txBody>
          <a:bodyPr wrap="square" lIns="0" tIns="0" rIns="0" bIns="0" rtlCol="0" anchor="ctr"/>
          <a:lstStyle/>
          <a:p>
            <a:pPr marL="0" indent="0" algn="r">
              <a:buNone/>
            </a:pPr>
            <a:r>
              <a:rPr lang="en-US" sz="950" b="1" dirty="0">
                <a:solidFill>
                  <a:srgbClr val="0D9488"/>
                </a:solidFill>
                <a:latin typeface="Calibri" pitchFamily="34" charset="0"/>
                <a:ea typeface="Calibri" pitchFamily="34" charset="-122"/>
                <a:cs typeface="Calibri" pitchFamily="34" charset="-120"/>
              </a:rPr>
              <a:t>13 / 18</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8138160" cy="274320"/>
          </a:xfrm>
          <a:prstGeom prst="rect">
            <a:avLst/>
          </a:prstGeom>
          <a:noFill/>
          <a:ln/>
        </p:spPr>
        <p:txBody>
          <a:bodyPr wrap="square" lIns="0" tIns="0" rIns="0" bIns="0" rtlCol="0" anchor="ctr"/>
          <a:lstStyle/>
          <a:p>
            <a:pPr marL="0" indent="0" algn="l">
              <a:buNone/>
            </a:pPr>
            <a:r>
              <a:rPr lang="en-US" sz="1150" b="1" kern="0" spc="200" dirty="0">
                <a:solidFill>
                  <a:srgbClr val="0D9488"/>
                </a:solidFill>
                <a:latin typeface="Calibri" pitchFamily="34" charset="0"/>
                <a:ea typeface="Calibri" pitchFamily="34" charset="-122"/>
                <a:cs typeface="Calibri" pitchFamily="34" charset="-120"/>
              </a:rPr>
              <a:t>WORKFLOW</a:t>
            </a:r>
            <a:endParaRPr lang="en-US" sz="1150" dirty="0"/>
          </a:p>
        </p:txBody>
      </p:sp>
      <p:sp>
        <p:nvSpPr>
          <p:cNvPr id="3" name="Text 1"/>
          <p:cNvSpPr/>
          <p:nvPr/>
        </p:nvSpPr>
        <p:spPr>
          <a:xfrm>
            <a:off x="502920" y="585216"/>
            <a:ext cx="8138160" cy="749808"/>
          </a:xfrm>
          <a:prstGeom prst="rect">
            <a:avLst/>
          </a:prstGeom>
          <a:noFill/>
          <a:ln/>
        </p:spPr>
        <p:txBody>
          <a:bodyPr wrap="square" lIns="0" tIns="0" rIns="0" bIns="0" rtlCol="0" anchor="t"/>
          <a:lstStyle/>
          <a:p>
            <a:pPr marL="0" indent="0" algn="l">
              <a:buNone/>
            </a:pPr>
            <a:r>
              <a:rPr lang="en-US" sz="2700" b="1" dirty="0">
                <a:solidFill>
                  <a:srgbClr val="0F2A43"/>
                </a:solidFill>
                <a:latin typeface="Georgia" pitchFamily="34" charset="0"/>
                <a:ea typeface="Georgia" pitchFamily="34" charset="-122"/>
                <a:cs typeface="Georgia" pitchFamily="34" charset="-120"/>
              </a:rPr>
              <a:t>End-to-end analyst loop</a:t>
            </a:r>
            <a:endParaRPr lang="en-US" sz="2700" dirty="0"/>
          </a:p>
        </p:txBody>
      </p:sp>
      <p:sp>
        <p:nvSpPr>
          <p:cNvPr id="4" name="Shape 2"/>
          <p:cNvSpPr/>
          <p:nvPr/>
        </p:nvSpPr>
        <p:spPr>
          <a:xfrm>
            <a:off x="502920" y="1554480"/>
            <a:ext cx="1883664" cy="1170432"/>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5" name="Shape 3"/>
          <p:cNvSpPr/>
          <p:nvPr/>
        </p:nvSpPr>
        <p:spPr>
          <a:xfrm>
            <a:off x="667512" y="1700784"/>
            <a:ext cx="420624" cy="420624"/>
          </a:xfrm>
          <a:prstGeom prst="ellipse">
            <a:avLst/>
          </a:prstGeom>
          <a:solidFill>
            <a:srgbClr val="0D9488"/>
          </a:solidFill>
          <a:ln/>
        </p:spPr>
        <p:txBody>
          <a:bodyPr/>
          <a:lstStyle/>
          <a:p>
            <a:endParaRPr lang="en-US"/>
          </a:p>
        </p:txBody>
      </p:sp>
      <p:sp>
        <p:nvSpPr>
          <p:cNvPr id="6" name="Text 4"/>
          <p:cNvSpPr/>
          <p:nvPr/>
        </p:nvSpPr>
        <p:spPr>
          <a:xfrm>
            <a:off x="667512" y="1700784"/>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pic>
        <p:nvPicPr>
          <p:cNvPr id="7" name="Image 0" descr="preencoded.png"/>
          <p:cNvPicPr>
            <a:picLocks noChangeAspect="1"/>
          </p:cNvPicPr>
          <p:nvPr/>
        </p:nvPicPr>
        <p:blipFill>
          <a:blip r:embed="rId3"/>
          <a:stretch>
            <a:fillRect/>
          </a:stretch>
        </p:blipFill>
        <p:spPr>
          <a:xfrm>
            <a:off x="1874520" y="1719072"/>
            <a:ext cx="292608" cy="292608"/>
          </a:xfrm>
          <a:prstGeom prst="rect">
            <a:avLst/>
          </a:prstGeom>
        </p:spPr>
      </p:pic>
      <p:sp>
        <p:nvSpPr>
          <p:cNvPr id="8" name="Text 5"/>
          <p:cNvSpPr/>
          <p:nvPr/>
        </p:nvSpPr>
        <p:spPr>
          <a:xfrm>
            <a:off x="667512" y="2157984"/>
            <a:ext cx="1572768" cy="274320"/>
          </a:xfrm>
          <a:prstGeom prst="rect">
            <a:avLst/>
          </a:prstGeom>
          <a:noFill/>
          <a:ln/>
        </p:spPr>
        <p:txBody>
          <a:bodyPr wrap="square" lIns="0" tIns="0" rIns="0" bIns="0" rtlCol="0" anchor="ctr"/>
          <a:lstStyle/>
          <a:p>
            <a:pPr marL="0" indent="0">
              <a:buNone/>
            </a:pPr>
            <a:r>
              <a:rPr lang="en-US" sz="1250" b="1" dirty="0">
                <a:solidFill>
                  <a:srgbClr val="0F2A43"/>
                </a:solidFill>
                <a:latin typeface="Calibri" pitchFamily="34" charset="0"/>
                <a:ea typeface="Calibri" pitchFamily="34" charset="-122"/>
                <a:cs typeface="Calibri" pitchFamily="34" charset="-120"/>
              </a:rPr>
              <a:t>Upload</a:t>
            </a:r>
            <a:endParaRPr lang="en-US" sz="1250" dirty="0"/>
          </a:p>
        </p:txBody>
      </p:sp>
      <p:sp>
        <p:nvSpPr>
          <p:cNvPr id="9" name="Text 6"/>
          <p:cNvSpPr/>
          <p:nvPr/>
        </p:nvSpPr>
        <p:spPr>
          <a:xfrm>
            <a:off x="667512" y="2414016"/>
            <a:ext cx="1572768" cy="274320"/>
          </a:xfrm>
          <a:prstGeom prst="rect">
            <a:avLst/>
          </a:prstGeom>
          <a:noFill/>
          <a:ln/>
        </p:spPr>
        <p:txBody>
          <a:bodyPr wrap="square" lIns="0" tIns="0" rIns="0" bIns="0" rtlCol="0" anchor="t"/>
          <a:lstStyle/>
          <a:p>
            <a:pPr marL="0" indent="0">
              <a:buNone/>
            </a:pPr>
            <a:r>
              <a:rPr lang="en-US" sz="900" dirty="0">
                <a:solidFill>
                  <a:srgbClr val="334155"/>
                </a:solidFill>
                <a:latin typeface="Calibri" pitchFamily="34" charset="0"/>
                <a:ea typeface="Calibri" pitchFamily="34" charset="-122"/>
                <a:cs typeface="Calibri" pitchFamily="34" charset="-120"/>
              </a:rPr>
              <a:t>Source &amp; target structures or schema specs</a:t>
            </a:r>
            <a:endParaRPr lang="en-US" sz="900" dirty="0"/>
          </a:p>
        </p:txBody>
      </p:sp>
      <p:sp>
        <p:nvSpPr>
          <p:cNvPr id="10" name="Shape 7"/>
          <p:cNvSpPr/>
          <p:nvPr/>
        </p:nvSpPr>
        <p:spPr>
          <a:xfrm>
            <a:off x="2587752" y="1554480"/>
            <a:ext cx="1883664" cy="1170432"/>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11" name="Shape 8"/>
          <p:cNvSpPr/>
          <p:nvPr/>
        </p:nvSpPr>
        <p:spPr>
          <a:xfrm>
            <a:off x="2752344" y="1700784"/>
            <a:ext cx="420624" cy="420624"/>
          </a:xfrm>
          <a:prstGeom prst="ellipse">
            <a:avLst/>
          </a:prstGeom>
          <a:solidFill>
            <a:srgbClr val="0D9488"/>
          </a:solidFill>
          <a:ln/>
        </p:spPr>
        <p:txBody>
          <a:bodyPr/>
          <a:lstStyle/>
          <a:p>
            <a:endParaRPr lang="en-US"/>
          </a:p>
        </p:txBody>
      </p:sp>
      <p:sp>
        <p:nvSpPr>
          <p:cNvPr id="12" name="Text 9"/>
          <p:cNvSpPr/>
          <p:nvPr/>
        </p:nvSpPr>
        <p:spPr>
          <a:xfrm>
            <a:off x="2752344" y="1700784"/>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pic>
        <p:nvPicPr>
          <p:cNvPr id="13" name="Image 1" descr="preencoded.png"/>
          <p:cNvPicPr>
            <a:picLocks noChangeAspect="1"/>
          </p:cNvPicPr>
          <p:nvPr/>
        </p:nvPicPr>
        <p:blipFill>
          <a:blip r:embed="rId4"/>
          <a:stretch>
            <a:fillRect/>
          </a:stretch>
        </p:blipFill>
        <p:spPr>
          <a:xfrm>
            <a:off x="3959352" y="1719072"/>
            <a:ext cx="292608" cy="292608"/>
          </a:xfrm>
          <a:prstGeom prst="rect">
            <a:avLst/>
          </a:prstGeom>
        </p:spPr>
      </p:pic>
      <p:sp>
        <p:nvSpPr>
          <p:cNvPr id="14" name="Text 10"/>
          <p:cNvSpPr/>
          <p:nvPr/>
        </p:nvSpPr>
        <p:spPr>
          <a:xfrm>
            <a:off x="2752344" y="2157984"/>
            <a:ext cx="1572768" cy="274320"/>
          </a:xfrm>
          <a:prstGeom prst="rect">
            <a:avLst/>
          </a:prstGeom>
          <a:noFill/>
          <a:ln/>
        </p:spPr>
        <p:txBody>
          <a:bodyPr wrap="square" lIns="0" tIns="0" rIns="0" bIns="0" rtlCol="0" anchor="ctr"/>
          <a:lstStyle/>
          <a:p>
            <a:pPr marL="0" indent="0">
              <a:buNone/>
            </a:pPr>
            <a:r>
              <a:rPr lang="en-US" sz="1250" b="1" dirty="0">
                <a:solidFill>
                  <a:srgbClr val="0F2A43"/>
                </a:solidFill>
                <a:latin typeface="Calibri" pitchFamily="34" charset="0"/>
                <a:ea typeface="Calibri" pitchFamily="34" charset="-122"/>
                <a:cs typeface="Calibri" pitchFamily="34" charset="-120"/>
              </a:rPr>
              <a:t>Generate</a:t>
            </a:r>
            <a:endParaRPr lang="en-US" sz="1250" dirty="0"/>
          </a:p>
        </p:txBody>
      </p:sp>
      <p:sp>
        <p:nvSpPr>
          <p:cNvPr id="15" name="Text 11"/>
          <p:cNvSpPr/>
          <p:nvPr/>
        </p:nvSpPr>
        <p:spPr>
          <a:xfrm>
            <a:off x="2752344" y="2414016"/>
            <a:ext cx="1572768" cy="274320"/>
          </a:xfrm>
          <a:prstGeom prst="rect">
            <a:avLst/>
          </a:prstGeom>
          <a:noFill/>
          <a:ln/>
        </p:spPr>
        <p:txBody>
          <a:bodyPr wrap="square" lIns="0" tIns="0" rIns="0" bIns="0" rtlCol="0" anchor="t"/>
          <a:lstStyle/>
          <a:p>
            <a:pPr marL="0" indent="0">
              <a:buNone/>
            </a:pPr>
            <a:r>
              <a:rPr lang="en-US" sz="900" dirty="0">
                <a:solidFill>
                  <a:srgbClr val="334155"/>
                </a:solidFill>
                <a:latin typeface="Calibri" pitchFamily="34" charset="0"/>
                <a:ea typeface="Calibri" pitchFamily="34" charset="-122"/>
                <a:cs typeface="Calibri" pitchFamily="34" charset="-120"/>
              </a:rPr>
              <a:t>Ranked mapping suggestions</a:t>
            </a:r>
            <a:endParaRPr lang="en-US" sz="900" dirty="0"/>
          </a:p>
        </p:txBody>
      </p:sp>
      <p:sp>
        <p:nvSpPr>
          <p:cNvPr id="16" name="Shape 12"/>
          <p:cNvSpPr/>
          <p:nvPr/>
        </p:nvSpPr>
        <p:spPr>
          <a:xfrm>
            <a:off x="4672584" y="1554480"/>
            <a:ext cx="1883664" cy="1170432"/>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17" name="Shape 13"/>
          <p:cNvSpPr/>
          <p:nvPr/>
        </p:nvSpPr>
        <p:spPr>
          <a:xfrm>
            <a:off x="4837176" y="1700784"/>
            <a:ext cx="420624" cy="420624"/>
          </a:xfrm>
          <a:prstGeom prst="ellipse">
            <a:avLst/>
          </a:prstGeom>
          <a:solidFill>
            <a:srgbClr val="0D9488"/>
          </a:solidFill>
          <a:ln/>
        </p:spPr>
        <p:txBody>
          <a:bodyPr/>
          <a:lstStyle/>
          <a:p>
            <a:endParaRPr lang="en-US"/>
          </a:p>
        </p:txBody>
      </p:sp>
      <p:sp>
        <p:nvSpPr>
          <p:cNvPr id="18" name="Text 14"/>
          <p:cNvSpPr/>
          <p:nvPr/>
        </p:nvSpPr>
        <p:spPr>
          <a:xfrm>
            <a:off x="4837176" y="1700784"/>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pic>
        <p:nvPicPr>
          <p:cNvPr id="19" name="Image 2" descr="preencoded.png"/>
          <p:cNvPicPr>
            <a:picLocks noChangeAspect="1"/>
          </p:cNvPicPr>
          <p:nvPr/>
        </p:nvPicPr>
        <p:blipFill>
          <a:blip r:embed="rId5"/>
          <a:stretch>
            <a:fillRect/>
          </a:stretch>
        </p:blipFill>
        <p:spPr>
          <a:xfrm>
            <a:off x="6044184" y="1719072"/>
            <a:ext cx="292608" cy="292608"/>
          </a:xfrm>
          <a:prstGeom prst="rect">
            <a:avLst/>
          </a:prstGeom>
        </p:spPr>
      </p:pic>
      <p:sp>
        <p:nvSpPr>
          <p:cNvPr id="20" name="Text 15"/>
          <p:cNvSpPr/>
          <p:nvPr/>
        </p:nvSpPr>
        <p:spPr>
          <a:xfrm>
            <a:off x="4837176" y="2157984"/>
            <a:ext cx="1572768" cy="274320"/>
          </a:xfrm>
          <a:prstGeom prst="rect">
            <a:avLst/>
          </a:prstGeom>
          <a:noFill/>
          <a:ln/>
        </p:spPr>
        <p:txBody>
          <a:bodyPr wrap="square" lIns="0" tIns="0" rIns="0" bIns="0" rtlCol="0" anchor="ctr"/>
          <a:lstStyle/>
          <a:p>
            <a:pPr marL="0" indent="0">
              <a:buNone/>
            </a:pPr>
            <a:r>
              <a:rPr lang="en-US" sz="1250" b="1" dirty="0">
                <a:solidFill>
                  <a:srgbClr val="0F2A43"/>
                </a:solidFill>
                <a:latin typeface="Calibri" pitchFamily="34" charset="0"/>
                <a:ea typeface="Calibri" pitchFamily="34" charset="-122"/>
                <a:cs typeface="Calibri" pitchFamily="34" charset="-120"/>
              </a:rPr>
              <a:t>Inspect</a:t>
            </a:r>
            <a:endParaRPr lang="en-US" sz="1250" dirty="0"/>
          </a:p>
        </p:txBody>
      </p:sp>
      <p:sp>
        <p:nvSpPr>
          <p:cNvPr id="21" name="Text 16"/>
          <p:cNvSpPr/>
          <p:nvPr/>
        </p:nvSpPr>
        <p:spPr>
          <a:xfrm>
            <a:off x="4837176" y="2414016"/>
            <a:ext cx="1572768" cy="274320"/>
          </a:xfrm>
          <a:prstGeom prst="rect">
            <a:avLst/>
          </a:prstGeom>
          <a:noFill/>
          <a:ln/>
        </p:spPr>
        <p:txBody>
          <a:bodyPr wrap="square" lIns="0" tIns="0" rIns="0" bIns="0" rtlCol="0" anchor="t"/>
          <a:lstStyle/>
          <a:p>
            <a:pPr marL="0" indent="0">
              <a:buNone/>
            </a:pPr>
            <a:r>
              <a:rPr lang="en-US" sz="900" dirty="0">
                <a:solidFill>
                  <a:srgbClr val="334155"/>
                </a:solidFill>
                <a:latin typeface="Calibri" pitchFamily="34" charset="0"/>
                <a:ea typeface="Calibri" pitchFamily="34" charset="-122"/>
                <a:cs typeface="Calibri" pitchFamily="34" charset="-120"/>
              </a:rPr>
              <a:t>Trust layer &amp; canonical paths</a:t>
            </a:r>
            <a:endParaRPr lang="en-US" sz="900" dirty="0"/>
          </a:p>
        </p:txBody>
      </p:sp>
      <p:sp>
        <p:nvSpPr>
          <p:cNvPr id="22" name="Shape 17"/>
          <p:cNvSpPr/>
          <p:nvPr/>
        </p:nvSpPr>
        <p:spPr>
          <a:xfrm>
            <a:off x="6757416" y="1554480"/>
            <a:ext cx="1883664" cy="1170432"/>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23" name="Shape 18"/>
          <p:cNvSpPr/>
          <p:nvPr/>
        </p:nvSpPr>
        <p:spPr>
          <a:xfrm>
            <a:off x="6922008" y="1700784"/>
            <a:ext cx="420624" cy="420624"/>
          </a:xfrm>
          <a:prstGeom prst="ellipse">
            <a:avLst/>
          </a:prstGeom>
          <a:solidFill>
            <a:srgbClr val="0D9488"/>
          </a:solidFill>
          <a:ln/>
        </p:spPr>
        <p:txBody>
          <a:bodyPr/>
          <a:lstStyle/>
          <a:p>
            <a:endParaRPr lang="en-US"/>
          </a:p>
        </p:txBody>
      </p:sp>
      <p:sp>
        <p:nvSpPr>
          <p:cNvPr id="24" name="Text 19"/>
          <p:cNvSpPr/>
          <p:nvPr/>
        </p:nvSpPr>
        <p:spPr>
          <a:xfrm>
            <a:off x="6922008" y="1700784"/>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pic>
        <p:nvPicPr>
          <p:cNvPr id="25" name="Image 3" descr="preencoded.png"/>
          <p:cNvPicPr>
            <a:picLocks noChangeAspect="1"/>
          </p:cNvPicPr>
          <p:nvPr/>
        </p:nvPicPr>
        <p:blipFill>
          <a:blip r:embed="rId6"/>
          <a:stretch>
            <a:fillRect/>
          </a:stretch>
        </p:blipFill>
        <p:spPr>
          <a:xfrm>
            <a:off x="8129016" y="1719072"/>
            <a:ext cx="292608" cy="292608"/>
          </a:xfrm>
          <a:prstGeom prst="rect">
            <a:avLst/>
          </a:prstGeom>
        </p:spPr>
      </p:pic>
      <p:sp>
        <p:nvSpPr>
          <p:cNvPr id="26" name="Text 20"/>
          <p:cNvSpPr/>
          <p:nvPr/>
        </p:nvSpPr>
        <p:spPr>
          <a:xfrm>
            <a:off x="6922008" y="2157984"/>
            <a:ext cx="1572768" cy="274320"/>
          </a:xfrm>
          <a:prstGeom prst="rect">
            <a:avLst/>
          </a:prstGeom>
          <a:noFill/>
          <a:ln/>
        </p:spPr>
        <p:txBody>
          <a:bodyPr wrap="square" lIns="0" tIns="0" rIns="0" bIns="0" rtlCol="0" anchor="ctr"/>
          <a:lstStyle/>
          <a:p>
            <a:pPr marL="0" indent="0">
              <a:buNone/>
            </a:pPr>
            <a:r>
              <a:rPr lang="en-US" sz="1250" b="1" dirty="0">
                <a:solidFill>
                  <a:srgbClr val="0F2A43"/>
                </a:solidFill>
                <a:latin typeface="Calibri" pitchFamily="34" charset="0"/>
                <a:ea typeface="Calibri" pitchFamily="34" charset="-122"/>
                <a:cs typeface="Calibri" pitchFamily="34" charset="-120"/>
              </a:rPr>
              <a:t>Review</a:t>
            </a:r>
            <a:endParaRPr lang="en-US" sz="1250" dirty="0"/>
          </a:p>
        </p:txBody>
      </p:sp>
      <p:sp>
        <p:nvSpPr>
          <p:cNvPr id="27" name="Text 21"/>
          <p:cNvSpPr/>
          <p:nvPr/>
        </p:nvSpPr>
        <p:spPr>
          <a:xfrm>
            <a:off x="6922008" y="2414016"/>
            <a:ext cx="1572768" cy="274320"/>
          </a:xfrm>
          <a:prstGeom prst="rect">
            <a:avLst/>
          </a:prstGeom>
          <a:noFill/>
          <a:ln/>
        </p:spPr>
        <p:txBody>
          <a:bodyPr wrap="square" lIns="0" tIns="0" rIns="0" bIns="0" rtlCol="0" anchor="t"/>
          <a:lstStyle/>
          <a:p>
            <a:pPr marL="0" indent="0">
              <a:buNone/>
            </a:pPr>
            <a:r>
              <a:rPr lang="en-US" sz="900" dirty="0">
                <a:solidFill>
                  <a:srgbClr val="334155"/>
                </a:solidFill>
                <a:latin typeface="Calibri" pitchFamily="34" charset="0"/>
                <a:ea typeface="Calibri" pitchFamily="34" charset="-122"/>
                <a:cs typeface="Calibri" pitchFamily="34" charset="-120"/>
              </a:rPr>
              <a:t>Approve, override, or reject</a:t>
            </a:r>
            <a:endParaRPr lang="en-US" sz="900" dirty="0"/>
          </a:p>
        </p:txBody>
      </p:sp>
      <p:sp>
        <p:nvSpPr>
          <p:cNvPr id="28" name="Shape 22"/>
          <p:cNvSpPr/>
          <p:nvPr/>
        </p:nvSpPr>
        <p:spPr>
          <a:xfrm>
            <a:off x="502920" y="2926080"/>
            <a:ext cx="1883664" cy="1170432"/>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29" name="Shape 23"/>
          <p:cNvSpPr/>
          <p:nvPr/>
        </p:nvSpPr>
        <p:spPr>
          <a:xfrm>
            <a:off x="667512" y="3072384"/>
            <a:ext cx="420624" cy="420624"/>
          </a:xfrm>
          <a:prstGeom prst="ellipse">
            <a:avLst/>
          </a:prstGeom>
          <a:solidFill>
            <a:srgbClr val="0D9488"/>
          </a:solidFill>
          <a:ln/>
        </p:spPr>
        <p:txBody>
          <a:bodyPr/>
          <a:lstStyle/>
          <a:p>
            <a:endParaRPr lang="en-US"/>
          </a:p>
        </p:txBody>
      </p:sp>
      <p:sp>
        <p:nvSpPr>
          <p:cNvPr id="30" name="Text 24"/>
          <p:cNvSpPr/>
          <p:nvPr/>
        </p:nvSpPr>
        <p:spPr>
          <a:xfrm>
            <a:off x="667512" y="3072384"/>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pic>
        <p:nvPicPr>
          <p:cNvPr id="31" name="Image 4" descr="preencoded.png"/>
          <p:cNvPicPr>
            <a:picLocks noChangeAspect="1"/>
          </p:cNvPicPr>
          <p:nvPr/>
        </p:nvPicPr>
        <p:blipFill>
          <a:blip r:embed="rId7"/>
          <a:stretch>
            <a:fillRect/>
          </a:stretch>
        </p:blipFill>
        <p:spPr>
          <a:xfrm>
            <a:off x="1874520" y="3090672"/>
            <a:ext cx="292608" cy="292608"/>
          </a:xfrm>
          <a:prstGeom prst="rect">
            <a:avLst/>
          </a:prstGeom>
        </p:spPr>
      </p:pic>
      <p:sp>
        <p:nvSpPr>
          <p:cNvPr id="32" name="Text 25"/>
          <p:cNvSpPr/>
          <p:nvPr/>
        </p:nvSpPr>
        <p:spPr>
          <a:xfrm>
            <a:off x="667512" y="3529584"/>
            <a:ext cx="1572768" cy="274320"/>
          </a:xfrm>
          <a:prstGeom prst="rect">
            <a:avLst/>
          </a:prstGeom>
          <a:noFill/>
          <a:ln/>
        </p:spPr>
        <p:txBody>
          <a:bodyPr wrap="square" lIns="0" tIns="0" rIns="0" bIns="0" rtlCol="0" anchor="ctr"/>
          <a:lstStyle/>
          <a:p>
            <a:pPr marL="0" indent="0">
              <a:buNone/>
            </a:pPr>
            <a:r>
              <a:rPr lang="en-US" sz="1250" b="1" dirty="0">
                <a:solidFill>
                  <a:srgbClr val="0F2A43"/>
                </a:solidFill>
                <a:latin typeface="Calibri" pitchFamily="34" charset="0"/>
                <a:ea typeface="Calibri" pitchFamily="34" charset="-122"/>
                <a:cs typeface="Calibri" pitchFamily="34" charset="-120"/>
              </a:rPr>
              <a:t>BA Report</a:t>
            </a:r>
            <a:endParaRPr lang="en-US" sz="1250" dirty="0"/>
          </a:p>
        </p:txBody>
      </p:sp>
      <p:sp>
        <p:nvSpPr>
          <p:cNvPr id="33" name="Text 26"/>
          <p:cNvSpPr/>
          <p:nvPr/>
        </p:nvSpPr>
        <p:spPr>
          <a:xfrm>
            <a:off x="667512" y="3785616"/>
            <a:ext cx="1572768" cy="274320"/>
          </a:xfrm>
          <a:prstGeom prst="rect">
            <a:avLst/>
          </a:prstGeom>
          <a:noFill/>
          <a:ln/>
        </p:spPr>
        <p:txBody>
          <a:bodyPr wrap="square" lIns="0" tIns="0" rIns="0" bIns="0" rtlCol="0" anchor="t"/>
          <a:lstStyle/>
          <a:p>
            <a:pPr marL="0" indent="0">
              <a:buNone/>
            </a:pPr>
            <a:r>
              <a:rPr lang="en-US" sz="900" dirty="0">
                <a:solidFill>
                  <a:srgbClr val="334155"/>
                </a:solidFill>
                <a:latin typeface="Calibri" pitchFamily="34" charset="0"/>
                <a:ea typeface="Calibri" pitchFamily="34" charset="-122"/>
                <a:cs typeface="Calibri" pitchFamily="34" charset="-120"/>
              </a:rPr>
              <a:t>Review derived report &amp; target contract</a:t>
            </a:r>
            <a:endParaRPr lang="en-US" sz="900" dirty="0"/>
          </a:p>
        </p:txBody>
      </p:sp>
      <p:sp>
        <p:nvSpPr>
          <p:cNvPr id="34" name="Shape 27"/>
          <p:cNvSpPr/>
          <p:nvPr/>
        </p:nvSpPr>
        <p:spPr>
          <a:xfrm>
            <a:off x="2587752" y="2926080"/>
            <a:ext cx="1883664" cy="1170432"/>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35" name="Shape 28"/>
          <p:cNvSpPr/>
          <p:nvPr/>
        </p:nvSpPr>
        <p:spPr>
          <a:xfrm>
            <a:off x="2752344" y="3072384"/>
            <a:ext cx="420624" cy="420624"/>
          </a:xfrm>
          <a:prstGeom prst="ellipse">
            <a:avLst/>
          </a:prstGeom>
          <a:solidFill>
            <a:srgbClr val="0D9488"/>
          </a:solidFill>
          <a:ln/>
        </p:spPr>
        <p:txBody>
          <a:bodyPr/>
          <a:lstStyle/>
          <a:p>
            <a:endParaRPr lang="en-US"/>
          </a:p>
        </p:txBody>
      </p:sp>
      <p:sp>
        <p:nvSpPr>
          <p:cNvPr id="36" name="Text 29"/>
          <p:cNvSpPr/>
          <p:nvPr/>
        </p:nvSpPr>
        <p:spPr>
          <a:xfrm>
            <a:off x="2752344" y="3072384"/>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pic>
        <p:nvPicPr>
          <p:cNvPr id="37" name="Image 5" descr="preencoded.png"/>
          <p:cNvPicPr>
            <a:picLocks noChangeAspect="1"/>
          </p:cNvPicPr>
          <p:nvPr/>
        </p:nvPicPr>
        <p:blipFill>
          <a:blip r:embed="rId8"/>
          <a:stretch>
            <a:fillRect/>
          </a:stretch>
        </p:blipFill>
        <p:spPr>
          <a:xfrm>
            <a:off x="3959352" y="3090672"/>
            <a:ext cx="292608" cy="292608"/>
          </a:xfrm>
          <a:prstGeom prst="rect">
            <a:avLst/>
          </a:prstGeom>
        </p:spPr>
      </p:pic>
      <p:sp>
        <p:nvSpPr>
          <p:cNvPr id="38" name="Text 30"/>
          <p:cNvSpPr/>
          <p:nvPr/>
        </p:nvSpPr>
        <p:spPr>
          <a:xfrm>
            <a:off x="2752344" y="3529584"/>
            <a:ext cx="1572768" cy="274320"/>
          </a:xfrm>
          <a:prstGeom prst="rect">
            <a:avLst/>
          </a:prstGeom>
          <a:noFill/>
          <a:ln/>
        </p:spPr>
        <p:txBody>
          <a:bodyPr wrap="square" lIns="0" tIns="0" rIns="0" bIns="0" rtlCol="0" anchor="ctr"/>
          <a:lstStyle/>
          <a:p>
            <a:pPr marL="0" indent="0">
              <a:buNone/>
            </a:pPr>
            <a:r>
              <a:rPr lang="en-US" sz="1250" b="1" dirty="0">
                <a:solidFill>
                  <a:srgbClr val="0F2A43"/>
                </a:solidFill>
                <a:latin typeface="Calibri" pitchFamily="34" charset="0"/>
                <a:ea typeface="Calibri" pitchFamily="34" charset="-122"/>
                <a:cs typeface="Calibri" pitchFamily="34" charset="-120"/>
              </a:rPr>
              <a:t>Preview &amp; code</a:t>
            </a:r>
            <a:endParaRPr lang="en-US" sz="1250" dirty="0"/>
          </a:p>
        </p:txBody>
      </p:sp>
      <p:sp>
        <p:nvSpPr>
          <p:cNvPr id="39" name="Text 31"/>
          <p:cNvSpPr/>
          <p:nvPr/>
        </p:nvSpPr>
        <p:spPr>
          <a:xfrm>
            <a:off x="2752344" y="3785616"/>
            <a:ext cx="1572768" cy="274320"/>
          </a:xfrm>
          <a:prstGeom prst="rect">
            <a:avLst/>
          </a:prstGeom>
          <a:noFill/>
          <a:ln/>
        </p:spPr>
        <p:txBody>
          <a:bodyPr wrap="square" lIns="0" tIns="0" rIns="0" bIns="0" rtlCol="0" anchor="t"/>
          <a:lstStyle/>
          <a:p>
            <a:pPr marL="0" indent="0">
              <a:buNone/>
            </a:pPr>
            <a:r>
              <a:rPr lang="en-US" sz="900" dirty="0">
                <a:solidFill>
                  <a:srgbClr val="334155"/>
                </a:solidFill>
                <a:latin typeface="Calibri" pitchFamily="34" charset="0"/>
                <a:ea typeface="Calibri" pitchFamily="34" charset="-122"/>
                <a:cs typeface="Calibri" pitchFamily="34" charset="-120"/>
              </a:rPr>
              <a:t>Transformations, codegen when accepted</a:t>
            </a:r>
            <a:endParaRPr lang="en-US" sz="900" dirty="0"/>
          </a:p>
        </p:txBody>
      </p:sp>
      <p:sp>
        <p:nvSpPr>
          <p:cNvPr id="40" name="Shape 32"/>
          <p:cNvSpPr/>
          <p:nvPr/>
        </p:nvSpPr>
        <p:spPr>
          <a:xfrm>
            <a:off x="4672584" y="2926080"/>
            <a:ext cx="1883664" cy="1170432"/>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41" name="Shape 33"/>
          <p:cNvSpPr/>
          <p:nvPr/>
        </p:nvSpPr>
        <p:spPr>
          <a:xfrm>
            <a:off x="4837176" y="3072384"/>
            <a:ext cx="420624" cy="420624"/>
          </a:xfrm>
          <a:prstGeom prst="ellipse">
            <a:avLst/>
          </a:prstGeom>
          <a:solidFill>
            <a:srgbClr val="0D9488"/>
          </a:solidFill>
          <a:ln/>
        </p:spPr>
        <p:txBody>
          <a:bodyPr/>
          <a:lstStyle/>
          <a:p>
            <a:endParaRPr lang="en-US"/>
          </a:p>
        </p:txBody>
      </p:sp>
      <p:sp>
        <p:nvSpPr>
          <p:cNvPr id="42" name="Text 34"/>
          <p:cNvSpPr/>
          <p:nvPr/>
        </p:nvSpPr>
        <p:spPr>
          <a:xfrm>
            <a:off x="4837176" y="3072384"/>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pic>
        <p:nvPicPr>
          <p:cNvPr id="43" name="Image 6" descr="preencoded.png"/>
          <p:cNvPicPr>
            <a:picLocks noChangeAspect="1"/>
          </p:cNvPicPr>
          <p:nvPr/>
        </p:nvPicPr>
        <p:blipFill>
          <a:blip r:embed="rId9"/>
          <a:stretch>
            <a:fillRect/>
          </a:stretch>
        </p:blipFill>
        <p:spPr>
          <a:xfrm>
            <a:off x="6044184" y="3090672"/>
            <a:ext cx="292608" cy="292608"/>
          </a:xfrm>
          <a:prstGeom prst="rect">
            <a:avLst/>
          </a:prstGeom>
        </p:spPr>
      </p:pic>
      <p:sp>
        <p:nvSpPr>
          <p:cNvPr id="44" name="Text 35"/>
          <p:cNvSpPr/>
          <p:nvPr/>
        </p:nvSpPr>
        <p:spPr>
          <a:xfrm>
            <a:off x="4837176" y="3529584"/>
            <a:ext cx="1572768" cy="274320"/>
          </a:xfrm>
          <a:prstGeom prst="rect">
            <a:avLst/>
          </a:prstGeom>
          <a:noFill/>
          <a:ln/>
        </p:spPr>
        <p:txBody>
          <a:bodyPr wrap="square" lIns="0" tIns="0" rIns="0" bIns="0" rtlCol="0" anchor="ctr"/>
          <a:lstStyle/>
          <a:p>
            <a:pPr marL="0" indent="0">
              <a:buNone/>
            </a:pPr>
            <a:r>
              <a:rPr lang="en-US" sz="1250" b="1" dirty="0">
                <a:solidFill>
                  <a:srgbClr val="0F2A43"/>
                </a:solidFill>
                <a:latin typeface="Calibri" pitchFamily="34" charset="0"/>
                <a:ea typeface="Calibri" pitchFamily="34" charset="-122"/>
                <a:cs typeface="Calibri" pitchFamily="34" charset="-120"/>
              </a:rPr>
              <a:t>Save</a:t>
            </a:r>
            <a:endParaRPr lang="en-US" sz="1250" dirty="0"/>
          </a:p>
        </p:txBody>
      </p:sp>
      <p:sp>
        <p:nvSpPr>
          <p:cNvPr id="45" name="Text 36"/>
          <p:cNvSpPr/>
          <p:nvPr/>
        </p:nvSpPr>
        <p:spPr>
          <a:xfrm>
            <a:off x="4837176" y="3785616"/>
            <a:ext cx="1572768" cy="274320"/>
          </a:xfrm>
          <a:prstGeom prst="rect">
            <a:avLst/>
          </a:prstGeom>
          <a:noFill/>
          <a:ln/>
        </p:spPr>
        <p:txBody>
          <a:bodyPr wrap="square" lIns="0" tIns="0" rIns="0" bIns="0" rtlCol="0" anchor="t"/>
          <a:lstStyle/>
          <a:p>
            <a:pPr marL="0" indent="0">
              <a:buNone/>
            </a:pPr>
            <a:r>
              <a:rPr lang="en-US" sz="900" dirty="0">
                <a:solidFill>
                  <a:srgbClr val="334155"/>
                </a:solidFill>
                <a:latin typeface="Calibri" pitchFamily="34" charset="0"/>
                <a:ea typeface="Calibri" pitchFamily="34" charset="-122"/>
                <a:cs typeface="Calibri" pitchFamily="34" charset="-120"/>
              </a:rPr>
              <a:t>Governed mapping sets</a:t>
            </a:r>
            <a:endParaRPr lang="en-US" sz="900" dirty="0"/>
          </a:p>
        </p:txBody>
      </p:sp>
      <p:sp>
        <p:nvSpPr>
          <p:cNvPr id="46" name="Shape 37"/>
          <p:cNvSpPr/>
          <p:nvPr/>
        </p:nvSpPr>
        <p:spPr>
          <a:xfrm>
            <a:off x="6757416" y="2926080"/>
            <a:ext cx="1883664" cy="1170432"/>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47" name="Shape 38"/>
          <p:cNvSpPr/>
          <p:nvPr/>
        </p:nvSpPr>
        <p:spPr>
          <a:xfrm>
            <a:off x="6922008" y="3072384"/>
            <a:ext cx="420624" cy="420624"/>
          </a:xfrm>
          <a:prstGeom prst="ellipse">
            <a:avLst/>
          </a:prstGeom>
          <a:solidFill>
            <a:srgbClr val="0D9488"/>
          </a:solidFill>
          <a:ln/>
        </p:spPr>
        <p:txBody>
          <a:bodyPr/>
          <a:lstStyle/>
          <a:p>
            <a:endParaRPr lang="en-US"/>
          </a:p>
        </p:txBody>
      </p:sp>
      <p:sp>
        <p:nvSpPr>
          <p:cNvPr id="48" name="Text 39"/>
          <p:cNvSpPr/>
          <p:nvPr/>
        </p:nvSpPr>
        <p:spPr>
          <a:xfrm>
            <a:off x="6922008" y="3072384"/>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pic>
        <p:nvPicPr>
          <p:cNvPr id="49" name="Image 7" descr="preencoded.png"/>
          <p:cNvPicPr>
            <a:picLocks noChangeAspect="1"/>
          </p:cNvPicPr>
          <p:nvPr/>
        </p:nvPicPr>
        <p:blipFill>
          <a:blip r:embed="rId10"/>
          <a:stretch>
            <a:fillRect/>
          </a:stretch>
        </p:blipFill>
        <p:spPr>
          <a:xfrm>
            <a:off x="8129016" y="3090672"/>
            <a:ext cx="292608" cy="292608"/>
          </a:xfrm>
          <a:prstGeom prst="rect">
            <a:avLst/>
          </a:prstGeom>
        </p:spPr>
      </p:pic>
      <p:sp>
        <p:nvSpPr>
          <p:cNvPr id="50" name="Text 40"/>
          <p:cNvSpPr/>
          <p:nvPr/>
        </p:nvSpPr>
        <p:spPr>
          <a:xfrm>
            <a:off x="6922008" y="3529584"/>
            <a:ext cx="1572768" cy="274320"/>
          </a:xfrm>
          <a:prstGeom prst="rect">
            <a:avLst/>
          </a:prstGeom>
          <a:noFill/>
          <a:ln/>
        </p:spPr>
        <p:txBody>
          <a:bodyPr wrap="square" lIns="0" tIns="0" rIns="0" bIns="0" rtlCol="0" anchor="ctr"/>
          <a:lstStyle/>
          <a:p>
            <a:pPr marL="0" indent="0">
              <a:buNone/>
            </a:pPr>
            <a:r>
              <a:rPr lang="en-US" sz="1250" b="1" dirty="0">
                <a:solidFill>
                  <a:srgbClr val="0F2A43"/>
                </a:solidFill>
                <a:latin typeface="Calibri" pitchFamily="34" charset="0"/>
                <a:ea typeface="Calibri" pitchFamily="34" charset="-122"/>
                <a:cs typeface="Calibri" pitchFamily="34" charset="-120"/>
              </a:rPr>
              <a:t>Reuse</a:t>
            </a:r>
            <a:endParaRPr lang="en-US" sz="1250" dirty="0"/>
          </a:p>
        </p:txBody>
      </p:sp>
      <p:sp>
        <p:nvSpPr>
          <p:cNvPr id="51" name="Text 41"/>
          <p:cNvSpPr/>
          <p:nvPr/>
        </p:nvSpPr>
        <p:spPr>
          <a:xfrm>
            <a:off x="6922008" y="3785616"/>
            <a:ext cx="1572768" cy="274320"/>
          </a:xfrm>
          <a:prstGeom prst="rect">
            <a:avLst/>
          </a:prstGeom>
          <a:noFill/>
          <a:ln/>
        </p:spPr>
        <p:txBody>
          <a:bodyPr wrap="square" lIns="0" tIns="0" rIns="0" bIns="0" rtlCol="0" anchor="t"/>
          <a:lstStyle/>
          <a:p>
            <a:pPr marL="0" indent="0">
              <a:buNone/>
            </a:pPr>
            <a:r>
              <a:rPr lang="en-US" sz="900" dirty="0">
                <a:solidFill>
                  <a:srgbClr val="334155"/>
                </a:solidFill>
                <a:latin typeface="Calibri" pitchFamily="34" charset="0"/>
                <a:ea typeface="Calibri" pitchFamily="34" charset="-122"/>
                <a:cs typeface="Calibri" pitchFamily="34" charset="-120"/>
              </a:rPr>
              <a:t>Find &amp; reapply via Catalog</a:t>
            </a:r>
            <a:endParaRPr lang="en-US" sz="900" dirty="0"/>
          </a:p>
        </p:txBody>
      </p:sp>
      <p:sp>
        <p:nvSpPr>
          <p:cNvPr id="52" name="Shape 42"/>
          <p:cNvSpPr/>
          <p:nvPr/>
        </p:nvSpPr>
        <p:spPr>
          <a:xfrm>
            <a:off x="502920" y="4718304"/>
            <a:ext cx="8138160" cy="0"/>
          </a:xfrm>
          <a:prstGeom prst="line">
            <a:avLst/>
          </a:prstGeom>
          <a:noFill/>
          <a:ln w="12700">
            <a:solidFill>
              <a:srgbClr val="DCE5EE"/>
            </a:solidFill>
            <a:prstDash val="solid"/>
          </a:ln>
        </p:spPr>
        <p:txBody>
          <a:bodyPr/>
          <a:lstStyle/>
          <a:p>
            <a:endParaRPr lang="en-US"/>
          </a:p>
        </p:txBody>
      </p:sp>
      <p:sp>
        <p:nvSpPr>
          <p:cNvPr id="53" name="Shape 43"/>
          <p:cNvSpPr/>
          <p:nvPr/>
        </p:nvSpPr>
        <p:spPr>
          <a:xfrm>
            <a:off x="502920" y="4846320"/>
            <a:ext cx="73152" cy="73152"/>
          </a:xfrm>
          <a:prstGeom prst="ellipse">
            <a:avLst/>
          </a:prstGeom>
          <a:solidFill>
            <a:srgbClr val="0D9488"/>
          </a:solidFill>
          <a:ln/>
        </p:spPr>
        <p:txBody>
          <a:bodyPr/>
          <a:lstStyle/>
          <a:p>
            <a:endParaRPr lang="en-US"/>
          </a:p>
        </p:txBody>
      </p:sp>
      <p:sp>
        <p:nvSpPr>
          <p:cNvPr id="54" name="Text 44"/>
          <p:cNvSpPr/>
          <p:nvPr/>
        </p:nvSpPr>
        <p:spPr>
          <a:xfrm>
            <a:off x="649224" y="4764024"/>
            <a:ext cx="2743200" cy="237744"/>
          </a:xfrm>
          <a:prstGeom prst="rect">
            <a:avLst/>
          </a:prstGeom>
          <a:noFill/>
          <a:ln/>
        </p:spPr>
        <p:txBody>
          <a:bodyPr wrap="square" lIns="0" tIns="0" rIns="0" bIns="0" rtlCol="0" anchor="ctr"/>
          <a:lstStyle/>
          <a:p>
            <a:pPr marL="0" indent="0">
              <a:buNone/>
            </a:pPr>
            <a:r>
              <a:rPr lang="en-US" sz="950" b="1" kern="0" spc="200" dirty="0">
                <a:solidFill>
                  <a:srgbClr val="64748B"/>
                </a:solidFill>
                <a:latin typeface="Calibri" pitchFamily="34" charset="0"/>
                <a:ea typeface="Calibri" pitchFamily="34" charset="-122"/>
                <a:cs typeface="Calibri" pitchFamily="34" charset="-120"/>
              </a:rPr>
              <a:t>SEMANTRA</a:t>
            </a:r>
            <a:endParaRPr lang="en-US" sz="950" dirty="0"/>
          </a:p>
        </p:txBody>
      </p:sp>
      <p:sp>
        <p:nvSpPr>
          <p:cNvPr id="55" name="Text 45"/>
          <p:cNvSpPr/>
          <p:nvPr/>
        </p:nvSpPr>
        <p:spPr>
          <a:xfrm>
            <a:off x="4800600" y="4764024"/>
            <a:ext cx="2834640" cy="237744"/>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PMO SERVICE • EA–DA BRIDGE</a:t>
            </a:r>
            <a:endParaRPr lang="en-US" sz="900" dirty="0"/>
          </a:p>
        </p:txBody>
      </p:sp>
      <p:sp>
        <p:nvSpPr>
          <p:cNvPr id="56" name="Text 46"/>
          <p:cNvSpPr/>
          <p:nvPr/>
        </p:nvSpPr>
        <p:spPr>
          <a:xfrm>
            <a:off x="7726680" y="4764024"/>
            <a:ext cx="914400" cy="237744"/>
          </a:xfrm>
          <a:prstGeom prst="rect">
            <a:avLst/>
          </a:prstGeom>
          <a:noFill/>
          <a:ln/>
        </p:spPr>
        <p:txBody>
          <a:bodyPr wrap="square" lIns="0" tIns="0" rIns="0" bIns="0" rtlCol="0" anchor="ctr"/>
          <a:lstStyle/>
          <a:p>
            <a:pPr marL="0" indent="0" algn="r">
              <a:buNone/>
            </a:pPr>
            <a:r>
              <a:rPr lang="en-US" sz="950" b="1" dirty="0">
                <a:solidFill>
                  <a:srgbClr val="0D9488"/>
                </a:solidFill>
                <a:latin typeface="Calibri" pitchFamily="34" charset="0"/>
                <a:ea typeface="Calibri" pitchFamily="34" charset="-122"/>
                <a:cs typeface="Calibri" pitchFamily="34" charset="-120"/>
              </a:rPr>
              <a:t>14 / 18</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8138160" cy="274320"/>
          </a:xfrm>
          <a:prstGeom prst="rect">
            <a:avLst/>
          </a:prstGeom>
          <a:noFill/>
          <a:ln/>
        </p:spPr>
        <p:txBody>
          <a:bodyPr wrap="square" lIns="0" tIns="0" rIns="0" bIns="0" rtlCol="0" anchor="ctr"/>
          <a:lstStyle/>
          <a:p>
            <a:pPr marL="0" indent="0" algn="l">
              <a:buNone/>
            </a:pPr>
            <a:r>
              <a:rPr lang="en-US" sz="1150" b="1" kern="0" spc="200" dirty="0">
                <a:solidFill>
                  <a:srgbClr val="0D9488"/>
                </a:solidFill>
                <a:latin typeface="Calibri" pitchFamily="34" charset="0"/>
                <a:ea typeface="Calibri" pitchFamily="34" charset="-122"/>
                <a:cs typeface="Calibri" pitchFamily="34" charset="-120"/>
              </a:rPr>
              <a:t>ARCHITECTURE</a:t>
            </a:r>
            <a:endParaRPr lang="en-US" sz="1150" dirty="0"/>
          </a:p>
        </p:txBody>
      </p:sp>
      <p:sp>
        <p:nvSpPr>
          <p:cNvPr id="3" name="Text 1"/>
          <p:cNvSpPr/>
          <p:nvPr/>
        </p:nvSpPr>
        <p:spPr>
          <a:xfrm>
            <a:off x="502920" y="585216"/>
            <a:ext cx="8138160" cy="749808"/>
          </a:xfrm>
          <a:prstGeom prst="rect">
            <a:avLst/>
          </a:prstGeom>
          <a:noFill/>
          <a:ln/>
        </p:spPr>
        <p:txBody>
          <a:bodyPr wrap="square" lIns="0" tIns="0" rIns="0" bIns="0" rtlCol="0" anchor="t"/>
          <a:lstStyle/>
          <a:p>
            <a:pPr marL="0" indent="0" algn="l">
              <a:buNone/>
            </a:pPr>
            <a:r>
              <a:rPr lang="en-US" sz="2700" b="1" dirty="0">
                <a:solidFill>
                  <a:srgbClr val="0F2A43"/>
                </a:solidFill>
                <a:latin typeface="Georgia" pitchFamily="34" charset="0"/>
                <a:ea typeface="Georgia" pitchFamily="34" charset="-122"/>
                <a:cs typeface="Georgia" pitchFamily="34" charset="-120"/>
              </a:rPr>
              <a:t>Built to scale from pilot to enterprise service</a:t>
            </a:r>
            <a:endParaRPr lang="en-US" sz="2700" dirty="0"/>
          </a:p>
        </p:txBody>
      </p:sp>
      <p:sp>
        <p:nvSpPr>
          <p:cNvPr id="4" name="Shape 2"/>
          <p:cNvSpPr/>
          <p:nvPr/>
        </p:nvSpPr>
        <p:spPr>
          <a:xfrm>
            <a:off x="502920" y="1517904"/>
            <a:ext cx="8138160" cy="457200"/>
          </a:xfrm>
          <a:prstGeom prst="rect">
            <a:avLst/>
          </a:prstGeom>
          <a:solidFill>
            <a:srgbClr val="F4F7FA"/>
          </a:solidFill>
          <a:ln w="12700">
            <a:solidFill>
              <a:srgbClr val="DCE5EE"/>
            </a:solidFill>
            <a:prstDash val="solid"/>
          </a:ln>
        </p:spPr>
        <p:txBody>
          <a:bodyPr/>
          <a:lstStyle/>
          <a:p>
            <a:endParaRPr lang="en-US"/>
          </a:p>
        </p:txBody>
      </p:sp>
      <p:sp>
        <p:nvSpPr>
          <p:cNvPr id="5" name="Shape 3"/>
          <p:cNvSpPr/>
          <p:nvPr/>
        </p:nvSpPr>
        <p:spPr>
          <a:xfrm>
            <a:off x="502920" y="1517904"/>
            <a:ext cx="64008" cy="457200"/>
          </a:xfrm>
          <a:prstGeom prst="rect">
            <a:avLst/>
          </a:prstGeom>
          <a:solidFill>
            <a:srgbClr val="0D9488"/>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704088" y="1627632"/>
            <a:ext cx="237744" cy="237744"/>
          </a:xfrm>
          <a:prstGeom prst="rect">
            <a:avLst/>
          </a:prstGeom>
        </p:spPr>
      </p:pic>
      <p:sp>
        <p:nvSpPr>
          <p:cNvPr id="7" name="Text 4"/>
          <p:cNvSpPr/>
          <p:nvPr/>
        </p:nvSpPr>
        <p:spPr>
          <a:xfrm>
            <a:off x="1069848" y="1517904"/>
            <a:ext cx="1463040" cy="457200"/>
          </a:xfrm>
          <a:prstGeom prst="rect">
            <a:avLst/>
          </a:prstGeom>
          <a:noFill/>
          <a:ln/>
        </p:spPr>
        <p:txBody>
          <a:bodyPr wrap="square" lIns="0" tIns="0" rIns="0" bIns="0" rtlCol="0" anchor="ctr"/>
          <a:lstStyle/>
          <a:p>
            <a:pPr marL="0" indent="0">
              <a:buNone/>
            </a:pPr>
            <a:r>
              <a:rPr lang="en-US" sz="1300" b="1" dirty="0">
                <a:solidFill>
                  <a:srgbClr val="0F2A43"/>
                </a:solidFill>
                <a:latin typeface="Calibri" pitchFamily="34" charset="0"/>
                <a:ea typeface="Calibri" pitchFamily="34" charset="-122"/>
                <a:cs typeface="Calibri" pitchFamily="34" charset="-120"/>
              </a:rPr>
              <a:t>UI</a:t>
            </a:r>
            <a:endParaRPr lang="en-US" sz="1300" dirty="0"/>
          </a:p>
        </p:txBody>
      </p:sp>
      <p:sp>
        <p:nvSpPr>
          <p:cNvPr id="8" name="Text 5"/>
          <p:cNvSpPr/>
          <p:nvPr/>
        </p:nvSpPr>
        <p:spPr>
          <a:xfrm>
            <a:off x="2606040" y="1517904"/>
            <a:ext cx="5897880" cy="457200"/>
          </a:xfrm>
          <a:prstGeom prst="rect">
            <a:avLst/>
          </a:prstGeom>
          <a:noFill/>
          <a:ln/>
        </p:spPr>
        <p:txBody>
          <a:bodyPr wrap="square" lIns="0" tIns="0" rIns="0" bIns="0" rtlCol="0" anchor="ctr"/>
          <a:lstStyle/>
          <a:p>
            <a:pPr marL="0" indent="0">
              <a:buNone/>
            </a:pPr>
            <a:r>
              <a:rPr lang="en-US" sz="1150" dirty="0">
                <a:solidFill>
                  <a:srgbClr val="334155"/>
                </a:solidFill>
                <a:latin typeface="Calibri" pitchFamily="34" charset="0"/>
                <a:ea typeface="Calibri" pitchFamily="34" charset="-122"/>
                <a:cs typeface="Calibri" pitchFamily="34" charset="-120"/>
              </a:rPr>
              <a:t>Modular Streamlit analyst-facing product flows</a:t>
            </a:r>
            <a:endParaRPr lang="en-US" sz="1150" dirty="0"/>
          </a:p>
        </p:txBody>
      </p:sp>
      <p:sp>
        <p:nvSpPr>
          <p:cNvPr id="9" name="Shape 6"/>
          <p:cNvSpPr/>
          <p:nvPr/>
        </p:nvSpPr>
        <p:spPr>
          <a:xfrm>
            <a:off x="502920" y="2043684"/>
            <a:ext cx="8138160" cy="457200"/>
          </a:xfrm>
          <a:prstGeom prst="rect">
            <a:avLst/>
          </a:prstGeom>
          <a:solidFill>
            <a:srgbClr val="EEF3F8"/>
          </a:solidFill>
          <a:ln w="12700">
            <a:solidFill>
              <a:srgbClr val="DCE5EE"/>
            </a:solidFill>
            <a:prstDash val="solid"/>
          </a:ln>
        </p:spPr>
        <p:txBody>
          <a:bodyPr/>
          <a:lstStyle/>
          <a:p>
            <a:endParaRPr lang="en-US"/>
          </a:p>
        </p:txBody>
      </p:sp>
      <p:sp>
        <p:nvSpPr>
          <p:cNvPr id="10" name="Shape 7"/>
          <p:cNvSpPr/>
          <p:nvPr/>
        </p:nvSpPr>
        <p:spPr>
          <a:xfrm>
            <a:off x="502920" y="2043684"/>
            <a:ext cx="64008" cy="457200"/>
          </a:xfrm>
          <a:prstGeom prst="rect">
            <a:avLst/>
          </a:prstGeom>
          <a:solidFill>
            <a:srgbClr val="0D9488"/>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704088" y="2153412"/>
            <a:ext cx="237744" cy="237744"/>
          </a:xfrm>
          <a:prstGeom prst="rect">
            <a:avLst/>
          </a:prstGeom>
        </p:spPr>
      </p:pic>
      <p:sp>
        <p:nvSpPr>
          <p:cNvPr id="12" name="Text 8"/>
          <p:cNvSpPr/>
          <p:nvPr/>
        </p:nvSpPr>
        <p:spPr>
          <a:xfrm>
            <a:off x="1069848" y="2043684"/>
            <a:ext cx="1463040" cy="457200"/>
          </a:xfrm>
          <a:prstGeom prst="rect">
            <a:avLst/>
          </a:prstGeom>
          <a:noFill/>
          <a:ln/>
        </p:spPr>
        <p:txBody>
          <a:bodyPr wrap="square" lIns="0" tIns="0" rIns="0" bIns="0" rtlCol="0" anchor="ctr"/>
          <a:lstStyle/>
          <a:p>
            <a:pPr marL="0" indent="0">
              <a:buNone/>
            </a:pPr>
            <a:r>
              <a:rPr lang="en-US" sz="1300" b="1" dirty="0">
                <a:solidFill>
                  <a:srgbClr val="0F2A43"/>
                </a:solidFill>
                <a:latin typeface="Calibri" pitchFamily="34" charset="0"/>
                <a:ea typeface="Calibri" pitchFamily="34" charset="-122"/>
                <a:cs typeface="Calibri" pitchFamily="34" charset="-120"/>
              </a:rPr>
              <a:t>API</a:t>
            </a:r>
            <a:endParaRPr lang="en-US" sz="1300" dirty="0"/>
          </a:p>
        </p:txBody>
      </p:sp>
      <p:sp>
        <p:nvSpPr>
          <p:cNvPr id="13" name="Text 9"/>
          <p:cNvSpPr/>
          <p:nvPr/>
        </p:nvSpPr>
        <p:spPr>
          <a:xfrm>
            <a:off x="2606040" y="2043684"/>
            <a:ext cx="5897880" cy="457200"/>
          </a:xfrm>
          <a:prstGeom prst="rect">
            <a:avLst/>
          </a:prstGeom>
          <a:noFill/>
          <a:ln/>
        </p:spPr>
        <p:txBody>
          <a:bodyPr wrap="square" lIns="0" tIns="0" rIns="0" bIns="0" rtlCol="0" anchor="ctr"/>
          <a:lstStyle/>
          <a:p>
            <a:pPr marL="0" indent="0">
              <a:buNone/>
            </a:pPr>
            <a:r>
              <a:rPr lang="en-US" sz="1150" dirty="0">
                <a:solidFill>
                  <a:srgbClr val="334155"/>
                </a:solidFill>
                <a:latin typeface="Calibri" pitchFamily="34" charset="0"/>
                <a:ea typeface="Calibri" pitchFamily="34" charset="-122"/>
                <a:cs typeface="Calibri" pitchFamily="34" charset="-120"/>
              </a:rPr>
              <a:t>FastAPI orchestration layer for the application</a:t>
            </a:r>
            <a:endParaRPr lang="en-US" sz="1150" dirty="0"/>
          </a:p>
        </p:txBody>
      </p:sp>
      <p:sp>
        <p:nvSpPr>
          <p:cNvPr id="14" name="Shape 10"/>
          <p:cNvSpPr/>
          <p:nvPr/>
        </p:nvSpPr>
        <p:spPr>
          <a:xfrm>
            <a:off x="502920" y="2569464"/>
            <a:ext cx="8138160" cy="457200"/>
          </a:xfrm>
          <a:prstGeom prst="rect">
            <a:avLst/>
          </a:prstGeom>
          <a:solidFill>
            <a:srgbClr val="F4F7FA"/>
          </a:solidFill>
          <a:ln w="12700">
            <a:solidFill>
              <a:srgbClr val="DCE5EE"/>
            </a:solidFill>
            <a:prstDash val="solid"/>
          </a:ln>
        </p:spPr>
        <p:txBody>
          <a:bodyPr/>
          <a:lstStyle/>
          <a:p>
            <a:endParaRPr lang="en-US"/>
          </a:p>
        </p:txBody>
      </p:sp>
      <p:sp>
        <p:nvSpPr>
          <p:cNvPr id="15" name="Shape 11"/>
          <p:cNvSpPr/>
          <p:nvPr/>
        </p:nvSpPr>
        <p:spPr>
          <a:xfrm>
            <a:off x="502920" y="2569464"/>
            <a:ext cx="64008" cy="457200"/>
          </a:xfrm>
          <a:prstGeom prst="rect">
            <a:avLst/>
          </a:prstGeom>
          <a:solidFill>
            <a:srgbClr val="0D9488"/>
          </a:solidFill>
          <a:ln/>
        </p:spPr>
        <p:txBody>
          <a:bodyPr/>
          <a:lstStyle/>
          <a:p>
            <a:endParaRPr lang="en-US"/>
          </a:p>
        </p:txBody>
      </p:sp>
      <p:pic>
        <p:nvPicPr>
          <p:cNvPr id="16" name="Image 2" descr="preencoded.png"/>
          <p:cNvPicPr>
            <a:picLocks noChangeAspect="1"/>
          </p:cNvPicPr>
          <p:nvPr/>
        </p:nvPicPr>
        <p:blipFill>
          <a:blip r:embed="rId5"/>
          <a:stretch>
            <a:fillRect/>
          </a:stretch>
        </p:blipFill>
        <p:spPr>
          <a:xfrm>
            <a:off x="704088" y="2679192"/>
            <a:ext cx="237744" cy="237744"/>
          </a:xfrm>
          <a:prstGeom prst="rect">
            <a:avLst/>
          </a:prstGeom>
        </p:spPr>
      </p:pic>
      <p:sp>
        <p:nvSpPr>
          <p:cNvPr id="17" name="Text 12"/>
          <p:cNvSpPr/>
          <p:nvPr/>
        </p:nvSpPr>
        <p:spPr>
          <a:xfrm>
            <a:off x="1069848" y="2569464"/>
            <a:ext cx="1463040" cy="457200"/>
          </a:xfrm>
          <a:prstGeom prst="rect">
            <a:avLst/>
          </a:prstGeom>
          <a:noFill/>
          <a:ln/>
        </p:spPr>
        <p:txBody>
          <a:bodyPr wrap="square" lIns="0" tIns="0" rIns="0" bIns="0" rtlCol="0" anchor="ctr"/>
          <a:lstStyle/>
          <a:p>
            <a:pPr marL="0" indent="0">
              <a:buNone/>
            </a:pPr>
            <a:r>
              <a:rPr lang="en-US" sz="1300" b="1" dirty="0">
                <a:solidFill>
                  <a:srgbClr val="0F2A43"/>
                </a:solidFill>
                <a:latin typeface="Calibri" pitchFamily="34" charset="0"/>
                <a:ea typeface="Calibri" pitchFamily="34" charset="-122"/>
                <a:cs typeface="Calibri" pitchFamily="34" charset="-120"/>
              </a:rPr>
              <a:t>Services</a:t>
            </a:r>
            <a:endParaRPr lang="en-US" sz="1300" dirty="0"/>
          </a:p>
        </p:txBody>
      </p:sp>
      <p:sp>
        <p:nvSpPr>
          <p:cNvPr id="18" name="Text 13"/>
          <p:cNvSpPr/>
          <p:nvPr/>
        </p:nvSpPr>
        <p:spPr>
          <a:xfrm>
            <a:off x="2606040" y="2569464"/>
            <a:ext cx="5897880" cy="457200"/>
          </a:xfrm>
          <a:prstGeom prst="rect">
            <a:avLst/>
          </a:prstGeom>
          <a:noFill/>
          <a:ln/>
        </p:spPr>
        <p:txBody>
          <a:bodyPr wrap="square" lIns="0" tIns="0" rIns="0" bIns="0" rtlCol="0" anchor="ctr"/>
          <a:lstStyle/>
          <a:p>
            <a:pPr marL="0" indent="0">
              <a:buNone/>
            </a:pPr>
            <a:r>
              <a:rPr lang="en-US" sz="1150" dirty="0">
                <a:solidFill>
                  <a:srgbClr val="334155"/>
                </a:solidFill>
                <a:latin typeface="Calibri" pitchFamily="34" charset="0"/>
                <a:ea typeface="Calibri" pitchFamily="34" charset="-122"/>
                <a:cs typeface="Calibri" pitchFamily="34" charset="-120"/>
              </a:rPr>
              <a:t>Mapping, preview, catalog, evaluation, knowledge</a:t>
            </a:r>
            <a:endParaRPr lang="en-US" sz="1150" dirty="0"/>
          </a:p>
        </p:txBody>
      </p:sp>
      <p:sp>
        <p:nvSpPr>
          <p:cNvPr id="19" name="Shape 14"/>
          <p:cNvSpPr/>
          <p:nvPr/>
        </p:nvSpPr>
        <p:spPr>
          <a:xfrm>
            <a:off x="502920" y="3095244"/>
            <a:ext cx="8138160" cy="457200"/>
          </a:xfrm>
          <a:prstGeom prst="rect">
            <a:avLst/>
          </a:prstGeom>
          <a:solidFill>
            <a:srgbClr val="EEF3F8"/>
          </a:solidFill>
          <a:ln w="12700">
            <a:solidFill>
              <a:srgbClr val="DCE5EE"/>
            </a:solidFill>
            <a:prstDash val="solid"/>
          </a:ln>
        </p:spPr>
        <p:txBody>
          <a:bodyPr/>
          <a:lstStyle/>
          <a:p>
            <a:endParaRPr lang="en-US"/>
          </a:p>
        </p:txBody>
      </p:sp>
      <p:sp>
        <p:nvSpPr>
          <p:cNvPr id="20" name="Shape 15"/>
          <p:cNvSpPr/>
          <p:nvPr/>
        </p:nvSpPr>
        <p:spPr>
          <a:xfrm>
            <a:off x="502920" y="3095244"/>
            <a:ext cx="64008" cy="457200"/>
          </a:xfrm>
          <a:prstGeom prst="rect">
            <a:avLst/>
          </a:prstGeom>
          <a:solidFill>
            <a:srgbClr val="0D9488"/>
          </a:solidFill>
          <a:ln/>
        </p:spPr>
        <p:txBody>
          <a:bodyPr/>
          <a:lstStyle/>
          <a:p>
            <a:endParaRPr lang="en-US"/>
          </a:p>
        </p:txBody>
      </p:sp>
      <p:pic>
        <p:nvPicPr>
          <p:cNvPr id="21" name="Image 3" descr="preencoded.png"/>
          <p:cNvPicPr>
            <a:picLocks noChangeAspect="1"/>
          </p:cNvPicPr>
          <p:nvPr/>
        </p:nvPicPr>
        <p:blipFill>
          <a:blip r:embed="rId6"/>
          <a:stretch>
            <a:fillRect/>
          </a:stretch>
        </p:blipFill>
        <p:spPr>
          <a:xfrm>
            <a:off x="704088" y="3204972"/>
            <a:ext cx="237744" cy="237744"/>
          </a:xfrm>
          <a:prstGeom prst="rect">
            <a:avLst/>
          </a:prstGeom>
        </p:spPr>
      </p:pic>
      <p:sp>
        <p:nvSpPr>
          <p:cNvPr id="22" name="Text 16"/>
          <p:cNvSpPr/>
          <p:nvPr/>
        </p:nvSpPr>
        <p:spPr>
          <a:xfrm>
            <a:off x="1069848" y="3095244"/>
            <a:ext cx="1463040" cy="457200"/>
          </a:xfrm>
          <a:prstGeom prst="rect">
            <a:avLst/>
          </a:prstGeom>
          <a:noFill/>
          <a:ln/>
        </p:spPr>
        <p:txBody>
          <a:bodyPr wrap="square" lIns="0" tIns="0" rIns="0" bIns="0" rtlCol="0" anchor="ctr"/>
          <a:lstStyle/>
          <a:p>
            <a:pPr marL="0" indent="0">
              <a:buNone/>
            </a:pPr>
            <a:r>
              <a:rPr lang="en-US" sz="1300" b="1" dirty="0">
                <a:solidFill>
                  <a:srgbClr val="0F2A43"/>
                </a:solidFill>
                <a:latin typeface="Calibri" pitchFamily="34" charset="0"/>
                <a:ea typeface="Calibri" pitchFamily="34" charset="-122"/>
                <a:cs typeface="Calibri" pitchFamily="34" charset="-120"/>
              </a:rPr>
              <a:t>Storage</a:t>
            </a:r>
            <a:endParaRPr lang="en-US" sz="1300" dirty="0"/>
          </a:p>
        </p:txBody>
      </p:sp>
      <p:sp>
        <p:nvSpPr>
          <p:cNvPr id="23" name="Text 17"/>
          <p:cNvSpPr/>
          <p:nvPr/>
        </p:nvSpPr>
        <p:spPr>
          <a:xfrm>
            <a:off x="2606040" y="3095244"/>
            <a:ext cx="5897880" cy="457200"/>
          </a:xfrm>
          <a:prstGeom prst="rect">
            <a:avLst/>
          </a:prstGeom>
          <a:noFill/>
          <a:ln/>
        </p:spPr>
        <p:txBody>
          <a:bodyPr wrap="square" lIns="0" tIns="0" rIns="0" bIns="0" rtlCol="0" anchor="ctr"/>
          <a:lstStyle/>
          <a:p>
            <a:pPr marL="0" indent="0">
              <a:buNone/>
            </a:pPr>
            <a:r>
              <a:rPr lang="en-US" sz="1150" dirty="0">
                <a:solidFill>
                  <a:srgbClr val="334155"/>
                </a:solidFill>
                <a:latin typeface="Calibri" pitchFamily="34" charset="0"/>
                <a:ea typeface="Calibri" pitchFamily="34" charset="-122"/>
                <a:cs typeface="Calibri" pitchFamily="34" charset="-120"/>
              </a:rPr>
              <a:t>SQLite governed artifacts &amp; semantic memory</a:t>
            </a:r>
            <a:endParaRPr lang="en-US" sz="1150" dirty="0"/>
          </a:p>
        </p:txBody>
      </p:sp>
      <p:sp>
        <p:nvSpPr>
          <p:cNvPr id="24" name="Shape 18"/>
          <p:cNvSpPr/>
          <p:nvPr/>
        </p:nvSpPr>
        <p:spPr>
          <a:xfrm>
            <a:off x="502920" y="3621024"/>
            <a:ext cx="8138160" cy="457200"/>
          </a:xfrm>
          <a:prstGeom prst="rect">
            <a:avLst/>
          </a:prstGeom>
          <a:solidFill>
            <a:srgbClr val="F4F7FA"/>
          </a:solidFill>
          <a:ln w="12700">
            <a:solidFill>
              <a:srgbClr val="DCE5EE"/>
            </a:solidFill>
            <a:prstDash val="solid"/>
          </a:ln>
        </p:spPr>
        <p:txBody>
          <a:bodyPr/>
          <a:lstStyle/>
          <a:p>
            <a:endParaRPr lang="en-US"/>
          </a:p>
        </p:txBody>
      </p:sp>
      <p:sp>
        <p:nvSpPr>
          <p:cNvPr id="25" name="Shape 19"/>
          <p:cNvSpPr/>
          <p:nvPr/>
        </p:nvSpPr>
        <p:spPr>
          <a:xfrm>
            <a:off x="502920" y="3621024"/>
            <a:ext cx="64008" cy="457200"/>
          </a:xfrm>
          <a:prstGeom prst="rect">
            <a:avLst/>
          </a:prstGeom>
          <a:solidFill>
            <a:srgbClr val="0D9488"/>
          </a:solidFill>
          <a:ln/>
        </p:spPr>
        <p:txBody>
          <a:bodyPr/>
          <a:lstStyle/>
          <a:p>
            <a:endParaRPr lang="en-US"/>
          </a:p>
        </p:txBody>
      </p:sp>
      <p:pic>
        <p:nvPicPr>
          <p:cNvPr id="26" name="Image 4" descr="preencoded.png"/>
          <p:cNvPicPr>
            <a:picLocks noChangeAspect="1"/>
          </p:cNvPicPr>
          <p:nvPr/>
        </p:nvPicPr>
        <p:blipFill>
          <a:blip r:embed="rId7"/>
          <a:stretch>
            <a:fillRect/>
          </a:stretch>
        </p:blipFill>
        <p:spPr>
          <a:xfrm>
            <a:off x="704088" y="3730752"/>
            <a:ext cx="237744" cy="237744"/>
          </a:xfrm>
          <a:prstGeom prst="rect">
            <a:avLst/>
          </a:prstGeom>
        </p:spPr>
      </p:pic>
      <p:sp>
        <p:nvSpPr>
          <p:cNvPr id="27" name="Text 20"/>
          <p:cNvSpPr/>
          <p:nvPr/>
        </p:nvSpPr>
        <p:spPr>
          <a:xfrm>
            <a:off x="1069848" y="3621024"/>
            <a:ext cx="1463040" cy="457200"/>
          </a:xfrm>
          <a:prstGeom prst="rect">
            <a:avLst/>
          </a:prstGeom>
          <a:noFill/>
          <a:ln/>
        </p:spPr>
        <p:txBody>
          <a:bodyPr wrap="square" lIns="0" tIns="0" rIns="0" bIns="0" rtlCol="0" anchor="ctr"/>
          <a:lstStyle/>
          <a:p>
            <a:pPr marL="0" indent="0">
              <a:buNone/>
            </a:pPr>
            <a:r>
              <a:rPr lang="en-US" sz="1300" b="1" dirty="0">
                <a:solidFill>
                  <a:srgbClr val="0F2A43"/>
                </a:solidFill>
                <a:latin typeface="Calibri" pitchFamily="34" charset="0"/>
                <a:ea typeface="Calibri" pitchFamily="34" charset="-122"/>
                <a:cs typeface="Calibri" pitchFamily="34" charset="-120"/>
              </a:rPr>
              <a:t>Seed</a:t>
            </a:r>
            <a:endParaRPr lang="en-US" sz="1300" dirty="0"/>
          </a:p>
        </p:txBody>
      </p:sp>
      <p:sp>
        <p:nvSpPr>
          <p:cNvPr id="28" name="Text 21"/>
          <p:cNvSpPr/>
          <p:nvPr/>
        </p:nvSpPr>
        <p:spPr>
          <a:xfrm>
            <a:off x="2606040" y="3621024"/>
            <a:ext cx="5897880" cy="457200"/>
          </a:xfrm>
          <a:prstGeom prst="rect">
            <a:avLst/>
          </a:prstGeom>
          <a:noFill/>
          <a:ln/>
        </p:spPr>
        <p:txBody>
          <a:bodyPr wrap="square" lIns="0" tIns="0" rIns="0" bIns="0" rtlCol="0" anchor="ctr"/>
          <a:lstStyle/>
          <a:p>
            <a:pPr marL="0" indent="0">
              <a:buNone/>
            </a:pPr>
            <a:r>
              <a:rPr lang="en-US" sz="1150" dirty="0">
                <a:solidFill>
                  <a:srgbClr val="334155"/>
                </a:solidFill>
                <a:latin typeface="Calibri" pitchFamily="34" charset="0"/>
                <a:ea typeface="Calibri" pitchFamily="34" charset="-122"/>
                <a:cs typeface="Calibri" pitchFamily="34" charset="-120"/>
              </a:rPr>
              <a:t>File-backed canonical seeds, DB-first runtime</a:t>
            </a:r>
            <a:endParaRPr lang="en-US" sz="1150" dirty="0"/>
          </a:p>
        </p:txBody>
      </p:sp>
      <p:sp>
        <p:nvSpPr>
          <p:cNvPr id="29" name="Shape 22"/>
          <p:cNvSpPr/>
          <p:nvPr/>
        </p:nvSpPr>
        <p:spPr>
          <a:xfrm>
            <a:off x="502920" y="4146804"/>
            <a:ext cx="8138160" cy="457200"/>
          </a:xfrm>
          <a:prstGeom prst="rect">
            <a:avLst/>
          </a:prstGeom>
          <a:solidFill>
            <a:srgbClr val="EEF3F8"/>
          </a:solidFill>
          <a:ln w="12700">
            <a:solidFill>
              <a:srgbClr val="DCE5EE"/>
            </a:solidFill>
            <a:prstDash val="solid"/>
          </a:ln>
        </p:spPr>
        <p:txBody>
          <a:bodyPr/>
          <a:lstStyle/>
          <a:p>
            <a:endParaRPr lang="en-US"/>
          </a:p>
        </p:txBody>
      </p:sp>
      <p:sp>
        <p:nvSpPr>
          <p:cNvPr id="30" name="Shape 23"/>
          <p:cNvSpPr/>
          <p:nvPr/>
        </p:nvSpPr>
        <p:spPr>
          <a:xfrm>
            <a:off x="502920" y="4146804"/>
            <a:ext cx="64008" cy="457200"/>
          </a:xfrm>
          <a:prstGeom prst="rect">
            <a:avLst/>
          </a:prstGeom>
          <a:solidFill>
            <a:srgbClr val="0D9488"/>
          </a:solidFill>
          <a:ln/>
        </p:spPr>
        <p:txBody>
          <a:bodyPr/>
          <a:lstStyle/>
          <a:p>
            <a:endParaRPr lang="en-US"/>
          </a:p>
        </p:txBody>
      </p:sp>
      <p:pic>
        <p:nvPicPr>
          <p:cNvPr id="31" name="Image 5" descr="preencoded.png"/>
          <p:cNvPicPr>
            <a:picLocks noChangeAspect="1"/>
          </p:cNvPicPr>
          <p:nvPr/>
        </p:nvPicPr>
        <p:blipFill>
          <a:blip r:embed="rId8"/>
          <a:stretch>
            <a:fillRect/>
          </a:stretch>
        </p:blipFill>
        <p:spPr>
          <a:xfrm>
            <a:off x="704088" y="4256532"/>
            <a:ext cx="237744" cy="237744"/>
          </a:xfrm>
          <a:prstGeom prst="rect">
            <a:avLst/>
          </a:prstGeom>
        </p:spPr>
      </p:pic>
      <p:sp>
        <p:nvSpPr>
          <p:cNvPr id="32" name="Text 24"/>
          <p:cNvSpPr/>
          <p:nvPr/>
        </p:nvSpPr>
        <p:spPr>
          <a:xfrm>
            <a:off x="1069848" y="4146804"/>
            <a:ext cx="1463040" cy="457200"/>
          </a:xfrm>
          <a:prstGeom prst="rect">
            <a:avLst/>
          </a:prstGeom>
          <a:noFill/>
          <a:ln/>
        </p:spPr>
        <p:txBody>
          <a:bodyPr wrap="square" lIns="0" tIns="0" rIns="0" bIns="0" rtlCol="0" anchor="ctr"/>
          <a:lstStyle/>
          <a:p>
            <a:pPr marL="0" indent="0">
              <a:buNone/>
            </a:pPr>
            <a:r>
              <a:rPr lang="en-US" sz="1300" b="1" dirty="0">
                <a:solidFill>
                  <a:srgbClr val="0F2A43"/>
                </a:solidFill>
                <a:latin typeface="Calibri" pitchFamily="34" charset="0"/>
                <a:ea typeface="Calibri" pitchFamily="34" charset="-122"/>
                <a:cs typeface="Calibri" pitchFamily="34" charset="-120"/>
              </a:rPr>
              <a:t>Agent SDK</a:t>
            </a:r>
            <a:endParaRPr lang="en-US" sz="1300" dirty="0"/>
          </a:p>
        </p:txBody>
      </p:sp>
      <p:sp>
        <p:nvSpPr>
          <p:cNvPr id="33" name="Text 25"/>
          <p:cNvSpPr/>
          <p:nvPr/>
        </p:nvSpPr>
        <p:spPr>
          <a:xfrm>
            <a:off x="2606040" y="4146804"/>
            <a:ext cx="5897880" cy="457200"/>
          </a:xfrm>
          <a:prstGeom prst="rect">
            <a:avLst/>
          </a:prstGeom>
          <a:noFill/>
          <a:ln/>
        </p:spPr>
        <p:txBody>
          <a:bodyPr wrap="square" lIns="0" tIns="0" rIns="0" bIns="0" rtlCol="0" anchor="ctr"/>
          <a:lstStyle/>
          <a:p>
            <a:pPr marL="0" indent="0">
              <a:buNone/>
            </a:pPr>
            <a:r>
              <a:rPr lang="en-US" sz="1150" dirty="0">
                <a:solidFill>
                  <a:srgbClr val="334155"/>
                </a:solidFill>
                <a:latin typeface="Calibri" pitchFamily="34" charset="0"/>
                <a:ea typeface="Calibri" pitchFamily="34" charset="-122"/>
                <a:cs typeface="Calibri" pitchFamily="34" charset="-120"/>
              </a:rPr>
              <a:t>semantra_agent for LangChain/LangGraph use cases</a:t>
            </a:r>
            <a:endParaRPr lang="en-US" sz="1150" dirty="0"/>
          </a:p>
        </p:txBody>
      </p:sp>
      <p:sp>
        <p:nvSpPr>
          <p:cNvPr id="34" name="Shape 26"/>
          <p:cNvSpPr/>
          <p:nvPr/>
        </p:nvSpPr>
        <p:spPr>
          <a:xfrm>
            <a:off x="502920" y="4718304"/>
            <a:ext cx="8138160" cy="0"/>
          </a:xfrm>
          <a:prstGeom prst="line">
            <a:avLst/>
          </a:prstGeom>
          <a:noFill/>
          <a:ln w="12700">
            <a:solidFill>
              <a:srgbClr val="DCE5EE"/>
            </a:solidFill>
            <a:prstDash val="solid"/>
          </a:ln>
        </p:spPr>
        <p:txBody>
          <a:bodyPr/>
          <a:lstStyle/>
          <a:p>
            <a:endParaRPr lang="en-US"/>
          </a:p>
        </p:txBody>
      </p:sp>
      <p:sp>
        <p:nvSpPr>
          <p:cNvPr id="35" name="Shape 27"/>
          <p:cNvSpPr/>
          <p:nvPr/>
        </p:nvSpPr>
        <p:spPr>
          <a:xfrm>
            <a:off x="502920" y="4846320"/>
            <a:ext cx="73152" cy="73152"/>
          </a:xfrm>
          <a:prstGeom prst="ellipse">
            <a:avLst/>
          </a:prstGeom>
          <a:solidFill>
            <a:srgbClr val="0D9488"/>
          </a:solidFill>
          <a:ln/>
        </p:spPr>
        <p:txBody>
          <a:bodyPr/>
          <a:lstStyle/>
          <a:p>
            <a:endParaRPr lang="en-US"/>
          </a:p>
        </p:txBody>
      </p:sp>
      <p:sp>
        <p:nvSpPr>
          <p:cNvPr id="36" name="Text 28"/>
          <p:cNvSpPr/>
          <p:nvPr/>
        </p:nvSpPr>
        <p:spPr>
          <a:xfrm>
            <a:off x="649224" y="4764024"/>
            <a:ext cx="2743200" cy="237744"/>
          </a:xfrm>
          <a:prstGeom prst="rect">
            <a:avLst/>
          </a:prstGeom>
          <a:noFill/>
          <a:ln/>
        </p:spPr>
        <p:txBody>
          <a:bodyPr wrap="square" lIns="0" tIns="0" rIns="0" bIns="0" rtlCol="0" anchor="ctr"/>
          <a:lstStyle/>
          <a:p>
            <a:pPr marL="0" indent="0">
              <a:buNone/>
            </a:pPr>
            <a:r>
              <a:rPr lang="en-US" sz="950" b="1" kern="0" spc="200" dirty="0">
                <a:solidFill>
                  <a:srgbClr val="64748B"/>
                </a:solidFill>
                <a:latin typeface="Calibri" pitchFamily="34" charset="0"/>
                <a:ea typeface="Calibri" pitchFamily="34" charset="-122"/>
                <a:cs typeface="Calibri" pitchFamily="34" charset="-120"/>
              </a:rPr>
              <a:t>SEMANTRA</a:t>
            </a:r>
            <a:endParaRPr lang="en-US" sz="950" dirty="0"/>
          </a:p>
        </p:txBody>
      </p:sp>
      <p:sp>
        <p:nvSpPr>
          <p:cNvPr id="37" name="Text 29"/>
          <p:cNvSpPr/>
          <p:nvPr/>
        </p:nvSpPr>
        <p:spPr>
          <a:xfrm>
            <a:off x="4800600" y="4764024"/>
            <a:ext cx="2834640" cy="237744"/>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PMO SERVICE • EA–DA BRIDGE</a:t>
            </a:r>
            <a:endParaRPr lang="en-US" sz="900" dirty="0"/>
          </a:p>
        </p:txBody>
      </p:sp>
      <p:sp>
        <p:nvSpPr>
          <p:cNvPr id="38" name="Text 30"/>
          <p:cNvSpPr/>
          <p:nvPr/>
        </p:nvSpPr>
        <p:spPr>
          <a:xfrm>
            <a:off x="7726680" y="4764024"/>
            <a:ext cx="914400" cy="237744"/>
          </a:xfrm>
          <a:prstGeom prst="rect">
            <a:avLst/>
          </a:prstGeom>
          <a:noFill/>
          <a:ln/>
        </p:spPr>
        <p:txBody>
          <a:bodyPr wrap="square" lIns="0" tIns="0" rIns="0" bIns="0" rtlCol="0" anchor="ctr"/>
          <a:lstStyle/>
          <a:p>
            <a:pPr marL="0" indent="0" algn="r">
              <a:buNone/>
            </a:pPr>
            <a:r>
              <a:rPr lang="en-US" sz="950" b="1" dirty="0">
                <a:solidFill>
                  <a:srgbClr val="0D9488"/>
                </a:solidFill>
                <a:latin typeface="Calibri" pitchFamily="34" charset="0"/>
                <a:ea typeface="Calibri" pitchFamily="34" charset="-122"/>
                <a:cs typeface="Calibri" pitchFamily="34" charset="-120"/>
              </a:rPr>
              <a:t>15 / 18</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8138160" cy="274320"/>
          </a:xfrm>
          <a:prstGeom prst="rect">
            <a:avLst/>
          </a:prstGeom>
          <a:noFill/>
          <a:ln/>
        </p:spPr>
        <p:txBody>
          <a:bodyPr wrap="square" lIns="0" tIns="0" rIns="0" bIns="0" rtlCol="0" anchor="ctr"/>
          <a:lstStyle/>
          <a:p>
            <a:pPr marL="0" indent="0" algn="l">
              <a:buNone/>
            </a:pPr>
            <a:r>
              <a:rPr lang="en-US" sz="1150" b="1" kern="0" spc="200" dirty="0">
                <a:solidFill>
                  <a:srgbClr val="0D9488"/>
                </a:solidFill>
                <a:latin typeface="Calibri" pitchFamily="34" charset="0"/>
                <a:ea typeface="Calibri" pitchFamily="34" charset="-122"/>
                <a:cs typeface="Calibri" pitchFamily="34" charset="-120"/>
              </a:rPr>
              <a:t>DELIVERY CAPABILITY</a:t>
            </a:r>
            <a:endParaRPr lang="en-US" sz="1150" dirty="0"/>
          </a:p>
        </p:txBody>
      </p:sp>
      <p:sp>
        <p:nvSpPr>
          <p:cNvPr id="3" name="Text 1"/>
          <p:cNvSpPr/>
          <p:nvPr/>
        </p:nvSpPr>
        <p:spPr>
          <a:xfrm>
            <a:off x="502920" y="585216"/>
            <a:ext cx="8138160" cy="749808"/>
          </a:xfrm>
          <a:prstGeom prst="rect">
            <a:avLst/>
          </a:prstGeom>
          <a:noFill/>
          <a:ln/>
        </p:spPr>
        <p:txBody>
          <a:bodyPr wrap="square" lIns="0" tIns="0" rIns="0" bIns="0" rtlCol="0" anchor="t"/>
          <a:lstStyle/>
          <a:p>
            <a:pPr marL="0" indent="0" algn="l">
              <a:buNone/>
            </a:pPr>
            <a:r>
              <a:rPr lang="en-US" sz="2700" b="1" dirty="0">
                <a:solidFill>
                  <a:srgbClr val="0F2A43"/>
                </a:solidFill>
                <a:latin typeface="Georgia" pitchFamily="34" charset="0"/>
                <a:ea typeface="Georgia" pitchFamily="34" charset="-122"/>
                <a:cs typeface="Georgia" pitchFamily="34" charset="-120"/>
              </a:rPr>
              <a:t>A PMO service for EA–DA alignment and MDM</a:t>
            </a:r>
            <a:endParaRPr lang="en-US" sz="2700" dirty="0"/>
          </a:p>
        </p:txBody>
      </p:sp>
      <p:sp>
        <p:nvSpPr>
          <p:cNvPr id="4" name="Shape 2"/>
          <p:cNvSpPr/>
          <p:nvPr/>
        </p:nvSpPr>
        <p:spPr>
          <a:xfrm>
            <a:off x="502920" y="1591056"/>
            <a:ext cx="2542032" cy="2331720"/>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5" name="Shape 3"/>
          <p:cNvSpPr/>
          <p:nvPr/>
        </p:nvSpPr>
        <p:spPr>
          <a:xfrm>
            <a:off x="502920" y="1591056"/>
            <a:ext cx="2542032" cy="548640"/>
          </a:xfrm>
          <a:prstGeom prst="rect">
            <a:avLst/>
          </a:prstGeom>
          <a:solidFill>
            <a:srgbClr val="0F2A43"/>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685800" y="1737360"/>
            <a:ext cx="256032" cy="256032"/>
          </a:xfrm>
          <a:prstGeom prst="rect">
            <a:avLst/>
          </a:prstGeom>
        </p:spPr>
      </p:pic>
      <p:sp>
        <p:nvSpPr>
          <p:cNvPr id="7" name="Text 4"/>
          <p:cNvSpPr/>
          <p:nvPr/>
        </p:nvSpPr>
        <p:spPr>
          <a:xfrm>
            <a:off x="1033272" y="1591056"/>
            <a:ext cx="1901952" cy="54864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Where it plugs in</a:t>
            </a:r>
            <a:endParaRPr lang="en-US" sz="1250" dirty="0"/>
          </a:p>
        </p:txBody>
      </p:sp>
      <p:sp>
        <p:nvSpPr>
          <p:cNvPr id="8" name="Text 5"/>
          <p:cNvSpPr/>
          <p:nvPr/>
        </p:nvSpPr>
        <p:spPr>
          <a:xfrm>
            <a:off x="740664" y="2304288"/>
            <a:ext cx="2084832" cy="1463040"/>
          </a:xfrm>
          <a:prstGeom prst="rect">
            <a:avLst/>
          </a:prstGeom>
          <a:noFill/>
          <a:ln/>
        </p:spPr>
        <p:txBody>
          <a:bodyPr wrap="square" lIns="0" tIns="0" rIns="0" bIns="0" rtlCol="0" anchor="t"/>
          <a:lstStyle/>
          <a:p>
            <a:pPr marL="177800" indent="-177800">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Integration design</a:t>
            </a:r>
            <a:endParaRPr lang="en-US" sz="1150" dirty="0"/>
          </a:p>
          <a:p>
            <a:pPr marL="177800" indent="-177800">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Migration analysis</a:t>
            </a:r>
            <a:endParaRPr lang="en-US" sz="1150" dirty="0"/>
          </a:p>
          <a:p>
            <a:pPr marL="177800" indent="-177800">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Canonical alignment</a:t>
            </a:r>
            <a:endParaRPr lang="en-US" sz="1150" dirty="0"/>
          </a:p>
          <a:p>
            <a:pPr marL="177800" indent="-177800">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Analyst handoff</a:t>
            </a:r>
            <a:endParaRPr lang="en-US" sz="1150" dirty="0"/>
          </a:p>
        </p:txBody>
      </p:sp>
      <p:sp>
        <p:nvSpPr>
          <p:cNvPr id="9" name="Shape 6"/>
          <p:cNvSpPr/>
          <p:nvPr/>
        </p:nvSpPr>
        <p:spPr>
          <a:xfrm>
            <a:off x="3300984" y="1591056"/>
            <a:ext cx="2542032" cy="2331720"/>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10" name="Shape 7"/>
          <p:cNvSpPr/>
          <p:nvPr/>
        </p:nvSpPr>
        <p:spPr>
          <a:xfrm>
            <a:off x="3300984" y="1591056"/>
            <a:ext cx="2542032" cy="548640"/>
          </a:xfrm>
          <a:prstGeom prst="rect">
            <a:avLst/>
          </a:prstGeom>
          <a:solidFill>
            <a:srgbClr val="0F2A43"/>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3483864" y="1737360"/>
            <a:ext cx="256032" cy="256032"/>
          </a:xfrm>
          <a:prstGeom prst="rect">
            <a:avLst/>
          </a:prstGeom>
        </p:spPr>
      </p:pic>
      <p:sp>
        <p:nvSpPr>
          <p:cNvPr id="12" name="Text 8"/>
          <p:cNvSpPr/>
          <p:nvPr/>
        </p:nvSpPr>
        <p:spPr>
          <a:xfrm>
            <a:off x="3831336" y="1591056"/>
            <a:ext cx="1901952" cy="54864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What it produces</a:t>
            </a:r>
            <a:endParaRPr lang="en-US" sz="1250" dirty="0"/>
          </a:p>
        </p:txBody>
      </p:sp>
      <p:sp>
        <p:nvSpPr>
          <p:cNvPr id="13" name="Text 9"/>
          <p:cNvSpPr/>
          <p:nvPr/>
        </p:nvSpPr>
        <p:spPr>
          <a:xfrm>
            <a:off x="3538728" y="2304288"/>
            <a:ext cx="2084832" cy="1463040"/>
          </a:xfrm>
          <a:prstGeom prst="rect">
            <a:avLst/>
          </a:prstGeom>
          <a:noFill/>
          <a:ln/>
        </p:spPr>
        <p:txBody>
          <a:bodyPr wrap="square" lIns="0" tIns="0" rIns="0" bIns="0" rtlCol="0" anchor="t"/>
          <a:lstStyle/>
          <a:p>
            <a:pPr marL="177800" indent="-177800">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Reviewed mappings</a:t>
            </a:r>
            <a:endParaRPr lang="en-US" sz="1150" dirty="0"/>
          </a:p>
          <a:p>
            <a:pPr marL="177800" indent="-177800">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Canonical findings</a:t>
            </a:r>
            <a:endParaRPr lang="en-US" sz="1150" dirty="0"/>
          </a:p>
          <a:p>
            <a:pPr marL="177800" indent="-177800">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Transformation starters</a:t>
            </a:r>
            <a:endParaRPr lang="en-US" sz="1150" dirty="0"/>
          </a:p>
          <a:p>
            <a:pPr marL="177800" indent="-177800">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Benchmarks &amp; BA Reports</a:t>
            </a:r>
            <a:endParaRPr lang="en-US" sz="1150" dirty="0"/>
          </a:p>
        </p:txBody>
      </p:sp>
      <p:sp>
        <p:nvSpPr>
          <p:cNvPr id="14" name="Shape 10"/>
          <p:cNvSpPr/>
          <p:nvPr/>
        </p:nvSpPr>
        <p:spPr>
          <a:xfrm>
            <a:off x="6099048" y="1591056"/>
            <a:ext cx="2542032" cy="2331720"/>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15" name="Shape 11"/>
          <p:cNvSpPr/>
          <p:nvPr/>
        </p:nvSpPr>
        <p:spPr>
          <a:xfrm>
            <a:off x="6099048" y="1591056"/>
            <a:ext cx="2542032" cy="548640"/>
          </a:xfrm>
          <a:prstGeom prst="rect">
            <a:avLst/>
          </a:prstGeom>
          <a:solidFill>
            <a:srgbClr val="0F2A43"/>
          </a:solidFill>
          <a:ln/>
        </p:spPr>
        <p:txBody>
          <a:bodyPr/>
          <a:lstStyle/>
          <a:p>
            <a:endParaRPr lang="en-US"/>
          </a:p>
        </p:txBody>
      </p:sp>
      <p:pic>
        <p:nvPicPr>
          <p:cNvPr id="16" name="Image 2" descr="preencoded.png"/>
          <p:cNvPicPr>
            <a:picLocks noChangeAspect="1"/>
          </p:cNvPicPr>
          <p:nvPr/>
        </p:nvPicPr>
        <p:blipFill>
          <a:blip r:embed="rId5"/>
          <a:stretch>
            <a:fillRect/>
          </a:stretch>
        </p:blipFill>
        <p:spPr>
          <a:xfrm>
            <a:off x="6281928" y="1737360"/>
            <a:ext cx="256032" cy="256032"/>
          </a:xfrm>
          <a:prstGeom prst="rect">
            <a:avLst/>
          </a:prstGeom>
        </p:spPr>
      </p:pic>
      <p:sp>
        <p:nvSpPr>
          <p:cNvPr id="17" name="Text 12"/>
          <p:cNvSpPr/>
          <p:nvPr/>
        </p:nvSpPr>
        <p:spPr>
          <a:xfrm>
            <a:off x="6629400" y="1591056"/>
            <a:ext cx="1901952" cy="54864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What it changes</a:t>
            </a:r>
            <a:endParaRPr lang="en-US" sz="1250" dirty="0"/>
          </a:p>
        </p:txBody>
      </p:sp>
      <p:sp>
        <p:nvSpPr>
          <p:cNvPr id="18" name="Text 13"/>
          <p:cNvSpPr/>
          <p:nvPr/>
        </p:nvSpPr>
        <p:spPr>
          <a:xfrm>
            <a:off x="6336792" y="2304288"/>
            <a:ext cx="2084832" cy="1463040"/>
          </a:xfrm>
          <a:prstGeom prst="rect">
            <a:avLst/>
          </a:prstGeom>
          <a:noFill/>
          <a:ln/>
        </p:spPr>
        <p:txBody>
          <a:bodyPr wrap="square" lIns="0" tIns="0" rIns="0" bIns="0" rtlCol="0" anchor="t"/>
          <a:lstStyle/>
          <a:p>
            <a:pPr marL="177800" indent="-177800">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Less repeat mapping effort</a:t>
            </a:r>
            <a:endParaRPr lang="en-US" sz="1150" dirty="0"/>
          </a:p>
          <a:p>
            <a:pPr marL="177800" indent="-177800">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Better traceability</a:t>
            </a:r>
            <a:endParaRPr lang="en-US" sz="1150" dirty="0"/>
          </a:p>
          <a:p>
            <a:pPr marL="177800" indent="-177800">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Semantic reuse</a:t>
            </a:r>
            <a:endParaRPr lang="en-US" sz="1150" dirty="0"/>
          </a:p>
          <a:p>
            <a:pPr marL="177800" indent="-177800">
              <a:spcAft>
                <a:spcPts val="700"/>
              </a:spcAft>
              <a:buSzPct val="100000"/>
              <a:buChar char="•"/>
            </a:pPr>
            <a:r>
              <a:rPr lang="en-US" sz="1150" dirty="0">
                <a:solidFill>
                  <a:srgbClr val="334155"/>
                </a:solidFill>
                <a:latin typeface="Calibri" pitchFamily="34" charset="0"/>
                <a:ea typeface="Calibri" pitchFamily="34" charset="-122"/>
                <a:cs typeface="Calibri" pitchFamily="34" charset="-120"/>
              </a:rPr>
              <a:t>Stronger delivery readiness</a:t>
            </a:r>
            <a:endParaRPr lang="en-US" sz="1150" dirty="0"/>
          </a:p>
        </p:txBody>
      </p:sp>
      <p:sp>
        <p:nvSpPr>
          <p:cNvPr id="19" name="Shape 14"/>
          <p:cNvSpPr/>
          <p:nvPr/>
        </p:nvSpPr>
        <p:spPr>
          <a:xfrm>
            <a:off x="502920" y="4718304"/>
            <a:ext cx="8138160" cy="0"/>
          </a:xfrm>
          <a:prstGeom prst="line">
            <a:avLst/>
          </a:prstGeom>
          <a:noFill/>
          <a:ln w="12700">
            <a:solidFill>
              <a:srgbClr val="DCE5EE"/>
            </a:solidFill>
            <a:prstDash val="solid"/>
          </a:ln>
        </p:spPr>
        <p:txBody>
          <a:bodyPr/>
          <a:lstStyle/>
          <a:p>
            <a:endParaRPr lang="en-US"/>
          </a:p>
        </p:txBody>
      </p:sp>
      <p:sp>
        <p:nvSpPr>
          <p:cNvPr id="20" name="Shape 15"/>
          <p:cNvSpPr/>
          <p:nvPr/>
        </p:nvSpPr>
        <p:spPr>
          <a:xfrm>
            <a:off x="502920" y="4846320"/>
            <a:ext cx="73152" cy="73152"/>
          </a:xfrm>
          <a:prstGeom prst="ellipse">
            <a:avLst/>
          </a:prstGeom>
          <a:solidFill>
            <a:srgbClr val="0D9488"/>
          </a:solidFill>
          <a:ln/>
        </p:spPr>
        <p:txBody>
          <a:bodyPr/>
          <a:lstStyle/>
          <a:p>
            <a:endParaRPr lang="en-US"/>
          </a:p>
        </p:txBody>
      </p:sp>
      <p:sp>
        <p:nvSpPr>
          <p:cNvPr id="21" name="Text 16"/>
          <p:cNvSpPr/>
          <p:nvPr/>
        </p:nvSpPr>
        <p:spPr>
          <a:xfrm>
            <a:off x="649224" y="4764024"/>
            <a:ext cx="2743200" cy="237744"/>
          </a:xfrm>
          <a:prstGeom prst="rect">
            <a:avLst/>
          </a:prstGeom>
          <a:noFill/>
          <a:ln/>
        </p:spPr>
        <p:txBody>
          <a:bodyPr wrap="square" lIns="0" tIns="0" rIns="0" bIns="0" rtlCol="0" anchor="ctr"/>
          <a:lstStyle/>
          <a:p>
            <a:pPr marL="0" indent="0">
              <a:buNone/>
            </a:pPr>
            <a:r>
              <a:rPr lang="en-US" sz="950" b="1" kern="0" spc="200" dirty="0">
                <a:solidFill>
                  <a:srgbClr val="64748B"/>
                </a:solidFill>
                <a:latin typeface="Calibri" pitchFamily="34" charset="0"/>
                <a:ea typeface="Calibri" pitchFamily="34" charset="-122"/>
                <a:cs typeface="Calibri" pitchFamily="34" charset="-120"/>
              </a:rPr>
              <a:t>SEMANTRA</a:t>
            </a:r>
            <a:endParaRPr lang="en-US" sz="950" dirty="0"/>
          </a:p>
        </p:txBody>
      </p:sp>
      <p:sp>
        <p:nvSpPr>
          <p:cNvPr id="22" name="Text 17"/>
          <p:cNvSpPr/>
          <p:nvPr/>
        </p:nvSpPr>
        <p:spPr>
          <a:xfrm>
            <a:off x="4800600" y="4764024"/>
            <a:ext cx="2834640" cy="237744"/>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PMO SERVICE • EA–DA BRIDGE</a:t>
            </a:r>
            <a:endParaRPr lang="en-US" sz="900" dirty="0"/>
          </a:p>
        </p:txBody>
      </p:sp>
      <p:sp>
        <p:nvSpPr>
          <p:cNvPr id="23" name="Text 18"/>
          <p:cNvSpPr/>
          <p:nvPr/>
        </p:nvSpPr>
        <p:spPr>
          <a:xfrm>
            <a:off x="7726680" y="4764024"/>
            <a:ext cx="914400" cy="237744"/>
          </a:xfrm>
          <a:prstGeom prst="rect">
            <a:avLst/>
          </a:prstGeom>
          <a:noFill/>
          <a:ln/>
        </p:spPr>
        <p:txBody>
          <a:bodyPr wrap="square" lIns="0" tIns="0" rIns="0" bIns="0" rtlCol="0" anchor="ctr"/>
          <a:lstStyle/>
          <a:p>
            <a:pPr marL="0" indent="0" algn="r">
              <a:buNone/>
            </a:pPr>
            <a:r>
              <a:rPr lang="en-US" sz="950" b="1" dirty="0">
                <a:solidFill>
                  <a:srgbClr val="0D9488"/>
                </a:solidFill>
                <a:latin typeface="Calibri" pitchFamily="34" charset="0"/>
                <a:ea typeface="Calibri" pitchFamily="34" charset="-122"/>
                <a:cs typeface="Calibri" pitchFamily="34" charset="-120"/>
              </a:rPr>
              <a:t>16 / 18</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8138160" cy="274320"/>
          </a:xfrm>
          <a:prstGeom prst="rect">
            <a:avLst/>
          </a:prstGeom>
          <a:noFill/>
          <a:ln/>
        </p:spPr>
        <p:txBody>
          <a:bodyPr wrap="square" lIns="0" tIns="0" rIns="0" bIns="0" rtlCol="0" anchor="ctr"/>
          <a:lstStyle/>
          <a:p>
            <a:pPr marL="0" indent="0" algn="l">
              <a:buNone/>
            </a:pPr>
            <a:r>
              <a:rPr lang="en-US" sz="1150" b="1" kern="0" spc="200" dirty="0">
                <a:solidFill>
                  <a:srgbClr val="0D9488"/>
                </a:solidFill>
                <a:latin typeface="Calibri" pitchFamily="34" charset="0"/>
                <a:ea typeface="Calibri" pitchFamily="34" charset="-122"/>
                <a:cs typeface="Calibri" pitchFamily="34" charset="-120"/>
              </a:rPr>
              <a:t>SCOPE &amp; ROADMAP</a:t>
            </a:r>
            <a:endParaRPr lang="en-US" sz="1150" dirty="0"/>
          </a:p>
        </p:txBody>
      </p:sp>
      <p:sp>
        <p:nvSpPr>
          <p:cNvPr id="3" name="Text 1"/>
          <p:cNvSpPr/>
          <p:nvPr/>
        </p:nvSpPr>
        <p:spPr>
          <a:xfrm>
            <a:off x="502920" y="585216"/>
            <a:ext cx="8138160" cy="749808"/>
          </a:xfrm>
          <a:prstGeom prst="rect">
            <a:avLst/>
          </a:prstGeom>
          <a:noFill/>
          <a:ln/>
        </p:spPr>
        <p:txBody>
          <a:bodyPr wrap="square" lIns="0" tIns="0" rIns="0" bIns="0" rtlCol="0" anchor="t"/>
          <a:lstStyle/>
          <a:p>
            <a:pPr marL="0" indent="0" algn="l">
              <a:buNone/>
            </a:pPr>
            <a:r>
              <a:rPr lang="en-US" sz="2700" b="1" dirty="0">
                <a:solidFill>
                  <a:srgbClr val="0F2A43"/>
                </a:solidFill>
                <a:latin typeface="Georgia" pitchFamily="34" charset="0"/>
                <a:ea typeface="Georgia" pitchFamily="34" charset="-122"/>
                <a:cs typeface="Georgia" pitchFamily="34" charset="-120"/>
              </a:rPr>
              <a:t>What it is not yet — and where it goes next</a:t>
            </a:r>
            <a:endParaRPr lang="en-US" sz="2700" dirty="0"/>
          </a:p>
        </p:txBody>
      </p:sp>
      <p:sp>
        <p:nvSpPr>
          <p:cNvPr id="4" name="Shape 2"/>
          <p:cNvSpPr/>
          <p:nvPr/>
        </p:nvSpPr>
        <p:spPr>
          <a:xfrm>
            <a:off x="502920" y="1517904"/>
            <a:ext cx="3657600" cy="2651760"/>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5" name="Text 3"/>
          <p:cNvSpPr/>
          <p:nvPr/>
        </p:nvSpPr>
        <p:spPr>
          <a:xfrm>
            <a:off x="722376" y="1664208"/>
            <a:ext cx="3291840" cy="274320"/>
          </a:xfrm>
          <a:prstGeom prst="rect">
            <a:avLst/>
          </a:prstGeom>
          <a:noFill/>
          <a:ln/>
        </p:spPr>
        <p:txBody>
          <a:bodyPr wrap="square" lIns="0" tIns="0" rIns="0" bIns="0" rtlCol="0" anchor="ctr"/>
          <a:lstStyle/>
          <a:p>
            <a:pPr marL="0" indent="0">
              <a:buNone/>
            </a:pPr>
            <a:r>
              <a:rPr lang="en-US" sz="1100" b="1" kern="0" spc="150" dirty="0">
                <a:solidFill>
                  <a:srgbClr val="64748B"/>
                </a:solidFill>
                <a:latin typeface="Calibri" pitchFamily="34" charset="0"/>
                <a:ea typeface="Calibri" pitchFamily="34" charset="-122"/>
                <a:cs typeface="Calibri" pitchFamily="34" charset="-120"/>
              </a:rPr>
              <a:t>INTENTIONALLY NOT</a:t>
            </a:r>
            <a:endParaRPr lang="en-US" sz="1100" dirty="0"/>
          </a:p>
        </p:txBody>
      </p:sp>
      <p:pic>
        <p:nvPicPr>
          <p:cNvPr id="6" name="Image 0" descr="preencoded.png"/>
          <p:cNvPicPr>
            <a:picLocks noChangeAspect="1"/>
          </p:cNvPicPr>
          <p:nvPr/>
        </p:nvPicPr>
        <p:blipFill>
          <a:blip r:embed="rId3"/>
          <a:stretch>
            <a:fillRect/>
          </a:stretch>
        </p:blipFill>
        <p:spPr>
          <a:xfrm>
            <a:off x="740664" y="2066544"/>
            <a:ext cx="237744" cy="237744"/>
          </a:xfrm>
          <a:prstGeom prst="rect">
            <a:avLst/>
          </a:prstGeom>
        </p:spPr>
      </p:pic>
      <p:sp>
        <p:nvSpPr>
          <p:cNvPr id="7" name="Text 4"/>
          <p:cNvSpPr/>
          <p:nvPr/>
        </p:nvSpPr>
        <p:spPr>
          <a:xfrm>
            <a:off x="1088136" y="2029968"/>
            <a:ext cx="2880360" cy="365760"/>
          </a:xfrm>
          <a:prstGeom prst="rect">
            <a:avLst/>
          </a:prstGeom>
          <a:noFill/>
          <a:ln/>
        </p:spPr>
        <p:txBody>
          <a:bodyPr wrap="square" lIns="0" tIns="0" rIns="0" bIns="0" rtlCol="0" anchor="ctr"/>
          <a:lstStyle/>
          <a:p>
            <a:pPr marL="0" indent="0">
              <a:buNone/>
            </a:pPr>
            <a:r>
              <a:rPr lang="en-US" sz="1200" dirty="0">
                <a:solidFill>
                  <a:srgbClr val="0F2A43"/>
                </a:solidFill>
                <a:latin typeface="Calibri" pitchFamily="34" charset="0"/>
                <a:ea typeface="Calibri" pitchFamily="34" charset="-122"/>
                <a:cs typeface="Calibri" pitchFamily="34" charset="-120"/>
              </a:rPr>
              <a:t>A production ETL runtime</a:t>
            </a:r>
            <a:endParaRPr lang="en-US" sz="1200" dirty="0"/>
          </a:p>
        </p:txBody>
      </p:sp>
      <p:pic>
        <p:nvPicPr>
          <p:cNvPr id="8" name="Image 1" descr="preencoded.png"/>
          <p:cNvPicPr>
            <a:picLocks noChangeAspect="1"/>
          </p:cNvPicPr>
          <p:nvPr/>
        </p:nvPicPr>
        <p:blipFill>
          <a:blip r:embed="rId3"/>
          <a:stretch>
            <a:fillRect/>
          </a:stretch>
        </p:blipFill>
        <p:spPr>
          <a:xfrm>
            <a:off x="740664" y="2569464"/>
            <a:ext cx="237744" cy="237744"/>
          </a:xfrm>
          <a:prstGeom prst="rect">
            <a:avLst/>
          </a:prstGeom>
        </p:spPr>
      </p:pic>
      <p:sp>
        <p:nvSpPr>
          <p:cNvPr id="9" name="Text 5"/>
          <p:cNvSpPr/>
          <p:nvPr/>
        </p:nvSpPr>
        <p:spPr>
          <a:xfrm>
            <a:off x="1088136" y="2532888"/>
            <a:ext cx="2880360" cy="365760"/>
          </a:xfrm>
          <a:prstGeom prst="rect">
            <a:avLst/>
          </a:prstGeom>
          <a:noFill/>
          <a:ln/>
        </p:spPr>
        <p:txBody>
          <a:bodyPr wrap="square" lIns="0" tIns="0" rIns="0" bIns="0" rtlCol="0" anchor="ctr"/>
          <a:lstStyle/>
          <a:p>
            <a:pPr marL="0" indent="0">
              <a:buNone/>
            </a:pPr>
            <a:r>
              <a:rPr lang="en-US" sz="1200" dirty="0">
                <a:solidFill>
                  <a:srgbClr val="0F2A43"/>
                </a:solidFill>
                <a:latin typeface="Calibri" pitchFamily="34" charset="0"/>
                <a:ea typeface="Calibri" pitchFamily="34" charset="-122"/>
                <a:cs typeface="Calibri" pitchFamily="34" charset="-120"/>
              </a:rPr>
              <a:t>A connector-heavy integration platform</a:t>
            </a:r>
            <a:endParaRPr lang="en-US" sz="1200" dirty="0"/>
          </a:p>
        </p:txBody>
      </p:sp>
      <p:pic>
        <p:nvPicPr>
          <p:cNvPr id="10" name="Image 2" descr="preencoded.png"/>
          <p:cNvPicPr>
            <a:picLocks noChangeAspect="1"/>
          </p:cNvPicPr>
          <p:nvPr/>
        </p:nvPicPr>
        <p:blipFill>
          <a:blip r:embed="rId3"/>
          <a:stretch>
            <a:fillRect/>
          </a:stretch>
        </p:blipFill>
        <p:spPr>
          <a:xfrm>
            <a:off x="740664" y="3072384"/>
            <a:ext cx="237744" cy="237744"/>
          </a:xfrm>
          <a:prstGeom prst="rect">
            <a:avLst/>
          </a:prstGeom>
        </p:spPr>
      </p:pic>
      <p:sp>
        <p:nvSpPr>
          <p:cNvPr id="11" name="Text 6"/>
          <p:cNvSpPr/>
          <p:nvPr/>
        </p:nvSpPr>
        <p:spPr>
          <a:xfrm>
            <a:off x="1088136" y="3035808"/>
            <a:ext cx="2880360" cy="365760"/>
          </a:xfrm>
          <a:prstGeom prst="rect">
            <a:avLst/>
          </a:prstGeom>
          <a:noFill/>
          <a:ln/>
        </p:spPr>
        <p:txBody>
          <a:bodyPr wrap="square" lIns="0" tIns="0" rIns="0" bIns="0" rtlCol="0" anchor="ctr"/>
          <a:lstStyle/>
          <a:p>
            <a:pPr marL="0" indent="0">
              <a:buNone/>
            </a:pPr>
            <a:r>
              <a:rPr lang="en-US" sz="1200" dirty="0">
                <a:solidFill>
                  <a:srgbClr val="0F2A43"/>
                </a:solidFill>
                <a:latin typeface="Calibri" pitchFamily="34" charset="0"/>
                <a:ea typeface="Calibri" pitchFamily="34" charset="-122"/>
                <a:cs typeface="Calibri" pitchFamily="34" charset="-120"/>
              </a:rPr>
              <a:t>A multi-step enterprise workflow engine</a:t>
            </a:r>
            <a:endParaRPr lang="en-US" sz="1200" dirty="0"/>
          </a:p>
        </p:txBody>
      </p:sp>
      <p:pic>
        <p:nvPicPr>
          <p:cNvPr id="12" name="Image 3" descr="preencoded.png"/>
          <p:cNvPicPr>
            <a:picLocks noChangeAspect="1"/>
          </p:cNvPicPr>
          <p:nvPr/>
        </p:nvPicPr>
        <p:blipFill>
          <a:blip r:embed="rId3"/>
          <a:stretch>
            <a:fillRect/>
          </a:stretch>
        </p:blipFill>
        <p:spPr>
          <a:xfrm>
            <a:off x="740664" y="3575304"/>
            <a:ext cx="237744" cy="237744"/>
          </a:xfrm>
          <a:prstGeom prst="rect">
            <a:avLst/>
          </a:prstGeom>
        </p:spPr>
      </p:pic>
      <p:sp>
        <p:nvSpPr>
          <p:cNvPr id="13" name="Text 7"/>
          <p:cNvSpPr/>
          <p:nvPr/>
        </p:nvSpPr>
        <p:spPr>
          <a:xfrm>
            <a:off x="1088136" y="3538728"/>
            <a:ext cx="2880360" cy="365760"/>
          </a:xfrm>
          <a:prstGeom prst="rect">
            <a:avLst/>
          </a:prstGeom>
          <a:noFill/>
          <a:ln/>
        </p:spPr>
        <p:txBody>
          <a:bodyPr wrap="square" lIns="0" tIns="0" rIns="0" bIns="0" rtlCol="0" anchor="ctr"/>
          <a:lstStyle/>
          <a:p>
            <a:pPr marL="0" indent="0">
              <a:buNone/>
            </a:pPr>
            <a:r>
              <a:rPr lang="en-US" sz="1200" dirty="0">
                <a:solidFill>
                  <a:srgbClr val="0F2A43"/>
                </a:solidFill>
                <a:latin typeface="Calibri" pitchFamily="34" charset="0"/>
                <a:ea typeface="Calibri" pitchFamily="34" charset="-122"/>
                <a:cs typeface="Calibri" pitchFamily="34" charset="-120"/>
              </a:rPr>
              <a:t>A graph-native metadata platform</a:t>
            </a:r>
            <a:endParaRPr lang="en-US" sz="1200" dirty="0"/>
          </a:p>
        </p:txBody>
      </p:sp>
      <p:sp>
        <p:nvSpPr>
          <p:cNvPr id="14" name="Shape 8"/>
          <p:cNvSpPr/>
          <p:nvPr/>
        </p:nvSpPr>
        <p:spPr>
          <a:xfrm>
            <a:off x="4434840" y="1517904"/>
            <a:ext cx="4206240" cy="2651760"/>
          </a:xfrm>
          <a:prstGeom prst="rect">
            <a:avLst/>
          </a:prstGeom>
          <a:solidFill>
            <a:srgbClr val="E6F4F2"/>
          </a:solidFill>
          <a:ln w="12700">
            <a:solidFill>
              <a:srgbClr val="0D9488"/>
            </a:solidFill>
            <a:prstDash val="solid"/>
          </a:ln>
        </p:spPr>
        <p:txBody>
          <a:bodyPr/>
          <a:lstStyle/>
          <a:p>
            <a:endParaRPr lang="en-US"/>
          </a:p>
        </p:txBody>
      </p:sp>
      <p:sp>
        <p:nvSpPr>
          <p:cNvPr id="15" name="Text 9"/>
          <p:cNvSpPr/>
          <p:nvPr/>
        </p:nvSpPr>
        <p:spPr>
          <a:xfrm>
            <a:off x="4654296" y="1664208"/>
            <a:ext cx="3840480" cy="274320"/>
          </a:xfrm>
          <a:prstGeom prst="rect">
            <a:avLst/>
          </a:prstGeom>
          <a:noFill/>
          <a:ln/>
        </p:spPr>
        <p:txBody>
          <a:bodyPr wrap="square" lIns="0" tIns="0" rIns="0" bIns="0" rtlCol="0" anchor="ctr"/>
          <a:lstStyle/>
          <a:p>
            <a:pPr marL="0" indent="0">
              <a:buNone/>
            </a:pPr>
            <a:r>
              <a:rPr lang="en-US" sz="1100" b="1" kern="0" spc="150" dirty="0">
                <a:solidFill>
                  <a:srgbClr val="0B7066"/>
                </a:solidFill>
                <a:latin typeface="Calibri" pitchFamily="34" charset="0"/>
                <a:ea typeface="Calibri" pitchFamily="34" charset="-122"/>
                <a:cs typeface="Calibri" pitchFamily="34" charset="-120"/>
              </a:rPr>
              <a:t>WHERE IT GOES NEXT</a:t>
            </a:r>
            <a:endParaRPr lang="en-US" sz="1100" dirty="0"/>
          </a:p>
        </p:txBody>
      </p:sp>
      <p:pic>
        <p:nvPicPr>
          <p:cNvPr id="16" name="Image 4" descr="preencoded.png"/>
          <p:cNvPicPr>
            <a:picLocks noChangeAspect="1"/>
          </p:cNvPicPr>
          <p:nvPr/>
        </p:nvPicPr>
        <p:blipFill>
          <a:blip r:embed="rId4"/>
          <a:stretch>
            <a:fillRect/>
          </a:stretch>
        </p:blipFill>
        <p:spPr>
          <a:xfrm>
            <a:off x="4672584" y="2048256"/>
            <a:ext cx="201168" cy="201168"/>
          </a:xfrm>
          <a:prstGeom prst="rect">
            <a:avLst/>
          </a:prstGeom>
        </p:spPr>
      </p:pic>
      <p:sp>
        <p:nvSpPr>
          <p:cNvPr id="17" name="Text 10"/>
          <p:cNvSpPr/>
          <p:nvPr/>
        </p:nvSpPr>
        <p:spPr>
          <a:xfrm>
            <a:off x="4983480" y="2011680"/>
            <a:ext cx="3474720" cy="310896"/>
          </a:xfrm>
          <a:prstGeom prst="rect">
            <a:avLst/>
          </a:prstGeom>
          <a:noFill/>
          <a:ln/>
        </p:spPr>
        <p:txBody>
          <a:bodyPr wrap="square" lIns="0" tIns="0" rIns="0" bIns="0" rtlCol="0" anchor="ctr"/>
          <a:lstStyle/>
          <a:p>
            <a:pPr marL="0" indent="0">
              <a:buNone/>
            </a:pPr>
            <a:r>
              <a:rPr lang="en-US" sz="1150" dirty="0">
                <a:solidFill>
                  <a:srgbClr val="0F2A43"/>
                </a:solidFill>
                <a:latin typeface="Calibri" pitchFamily="34" charset="0"/>
                <a:ea typeface="Calibri" pitchFamily="34" charset="-122"/>
                <a:cs typeface="Calibri" pitchFamily="34" charset="-120"/>
              </a:rPr>
              <a:t>Documentation aligned with the real product</a:t>
            </a:r>
            <a:endParaRPr lang="en-US" sz="1150" dirty="0"/>
          </a:p>
        </p:txBody>
      </p:sp>
      <p:pic>
        <p:nvPicPr>
          <p:cNvPr id="18" name="Image 5" descr="preencoded.png"/>
          <p:cNvPicPr>
            <a:picLocks noChangeAspect="1"/>
          </p:cNvPicPr>
          <p:nvPr/>
        </p:nvPicPr>
        <p:blipFill>
          <a:blip r:embed="rId4"/>
          <a:stretch>
            <a:fillRect/>
          </a:stretch>
        </p:blipFill>
        <p:spPr>
          <a:xfrm>
            <a:off x="4672584" y="2459736"/>
            <a:ext cx="201168" cy="201168"/>
          </a:xfrm>
          <a:prstGeom prst="rect">
            <a:avLst/>
          </a:prstGeom>
        </p:spPr>
      </p:pic>
      <p:sp>
        <p:nvSpPr>
          <p:cNvPr id="19" name="Text 11"/>
          <p:cNvSpPr/>
          <p:nvPr/>
        </p:nvSpPr>
        <p:spPr>
          <a:xfrm>
            <a:off x="4983480" y="2423160"/>
            <a:ext cx="3474720" cy="310896"/>
          </a:xfrm>
          <a:prstGeom prst="rect">
            <a:avLst/>
          </a:prstGeom>
          <a:noFill/>
          <a:ln/>
        </p:spPr>
        <p:txBody>
          <a:bodyPr wrap="square" lIns="0" tIns="0" rIns="0" bIns="0" rtlCol="0" anchor="ctr"/>
          <a:lstStyle/>
          <a:p>
            <a:pPr marL="0" indent="0">
              <a:buNone/>
            </a:pPr>
            <a:r>
              <a:rPr lang="en-US" sz="1150" dirty="0">
                <a:solidFill>
                  <a:srgbClr val="0F2A43"/>
                </a:solidFill>
                <a:latin typeface="Calibri" pitchFamily="34" charset="0"/>
                <a:ea typeface="Calibri" pitchFamily="34" charset="-122"/>
                <a:cs typeface="Calibri" pitchFamily="34" charset="-120"/>
              </a:rPr>
              <a:t>Manual pilot proof &amp; value validation</a:t>
            </a:r>
            <a:endParaRPr lang="en-US" sz="1150" dirty="0"/>
          </a:p>
        </p:txBody>
      </p:sp>
      <p:pic>
        <p:nvPicPr>
          <p:cNvPr id="20" name="Image 6" descr="preencoded.png"/>
          <p:cNvPicPr>
            <a:picLocks noChangeAspect="1"/>
          </p:cNvPicPr>
          <p:nvPr/>
        </p:nvPicPr>
        <p:blipFill>
          <a:blip r:embed="rId4"/>
          <a:stretch>
            <a:fillRect/>
          </a:stretch>
        </p:blipFill>
        <p:spPr>
          <a:xfrm>
            <a:off x="4672584" y="2871216"/>
            <a:ext cx="201168" cy="201168"/>
          </a:xfrm>
          <a:prstGeom prst="rect">
            <a:avLst/>
          </a:prstGeom>
        </p:spPr>
      </p:pic>
      <p:sp>
        <p:nvSpPr>
          <p:cNvPr id="21" name="Text 12"/>
          <p:cNvSpPr/>
          <p:nvPr/>
        </p:nvSpPr>
        <p:spPr>
          <a:xfrm>
            <a:off x="4983480" y="2834640"/>
            <a:ext cx="3474720" cy="310896"/>
          </a:xfrm>
          <a:prstGeom prst="rect">
            <a:avLst/>
          </a:prstGeom>
          <a:noFill/>
          <a:ln/>
        </p:spPr>
        <p:txBody>
          <a:bodyPr wrap="square" lIns="0" tIns="0" rIns="0" bIns="0" rtlCol="0" anchor="ctr"/>
          <a:lstStyle/>
          <a:p>
            <a:pPr marL="0" indent="0">
              <a:buNone/>
            </a:pPr>
            <a:r>
              <a:rPr lang="en-US" sz="1150" dirty="0">
                <a:solidFill>
                  <a:srgbClr val="0F2A43"/>
                </a:solidFill>
                <a:latin typeface="Calibri" pitchFamily="34" charset="0"/>
                <a:ea typeface="Calibri" pitchFamily="34" charset="-122"/>
                <a:cs typeface="Calibri" pitchFamily="34" charset="-120"/>
              </a:rPr>
              <a:t>Repeatable live demo &amp; presentation discipline</a:t>
            </a:r>
            <a:endParaRPr lang="en-US" sz="1150" dirty="0"/>
          </a:p>
        </p:txBody>
      </p:sp>
      <p:pic>
        <p:nvPicPr>
          <p:cNvPr id="22" name="Image 7" descr="preencoded.png"/>
          <p:cNvPicPr>
            <a:picLocks noChangeAspect="1"/>
          </p:cNvPicPr>
          <p:nvPr/>
        </p:nvPicPr>
        <p:blipFill>
          <a:blip r:embed="rId4"/>
          <a:stretch>
            <a:fillRect/>
          </a:stretch>
        </p:blipFill>
        <p:spPr>
          <a:xfrm>
            <a:off x="4672584" y="3282696"/>
            <a:ext cx="201168" cy="201168"/>
          </a:xfrm>
          <a:prstGeom prst="rect">
            <a:avLst/>
          </a:prstGeom>
        </p:spPr>
      </p:pic>
      <p:sp>
        <p:nvSpPr>
          <p:cNvPr id="23" name="Text 13"/>
          <p:cNvSpPr/>
          <p:nvPr/>
        </p:nvSpPr>
        <p:spPr>
          <a:xfrm>
            <a:off x="4983480" y="3246120"/>
            <a:ext cx="3474720" cy="310896"/>
          </a:xfrm>
          <a:prstGeom prst="rect">
            <a:avLst/>
          </a:prstGeom>
          <a:noFill/>
          <a:ln/>
        </p:spPr>
        <p:txBody>
          <a:bodyPr wrap="square" lIns="0" tIns="0" rIns="0" bIns="0" rtlCol="0" anchor="ctr"/>
          <a:lstStyle/>
          <a:p>
            <a:pPr marL="0" indent="0">
              <a:buNone/>
            </a:pPr>
            <a:r>
              <a:rPr lang="en-US" sz="1150" dirty="0">
                <a:solidFill>
                  <a:srgbClr val="0F2A43"/>
                </a:solidFill>
                <a:latin typeface="Calibri" pitchFamily="34" charset="0"/>
                <a:ea typeface="Calibri" pitchFamily="34" charset="-122"/>
                <a:cs typeface="Calibri" pitchFamily="34" charset="-120"/>
              </a:rPr>
              <a:t>Mature the BA Report into an export artifact</a:t>
            </a:r>
            <a:endParaRPr lang="en-US" sz="1150" dirty="0"/>
          </a:p>
        </p:txBody>
      </p:sp>
      <p:pic>
        <p:nvPicPr>
          <p:cNvPr id="24" name="Image 8" descr="preencoded.png"/>
          <p:cNvPicPr>
            <a:picLocks noChangeAspect="1"/>
          </p:cNvPicPr>
          <p:nvPr/>
        </p:nvPicPr>
        <p:blipFill>
          <a:blip r:embed="rId4"/>
          <a:stretch>
            <a:fillRect/>
          </a:stretch>
        </p:blipFill>
        <p:spPr>
          <a:xfrm>
            <a:off x="4672584" y="3694176"/>
            <a:ext cx="201168" cy="201168"/>
          </a:xfrm>
          <a:prstGeom prst="rect">
            <a:avLst/>
          </a:prstGeom>
        </p:spPr>
      </p:pic>
      <p:sp>
        <p:nvSpPr>
          <p:cNvPr id="25" name="Text 14"/>
          <p:cNvSpPr/>
          <p:nvPr/>
        </p:nvSpPr>
        <p:spPr>
          <a:xfrm>
            <a:off x="4983480" y="3657600"/>
            <a:ext cx="3474720" cy="310896"/>
          </a:xfrm>
          <a:prstGeom prst="rect">
            <a:avLst/>
          </a:prstGeom>
          <a:noFill/>
          <a:ln/>
        </p:spPr>
        <p:txBody>
          <a:bodyPr wrap="square" lIns="0" tIns="0" rIns="0" bIns="0" rtlCol="0" anchor="ctr"/>
          <a:lstStyle/>
          <a:p>
            <a:pPr marL="0" indent="0">
              <a:buNone/>
            </a:pPr>
            <a:r>
              <a:rPr lang="en-US" sz="1150" dirty="0">
                <a:solidFill>
                  <a:srgbClr val="0F2A43"/>
                </a:solidFill>
                <a:latin typeface="Calibri" pitchFamily="34" charset="0"/>
                <a:ea typeface="Calibri" pitchFamily="34" charset="-122"/>
                <a:cs typeface="Calibri" pitchFamily="34" charset="-120"/>
              </a:rPr>
              <a:t>Enterprise hardening only after proven value</a:t>
            </a:r>
            <a:endParaRPr lang="en-US" sz="1150" dirty="0"/>
          </a:p>
        </p:txBody>
      </p:sp>
      <p:sp>
        <p:nvSpPr>
          <p:cNvPr id="26" name="Text 15"/>
          <p:cNvSpPr/>
          <p:nvPr/>
        </p:nvSpPr>
        <p:spPr>
          <a:xfrm>
            <a:off x="502920" y="4242816"/>
            <a:ext cx="8138160" cy="365760"/>
          </a:xfrm>
          <a:prstGeom prst="rect">
            <a:avLst/>
          </a:prstGeom>
          <a:noFill/>
          <a:ln/>
        </p:spPr>
        <p:txBody>
          <a:bodyPr wrap="square" lIns="0" tIns="0" rIns="0" bIns="0" rtlCol="0" anchor="ctr"/>
          <a:lstStyle/>
          <a:p>
            <a:pPr marL="0" indent="0" algn="ctr">
              <a:buNone/>
            </a:pPr>
            <a:r>
              <a:rPr lang="en-US" sz="1200" b="1" i="1" dirty="0">
                <a:solidFill>
                  <a:srgbClr val="0D9488"/>
                </a:solidFill>
                <a:latin typeface="Calibri" pitchFamily="34" charset="0"/>
                <a:ea typeface="Calibri" pitchFamily="34" charset="-122"/>
                <a:cs typeface="Calibri" pitchFamily="34" charset="-120"/>
              </a:rPr>
              <a:t>Prove and package the value of the current product clearly before expanding into a broader enterprise program.</a:t>
            </a:r>
            <a:endParaRPr lang="en-US" sz="1200" dirty="0"/>
          </a:p>
        </p:txBody>
      </p:sp>
      <p:sp>
        <p:nvSpPr>
          <p:cNvPr id="27" name="Shape 16"/>
          <p:cNvSpPr/>
          <p:nvPr/>
        </p:nvSpPr>
        <p:spPr>
          <a:xfrm>
            <a:off x="502920" y="4718304"/>
            <a:ext cx="8138160" cy="0"/>
          </a:xfrm>
          <a:prstGeom prst="line">
            <a:avLst/>
          </a:prstGeom>
          <a:noFill/>
          <a:ln w="12700">
            <a:solidFill>
              <a:srgbClr val="DCE5EE"/>
            </a:solidFill>
            <a:prstDash val="solid"/>
          </a:ln>
        </p:spPr>
        <p:txBody>
          <a:bodyPr/>
          <a:lstStyle/>
          <a:p>
            <a:endParaRPr lang="en-US"/>
          </a:p>
        </p:txBody>
      </p:sp>
      <p:sp>
        <p:nvSpPr>
          <p:cNvPr id="28" name="Shape 17"/>
          <p:cNvSpPr/>
          <p:nvPr/>
        </p:nvSpPr>
        <p:spPr>
          <a:xfrm>
            <a:off x="502920" y="4846320"/>
            <a:ext cx="73152" cy="73152"/>
          </a:xfrm>
          <a:prstGeom prst="ellipse">
            <a:avLst/>
          </a:prstGeom>
          <a:solidFill>
            <a:srgbClr val="0D9488"/>
          </a:solidFill>
          <a:ln/>
        </p:spPr>
        <p:txBody>
          <a:bodyPr/>
          <a:lstStyle/>
          <a:p>
            <a:endParaRPr lang="en-US"/>
          </a:p>
        </p:txBody>
      </p:sp>
      <p:sp>
        <p:nvSpPr>
          <p:cNvPr id="29" name="Text 18"/>
          <p:cNvSpPr/>
          <p:nvPr/>
        </p:nvSpPr>
        <p:spPr>
          <a:xfrm>
            <a:off x="649224" y="4764024"/>
            <a:ext cx="2743200" cy="237744"/>
          </a:xfrm>
          <a:prstGeom prst="rect">
            <a:avLst/>
          </a:prstGeom>
          <a:noFill/>
          <a:ln/>
        </p:spPr>
        <p:txBody>
          <a:bodyPr wrap="square" lIns="0" tIns="0" rIns="0" bIns="0" rtlCol="0" anchor="ctr"/>
          <a:lstStyle/>
          <a:p>
            <a:pPr marL="0" indent="0">
              <a:buNone/>
            </a:pPr>
            <a:r>
              <a:rPr lang="en-US" sz="950" b="1" kern="0" spc="200" dirty="0">
                <a:solidFill>
                  <a:srgbClr val="64748B"/>
                </a:solidFill>
                <a:latin typeface="Calibri" pitchFamily="34" charset="0"/>
                <a:ea typeface="Calibri" pitchFamily="34" charset="-122"/>
                <a:cs typeface="Calibri" pitchFamily="34" charset="-120"/>
              </a:rPr>
              <a:t>SEMANTRA</a:t>
            </a:r>
            <a:endParaRPr lang="en-US" sz="950" dirty="0"/>
          </a:p>
        </p:txBody>
      </p:sp>
      <p:sp>
        <p:nvSpPr>
          <p:cNvPr id="30" name="Text 19"/>
          <p:cNvSpPr/>
          <p:nvPr/>
        </p:nvSpPr>
        <p:spPr>
          <a:xfrm>
            <a:off x="4800600" y="4764024"/>
            <a:ext cx="2834640" cy="237744"/>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PMO SERVICE • EA–DA BRIDGE</a:t>
            </a:r>
            <a:endParaRPr lang="en-US" sz="900" dirty="0"/>
          </a:p>
        </p:txBody>
      </p:sp>
      <p:sp>
        <p:nvSpPr>
          <p:cNvPr id="31" name="Text 20"/>
          <p:cNvSpPr/>
          <p:nvPr/>
        </p:nvSpPr>
        <p:spPr>
          <a:xfrm>
            <a:off x="7726680" y="4764024"/>
            <a:ext cx="914400" cy="237744"/>
          </a:xfrm>
          <a:prstGeom prst="rect">
            <a:avLst/>
          </a:prstGeom>
          <a:noFill/>
          <a:ln/>
        </p:spPr>
        <p:txBody>
          <a:bodyPr wrap="square" lIns="0" tIns="0" rIns="0" bIns="0" rtlCol="0" anchor="ctr"/>
          <a:lstStyle/>
          <a:p>
            <a:pPr marL="0" indent="0" algn="r">
              <a:buNone/>
            </a:pPr>
            <a:r>
              <a:rPr lang="en-US" sz="950" b="1" dirty="0">
                <a:solidFill>
                  <a:srgbClr val="0D9488"/>
                </a:solidFill>
                <a:latin typeface="Calibri" pitchFamily="34" charset="0"/>
                <a:ea typeface="Calibri" pitchFamily="34" charset="-122"/>
                <a:cs typeface="Calibri" pitchFamily="34" charset="-120"/>
              </a:rPr>
              <a:t>17 / 18</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2236"/>
        </a:solidFill>
        <a:effectLst/>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0D9488"/>
          </a:solidFill>
          <a:ln/>
        </p:spPr>
        <p:txBody>
          <a:bodyPr/>
          <a:lstStyle/>
          <a:p>
            <a:endParaRPr lang="en-US"/>
          </a:p>
        </p:txBody>
      </p:sp>
      <p:sp>
        <p:nvSpPr>
          <p:cNvPr id="3" name="Text 1"/>
          <p:cNvSpPr/>
          <p:nvPr/>
        </p:nvSpPr>
        <p:spPr>
          <a:xfrm>
            <a:off x="777240" y="640080"/>
            <a:ext cx="5486400" cy="274320"/>
          </a:xfrm>
          <a:prstGeom prst="rect">
            <a:avLst/>
          </a:prstGeom>
          <a:noFill/>
          <a:ln/>
        </p:spPr>
        <p:txBody>
          <a:bodyPr wrap="square" lIns="0" tIns="0" rIns="0" bIns="0" rtlCol="0" anchor="ctr"/>
          <a:lstStyle/>
          <a:p>
            <a:pPr marL="0" indent="0">
              <a:buNone/>
            </a:pPr>
            <a:r>
              <a:rPr lang="en-US" sz="1200" b="1" kern="0" spc="250" dirty="0">
                <a:solidFill>
                  <a:srgbClr val="11B5A4"/>
                </a:solidFill>
                <a:latin typeface="Calibri" pitchFamily="34" charset="0"/>
                <a:ea typeface="Calibri" pitchFamily="34" charset="-122"/>
                <a:cs typeface="Calibri" pitchFamily="34" charset="-120"/>
              </a:rPr>
              <a:t>CLOSING</a:t>
            </a:r>
            <a:endParaRPr lang="en-US" sz="1200" dirty="0"/>
          </a:p>
        </p:txBody>
      </p:sp>
      <p:sp>
        <p:nvSpPr>
          <p:cNvPr id="4" name="Text 2"/>
          <p:cNvSpPr/>
          <p:nvPr/>
        </p:nvSpPr>
        <p:spPr>
          <a:xfrm>
            <a:off x="749808" y="987552"/>
            <a:ext cx="7772400" cy="914400"/>
          </a:xfrm>
          <a:prstGeom prst="rect">
            <a:avLst/>
          </a:prstGeom>
          <a:noFill/>
          <a:ln/>
        </p:spPr>
        <p:txBody>
          <a:bodyPr wrap="square" lIns="0" tIns="0" rIns="0" bIns="0" rtlCol="0" anchor="t"/>
          <a:lstStyle/>
          <a:p>
            <a:pPr marL="0" indent="0">
              <a:buNone/>
            </a:pPr>
            <a:r>
              <a:rPr lang="en-US" sz="3400" b="1" dirty="0">
                <a:solidFill>
                  <a:srgbClr val="FFFFFF"/>
                </a:solidFill>
                <a:latin typeface="Georgia" pitchFamily="34" charset="0"/>
                <a:ea typeface="Georgia" pitchFamily="34" charset="-122"/>
                <a:cs typeface="Georgia" pitchFamily="34" charset="-120"/>
              </a:rPr>
              <a:t>Mapping that’s </a:t>
            </a:r>
            <a:r>
              <a:rPr lang="en-US" sz="3400" b="1" dirty="0">
                <a:solidFill>
                  <a:srgbClr val="11B5A4"/>
                </a:solidFill>
                <a:latin typeface="Georgia" pitchFamily="34" charset="0"/>
                <a:ea typeface="Georgia" pitchFamily="34" charset="-122"/>
                <a:cs typeface="Georgia" pitchFamily="34" charset="-120"/>
              </a:rPr>
              <a:t>explainable, reviewable, </a:t>
            </a:r>
            <a:r>
              <a:rPr lang="en-US" sz="3400" b="1" dirty="0">
                <a:solidFill>
                  <a:srgbClr val="FFFFFF"/>
                </a:solidFill>
                <a:latin typeface="Georgia" pitchFamily="34" charset="0"/>
                <a:ea typeface="Georgia" pitchFamily="34" charset="-122"/>
                <a:cs typeface="Georgia" pitchFamily="34" charset="-120"/>
              </a:rPr>
              <a:t>and </a:t>
            </a:r>
            <a:r>
              <a:rPr lang="en-US" sz="3400" b="1" dirty="0">
                <a:solidFill>
                  <a:srgbClr val="11B5A4"/>
                </a:solidFill>
                <a:latin typeface="Georgia" pitchFamily="34" charset="0"/>
                <a:ea typeface="Georgia" pitchFamily="34" charset="-122"/>
                <a:cs typeface="Georgia" pitchFamily="34" charset="-120"/>
              </a:rPr>
              <a:t>reusable.</a:t>
            </a:r>
            <a:endParaRPr lang="en-US" sz="3400" dirty="0"/>
          </a:p>
        </p:txBody>
      </p:sp>
      <p:sp>
        <p:nvSpPr>
          <p:cNvPr id="5" name="Text 3"/>
          <p:cNvSpPr/>
          <p:nvPr/>
        </p:nvSpPr>
        <p:spPr>
          <a:xfrm>
            <a:off x="777240" y="1993392"/>
            <a:ext cx="7589520" cy="640080"/>
          </a:xfrm>
          <a:prstGeom prst="rect">
            <a:avLst/>
          </a:prstGeom>
          <a:noFill/>
          <a:ln/>
        </p:spPr>
        <p:txBody>
          <a:bodyPr wrap="square" lIns="0" tIns="0" rIns="0" bIns="0" rtlCol="0" anchor="ctr"/>
          <a:lstStyle/>
          <a:p>
            <a:pPr marL="0" indent="0">
              <a:lnSpc>
                <a:spcPct val="118000"/>
              </a:lnSpc>
              <a:buNone/>
            </a:pPr>
            <a:r>
              <a:rPr lang="en-US" sz="1400" dirty="0">
                <a:solidFill>
                  <a:srgbClr val="AEC2D4"/>
                </a:solidFill>
                <a:latin typeface="Calibri" pitchFamily="34" charset="0"/>
                <a:ea typeface="Calibri" pitchFamily="34" charset="-122"/>
                <a:cs typeface="Calibri" pitchFamily="34" charset="-120"/>
              </a:rPr>
              <a:t>Semantra turns semantic integration work into a governed delivery capability — including BA-ready reporting — under analyst and stewardship control.</a:t>
            </a:r>
            <a:endParaRPr lang="en-US" sz="1400" dirty="0"/>
          </a:p>
        </p:txBody>
      </p:sp>
      <p:sp>
        <p:nvSpPr>
          <p:cNvPr id="6" name="Shape 4"/>
          <p:cNvSpPr/>
          <p:nvPr/>
        </p:nvSpPr>
        <p:spPr>
          <a:xfrm>
            <a:off x="777240" y="2788920"/>
            <a:ext cx="457200" cy="457200"/>
          </a:xfrm>
          <a:prstGeom prst="ellipse">
            <a:avLst/>
          </a:prstGeom>
          <a:solidFill>
            <a:srgbClr val="11314C"/>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896112" y="2907792"/>
            <a:ext cx="219456" cy="219456"/>
          </a:xfrm>
          <a:prstGeom prst="rect">
            <a:avLst/>
          </a:prstGeom>
        </p:spPr>
      </p:pic>
      <p:sp>
        <p:nvSpPr>
          <p:cNvPr id="8" name="Text 5"/>
          <p:cNvSpPr/>
          <p:nvPr/>
        </p:nvSpPr>
        <p:spPr>
          <a:xfrm>
            <a:off x="1325880" y="2788920"/>
            <a:ext cx="1371600" cy="45720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Explainable</a:t>
            </a:r>
            <a:endParaRPr lang="en-US" sz="1300" dirty="0"/>
          </a:p>
        </p:txBody>
      </p:sp>
      <p:sp>
        <p:nvSpPr>
          <p:cNvPr id="9" name="Shape 6"/>
          <p:cNvSpPr/>
          <p:nvPr/>
        </p:nvSpPr>
        <p:spPr>
          <a:xfrm>
            <a:off x="2651760" y="2788920"/>
            <a:ext cx="457200" cy="457200"/>
          </a:xfrm>
          <a:prstGeom prst="ellipse">
            <a:avLst/>
          </a:prstGeom>
          <a:solidFill>
            <a:srgbClr val="11314C"/>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2770632" y="2907792"/>
            <a:ext cx="219456" cy="219456"/>
          </a:xfrm>
          <a:prstGeom prst="rect">
            <a:avLst/>
          </a:prstGeom>
        </p:spPr>
      </p:pic>
      <p:sp>
        <p:nvSpPr>
          <p:cNvPr id="11" name="Text 7"/>
          <p:cNvSpPr/>
          <p:nvPr/>
        </p:nvSpPr>
        <p:spPr>
          <a:xfrm>
            <a:off x="3200400" y="2788920"/>
            <a:ext cx="1371600" cy="45720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Reviewable</a:t>
            </a:r>
            <a:endParaRPr lang="en-US" sz="1300" dirty="0"/>
          </a:p>
        </p:txBody>
      </p:sp>
      <p:sp>
        <p:nvSpPr>
          <p:cNvPr id="12" name="Shape 8"/>
          <p:cNvSpPr/>
          <p:nvPr/>
        </p:nvSpPr>
        <p:spPr>
          <a:xfrm>
            <a:off x="4526280" y="2788920"/>
            <a:ext cx="457200" cy="457200"/>
          </a:xfrm>
          <a:prstGeom prst="ellipse">
            <a:avLst/>
          </a:prstGeom>
          <a:solidFill>
            <a:srgbClr val="11314C"/>
          </a:solidFill>
          <a:ln/>
        </p:spPr>
        <p:txBody>
          <a:bodyPr/>
          <a:lstStyle/>
          <a:p>
            <a:endParaRPr lang="en-US"/>
          </a:p>
        </p:txBody>
      </p:sp>
      <p:pic>
        <p:nvPicPr>
          <p:cNvPr id="13" name="Image 2" descr="preencoded.png"/>
          <p:cNvPicPr>
            <a:picLocks noChangeAspect="1"/>
          </p:cNvPicPr>
          <p:nvPr/>
        </p:nvPicPr>
        <p:blipFill>
          <a:blip r:embed="rId5"/>
          <a:stretch>
            <a:fillRect/>
          </a:stretch>
        </p:blipFill>
        <p:spPr>
          <a:xfrm>
            <a:off x="4645152" y="2907792"/>
            <a:ext cx="219456" cy="219456"/>
          </a:xfrm>
          <a:prstGeom prst="rect">
            <a:avLst/>
          </a:prstGeom>
        </p:spPr>
      </p:pic>
      <p:sp>
        <p:nvSpPr>
          <p:cNvPr id="14" name="Text 9"/>
          <p:cNvSpPr/>
          <p:nvPr/>
        </p:nvSpPr>
        <p:spPr>
          <a:xfrm>
            <a:off x="5074920" y="2788920"/>
            <a:ext cx="1371600" cy="45720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Reusable</a:t>
            </a:r>
            <a:endParaRPr lang="en-US" sz="1300" dirty="0"/>
          </a:p>
        </p:txBody>
      </p:sp>
      <p:sp>
        <p:nvSpPr>
          <p:cNvPr id="15" name="Shape 10"/>
          <p:cNvSpPr/>
          <p:nvPr/>
        </p:nvSpPr>
        <p:spPr>
          <a:xfrm>
            <a:off x="777240" y="3520440"/>
            <a:ext cx="7589520" cy="877824"/>
          </a:xfrm>
          <a:prstGeom prst="rect">
            <a:avLst/>
          </a:prstGeom>
          <a:solidFill>
            <a:srgbClr val="11314C"/>
          </a:solidFill>
          <a:ln w="12700">
            <a:solidFill>
              <a:srgbClr val="0D9488"/>
            </a:solidFill>
            <a:prstDash val="solid"/>
          </a:ln>
        </p:spPr>
        <p:txBody>
          <a:bodyPr/>
          <a:lstStyle/>
          <a:p>
            <a:endParaRPr lang="en-US"/>
          </a:p>
        </p:txBody>
      </p:sp>
      <p:pic>
        <p:nvPicPr>
          <p:cNvPr id="16" name="Image 3" descr="preencoded.png"/>
          <p:cNvPicPr>
            <a:picLocks noChangeAspect="1"/>
          </p:cNvPicPr>
          <p:nvPr/>
        </p:nvPicPr>
        <p:blipFill>
          <a:blip r:embed="rId6"/>
          <a:stretch>
            <a:fillRect/>
          </a:stretch>
        </p:blipFill>
        <p:spPr>
          <a:xfrm>
            <a:off x="1005840" y="3767328"/>
            <a:ext cx="384048" cy="384048"/>
          </a:xfrm>
          <a:prstGeom prst="rect">
            <a:avLst/>
          </a:prstGeom>
        </p:spPr>
      </p:pic>
      <p:sp>
        <p:nvSpPr>
          <p:cNvPr id="17" name="Text 11"/>
          <p:cNvSpPr/>
          <p:nvPr/>
        </p:nvSpPr>
        <p:spPr>
          <a:xfrm>
            <a:off x="1554480" y="3520440"/>
            <a:ext cx="6675120" cy="877824"/>
          </a:xfrm>
          <a:prstGeom prst="rect">
            <a:avLst/>
          </a:prstGeom>
          <a:noFill/>
          <a:ln/>
        </p:spPr>
        <p:txBody>
          <a:bodyPr wrap="square" lIns="0" tIns="0" rIns="0" bIns="0" rtlCol="0" anchor="ctr"/>
          <a:lstStyle/>
          <a:p>
            <a:pPr marL="0" indent="0">
              <a:lnSpc>
                <a:spcPct val="110000"/>
              </a:lnSpc>
              <a:buNone/>
            </a:pPr>
            <a:r>
              <a:rPr lang="en-US" sz="1300" b="1" dirty="0">
                <a:solidFill>
                  <a:srgbClr val="11B5A4"/>
                </a:solidFill>
                <a:latin typeface="Calibri" pitchFamily="34" charset="0"/>
                <a:ea typeface="Calibri" pitchFamily="34" charset="-122"/>
                <a:cs typeface="Calibri" pitchFamily="34" charset="-120"/>
              </a:rPr>
              <a:t>The ask:  </a:t>
            </a:r>
            <a:r>
              <a:rPr lang="en-US" sz="1300" dirty="0">
                <a:solidFill>
                  <a:srgbClr val="DCE7F1"/>
                </a:solidFill>
                <a:latin typeface="Calibri" pitchFamily="34" charset="0"/>
                <a:ea typeface="Calibri" pitchFamily="34" charset="-122"/>
                <a:cs typeface="Calibri" pitchFamily="34" charset="-120"/>
              </a:rPr>
              <a:t>PMO sponsorship to run a scoped pilot, validate value, and register Semantra as a reusable delivery service.</a:t>
            </a:r>
            <a:endParaRPr lang="en-US" sz="1300" dirty="0"/>
          </a:p>
        </p:txBody>
      </p:sp>
      <p:sp>
        <p:nvSpPr>
          <p:cNvPr id="18" name="Text 12"/>
          <p:cNvSpPr/>
          <p:nvPr/>
        </p:nvSpPr>
        <p:spPr>
          <a:xfrm>
            <a:off x="777240" y="4617720"/>
            <a:ext cx="7589520" cy="274320"/>
          </a:xfrm>
          <a:prstGeom prst="rect">
            <a:avLst/>
          </a:prstGeom>
          <a:noFill/>
          <a:ln/>
        </p:spPr>
        <p:txBody>
          <a:bodyPr wrap="square" lIns="0" tIns="0" rIns="0" bIns="0" rtlCol="0" anchor="ctr"/>
          <a:lstStyle/>
          <a:p>
            <a:pPr marL="0" indent="0">
              <a:buNone/>
            </a:pPr>
            <a:r>
              <a:rPr lang="en-US" sz="1050" b="1" kern="0" spc="150" dirty="0">
                <a:solidFill>
                  <a:srgbClr val="6E869B"/>
                </a:solidFill>
                <a:latin typeface="Calibri" pitchFamily="34" charset="0"/>
                <a:ea typeface="Calibri" pitchFamily="34" charset="-122"/>
                <a:cs typeface="Calibri" pitchFamily="34" charset="-120"/>
              </a:rPr>
              <a:t>SEMANTRA  •  PMO SERVICE  •  EA–DA BRIDGE  •  MDM-READY</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2236"/>
        </a:solidFill>
        <a:effectLst/>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0D9488"/>
          </a:solidFill>
          <a:ln/>
        </p:spPr>
        <p:txBody>
          <a:bodyPr/>
          <a:lstStyle/>
          <a:p>
            <a:endParaRPr lang="en-US"/>
          </a:p>
        </p:txBody>
      </p:sp>
      <p:sp>
        <p:nvSpPr>
          <p:cNvPr id="3" name="Text 1"/>
          <p:cNvSpPr/>
          <p:nvPr/>
        </p:nvSpPr>
        <p:spPr>
          <a:xfrm>
            <a:off x="777240" y="841248"/>
            <a:ext cx="7589520" cy="274320"/>
          </a:xfrm>
          <a:prstGeom prst="rect">
            <a:avLst/>
          </a:prstGeom>
          <a:noFill/>
          <a:ln/>
        </p:spPr>
        <p:txBody>
          <a:bodyPr wrap="square" lIns="0" tIns="0" rIns="0" bIns="0" rtlCol="0" anchor="ctr"/>
          <a:lstStyle/>
          <a:p>
            <a:pPr marL="0" indent="0">
              <a:buNone/>
            </a:pPr>
            <a:r>
              <a:rPr lang="en-US" sz="1200" b="1" kern="0" spc="200" dirty="0">
                <a:solidFill>
                  <a:srgbClr val="11B5A4"/>
                </a:solidFill>
                <a:latin typeface="Calibri" pitchFamily="34" charset="0"/>
                <a:ea typeface="Calibri" pitchFamily="34" charset="-122"/>
                <a:cs typeface="Calibri" pitchFamily="34" charset="-120"/>
              </a:rPr>
              <a:t>CONDENSED VERSION  •  9-SLIDE EXECUTIVE OVERVIEW</a:t>
            </a:r>
            <a:endParaRPr lang="en-US" sz="1200" dirty="0"/>
          </a:p>
        </p:txBody>
      </p:sp>
      <p:sp>
        <p:nvSpPr>
          <p:cNvPr id="4" name="Text 2"/>
          <p:cNvSpPr/>
          <p:nvPr/>
        </p:nvSpPr>
        <p:spPr>
          <a:xfrm>
            <a:off x="749808" y="1298448"/>
            <a:ext cx="7772400" cy="1371600"/>
          </a:xfrm>
          <a:prstGeom prst="rect">
            <a:avLst/>
          </a:prstGeom>
          <a:noFill/>
          <a:ln/>
        </p:spPr>
        <p:txBody>
          <a:bodyPr wrap="square" lIns="0" tIns="0" rIns="0" bIns="0" rtlCol="0" anchor="t"/>
          <a:lstStyle/>
          <a:p>
            <a:pPr marL="0" indent="0">
              <a:lnSpc>
                <a:spcPct val="100000"/>
              </a:lnSpc>
              <a:buNone/>
            </a:pPr>
            <a:r>
              <a:rPr lang="en-US" sz="4200" b="1" dirty="0">
                <a:solidFill>
                  <a:srgbClr val="FFFFFF"/>
                </a:solidFill>
                <a:latin typeface="Georgia" pitchFamily="34" charset="0"/>
                <a:ea typeface="Georgia" pitchFamily="34" charset="-122"/>
                <a:cs typeface="Georgia" pitchFamily="34" charset="-120"/>
              </a:rPr>
              <a:t>Explainable Mapping for Integration Delivery</a:t>
            </a:r>
            <a:endParaRPr lang="en-US" sz="4200" dirty="0"/>
          </a:p>
        </p:txBody>
      </p:sp>
      <p:sp>
        <p:nvSpPr>
          <p:cNvPr id="5" name="Text 3"/>
          <p:cNvSpPr/>
          <p:nvPr/>
        </p:nvSpPr>
        <p:spPr>
          <a:xfrm>
            <a:off x="777240" y="2670048"/>
            <a:ext cx="7498080" cy="457200"/>
          </a:xfrm>
          <a:prstGeom prst="rect">
            <a:avLst/>
          </a:prstGeom>
          <a:noFill/>
          <a:ln/>
        </p:spPr>
        <p:txBody>
          <a:bodyPr wrap="square" lIns="0" tIns="0" rIns="0" bIns="0" rtlCol="0" anchor="ctr"/>
          <a:lstStyle/>
          <a:p>
            <a:pPr marL="0" indent="0">
              <a:buNone/>
            </a:pPr>
            <a:r>
              <a:rPr lang="en-US" sz="1800" i="1" dirty="0">
                <a:solidFill>
                  <a:srgbClr val="11B5A4"/>
                </a:solidFill>
                <a:latin typeface="Calibri" pitchFamily="34" charset="0"/>
                <a:ea typeface="Calibri" pitchFamily="34" charset="-122"/>
                <a:cs typeface="Calibri" pitchFamily="34" charset="-120"/>
              </a:rPr>
              <a:t>From fragmented mapping work to a governed delivery outcome</a:t>
            </a:r>
            <a:endParaRPr lang="en-US" sz="1800" dirty="0"/>
          </a:p>
        </p:txBody>
      </p:sp>
      <p:sp>
        <p:nvSpPr>
          <p:cNvPr id="6" name="Text 4"/>
          <p:cNvSpPr/>
          <p:nvPr/>
        </p:nvSpPr>
        <p:spPr>
          <a:xfrm>
            <a:off x="777240" y="3182112"/>
            <a:ext cx="7132320" cy="548640"/>
          </a:xfrm>
          <a:prstGeom prst="rect">
            <a:avLst/>
          </a:prstGeom>
          <a:noFill/>
          <a:ln/>
        </p:spPr>
        <p:txBody>
          <a:bodyPr wrap="square" lIns="0" tIns="0" rIns="0" bIns="0" rtlCol="0" anchor="ctr"/>
          <a:lstStyle/>
          <a:p>
            <a:pPr marL="0" indent="0">
              <a:lnSpc>
                <a:spcPct val="115000"/>
              </a:lnSpc>
              <a:buNone/>
            </a:pPr>
            <a:r>
              <a:rPr lang="en-US" sz="1350" dirty="0">
                <a:solidFill>
                  <a:srgbClr val="AEC2D4"/>
                </a:solidFill>
                <a:latin typeface="Calibri" pitchFamily="34" charset="0"/>
                <a:ea typeface="Calibri" pitchFamily="34" charset="-122"/>
                <a:cs typeface="Calibri" pitchFamily="34" charset="-120"/>
              </a:rPr>
              <a:t>Move from raw structures to reviewed, explainable, and reusable mapping decisions.</a:t>
            </a:r>
            <a:endParaRPr lang="en-US" sz="1350" dirty="0"/>
          </a:p>
        </p:txBody>
      </p:sp>
      <p:sp>
        <p:nvSpPr>
          <p:cNvPr id="7" name="Shape 5"/>
          <p:cNvSpPr/>
          <p:nvPr/>
        </p:nvSpPr>
        <p:spPr>
          <a:xfrm>
            <a:off x="777240" y="3913632"/>
            <a:ext cx="1256386" cy="384048"/>
          </a:xfrm>
          <a:prstGeom prst="roundRect">
            <a:avLst>
              <a:gd name="adj" fmla="val 14286"/>
            </a:avLst>
          </a:prstGeom>
          <a:solidFill>
            <a:srgbClr val="11314C"/>
          </a:solidFill>
          <a:ln/>
        </p:spPr>
        <p:txBody>
          <a:bodyPr/>
          <a:lstStyle/>
          <a:p>
            <a:endParaRPr lang="en-US"/>
          </a:p>
        </p:txBody>
      </p:sp>
      <p:sp>
        <p:nvSpPr>
          <p:cNvPr id="8" name="Text 6"/>
          <p:cNvSpPr/>
          <p:nvPr/>
        </p:nvSpPr>
        <p:spPr>
          <a:xfrm>
            <a:off x="777240" y="3913632"/>
            <a:ext cx="1256386" cy="384048"/>
          </a:xfrm>
          <a:prstGeom prst="rect">
            <a:avLst/>
          </a:prstGeom>
          <a:noFill/>
          <a:ln/>
        </p:spPr>
        <p:txBody>
          <a:bodyPr wrap="square" lIns="0" tIns="0" rIns="0" bIns="0" rtlCol="0" anchor="ctr"/>
          <a:lstStyle/>
          <a:p>
            <a:pPr marL="0" indent="0" algn="ctr">
              <a:buNone/>
            </a:pPr>
            <a:r>
              <a:rPr lang="en-US" sz="1150" b="1" dirty="0">
                <a:solidFill>
                  <a:srgbClr val="11B5A4"/>
                </a:solidFill>
                <a:latin typeface="Calibri" pitchFamily="34" charset="0"/>
                <a:ea typeface="Calibri" pitchFamily="34" charset="-122"/>
                <a:cs typeface="Calibri" pitchFamily="34" charset="-120"/>
              </a:rPr>
              <a:t>Explainable</a:t>
            </a:r>
            <a:endParaRPr lang="en-US" sz="1150" dirty="0"/>
          </a:p>
        </p:txBody>
      </p:sp>
      <p:sp>
        <p:nvSpPr>
          <p:cNvPr id="9" name="Shape 7"/>
          <p:cNvSpPr/>
          <p:nvPr/>
        </p:nvSpPr>
        <p:spPr>
          <a:xfrm>
            <a:off x="2198218" y="3913632"/>
            <a:ext cx="1170432" cy="384048"/>
          </a:xfrm>
          <a:prstGeom prst="roundRect">
            <a:avLst>
              <a:gd name="adj" fmla="val 14286"/>
            </a:avLst>
          </a:prstGeom>
          <a:solidFill>
            <a:srgbClr val="11314C"/>
          </a:solidFill>
          <a:ln/>
        </p:spPr>
        <p:txBody>
          <a:bodyPr/>
          <a:lstStyle/>
          <a:p>
            <a:endParaRPr lang="en-US"/>
          </a:p>
        </p:txBody>
      </p:sp>
      <p:sp>
        <p:nvSpPr>
          <p:cNvPr id="10" name="Text 8"/>
          <p:cNvSpPr/>
          <p:nvPr/>
        </p:nvSpPr>
        <p:spPr>
          <a:xfrm>
            <a:off x="2198218" y="3913632"/>
            <a:ext cx="1170432" cy="384048"/>
          </a:xfrm>
          <a:prstGeom prst="rect">
            <a:avLst/>
          </a:prstGeom>
          <a:noFill/>
          <a:ln/>
        </p:spPr>
        <p:txBody>
          <a:bodyPr wrap="square" lIns="0" tIns="0" rIns="0" bIns="0" rtlCol="0" anchor="ctr"/>
          <a:lstStyle/>
          <a:p>
            <a:pPr marL="0" indent="0" algn="ctr">
              <a:buNone/>
            </a:pPr>
            <a:r>
              <a:rPr lang="en-US" sz="1150" b="1" dirty="0">
                <a:solidFill>
                  <a:srgbClr val="11B5A4"/>
                </a:solidFill>
                <a:latin typeface="Calibri" pitchFamily="34" charset="0"/>
                <a:ea typeface="Calibri" pitchFamily="34" charset="-122"/>
                <a:cs typeface="Calibri" pitchFamily="34" charset="-120"/>
              </a:rPr>
              <a:t>Reviewable</a:t>
            </a:r>
            <a:endParaRPr lang="en-US" sz="1150" dirty="0"/>
          </a:p>
        </p:txBody>
      </p:sp>
      <p:sp>
        <p:nvSpPr>
          <p:cNvPr id="11" name="Shape 9"/>
          <p:cNvSpPr/>
          <p:nvPr/>
        </p:nvSpPr>
        <p:spPr>
          <a:xfrm>
            <a:off x="3533242" y="3913632"/>
            <a:ext cx="998525" cy="384048"/>
          </a:xfrm>
          <a:prstGeom prst="roundRect">
            <a:avLst>
              <a:gd name="adj" fmla="val 14286"/>
            </a:avLst>
          </a:prstGeom>
          <a:solidFill>
            <a:srgbClr val="11314C"/>
          </a:solidFill>
          <a:ln/>
        </p:spPr>
        <p:txBody>
          <a:bodyPr/>
          <a:lstStyle/>
          <a:p>
            <a:endParaRPr lang="en-US"/>
          </a:p>
        </p:txBody>
      </p:sp>
      <p:sp>
        <p:nvSpPr>
          <p:cNvPr id="12" name="Text 10"/>
          <p:cNvSpPr/>
          <p:nvPr/>
        </p:nvSpPr>
        <p:spPr>
          <a:xfrm>
            <a:off x="3533242" y="3913632"/>
            <a:ext cx="998525" cy="384048"/>
          </a:xfrm>
          <a:prstGeom prst="rect">
            <a:avLst/>
          </a:prstGeom>
          <a:noFill/>
          <a:ln/>
        </p:spPr>
        <p:txBody>
          <a:bodyPr wrap="square" lIns="0" tIns="0" rIns="0" bIns="0" rtlCol="0" anchor="ctr"/>
          <a:lstStyle/>
          <a:p>
            <a:pPr marL="0" indent="0" algn="ctr">
              <a:buNone/>
            </a:pPr>
            <a:r>
              <a:rPr lang="en-US" sz="1150" b="1" dirty="0">
                <a:solidFill>
                  <a:srgbClr val="11B5A4"/>
                </a:solidFill>
                <a:latin typeface="Calibri" pitchFamily="34" charset="0"/>
                <a:ea typeface="Calibri" pitchFamily="34" charset="-122"/>
                <a:cs typeface="Calibri" pitchFamily="34" charset="-120"/>
              </a:rPr>
              <a:t>Reusable</a:t>
            </a:r>
            <a:endParaRPr lang="en-US" sz="1150" dirty="0"/>
          </a:p>
        </p:txBody>
      </p:sp>
      <p:sp>
        <p:nvSpPr>
          <p:cNvPr id="13" name="Text 11"/>
          <p:cNvSpPr/>
          <p:nvPr/>
        </p:nvSpPr>
        <p:spPr>
          <a:xfrm>
            <a:off x="777240" y="4590288"/>
            <a:ext cx="2743200" cy="274320"/>
          </a:xfrm>
          <a:prstGeom prst="rect">
            <a:avLst/>
          </a:prstGeom>
          <a:noFill/>
          <a:ln/>
        </p:spPr>
        <p:txBody>
          <a:bodyPr wrap="square" lIns="0" tIns="0" rIns="0" bIns="0" rtlCol="0" anchor="ctr"/>
          <a:lstStyle/>
          <a:p>
            <a:pPr marL="0" indent="0">
              <a:buNone/>
            </a:pPr>
            <a:r>
              <a:rPr lang="en-US" sz="1050" b="1" dirty="0">
                <a:solidFill>
                  <a:srgbClr val="6E869B"/>
                </a:solidFill>
                <a:latin typeface="Calibri" pitchFamily="34" charset="0"/>
                <a:ea typeface="Calibri" pitchFamily="34" charset="-122"/>
                <a:cs typeface="Calibri" pitchFamily="34" charset="-120"/>
              </a:rPr>
              <a:t>01 / 09</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8138160" cy="274320"/>
          </a:xfrm>
          <a:prstGeom prst="rect">
            <a:avLst/>
          </a:prstGeom>
          <a:noFill/>
          <a:ln/>
        </p:spPr>
        <p:txBody>
          <a:bodyPr wrap="square" lIns="0" tIns="0" rIns="0" bIns="0" rtlCol="0" anchor="ctr"/>
          <a:lstStyle/>
          <a:p>
            <a:pPr marL="0" indent="0" algn="l">
              <a:buNone/>
            </a:pPr>
            <a:r>
              <a:rPr lang="en-US" sz="1150" b="1" kern="0" spc="200" dirty="0">
                <a:solidFill>
                  <a:srgbClr val="0D9488"/>
                </a:solidFill>
                <a:latin typeface="Calibri" pitchFamily="34" charset="0"/>
                <a:ea typeface="Calibri" pitchFamily="34" charset="-122"/>
                <a:cs typeface="Calibri" pitchFamily="34" charset="-120"/>
              </a:rPr>
              <a:t>THE PROBLEM</a:t>
            </a:r>
            <a:endParaRPr lang="en-US" sz="1150" dirty="0"/>
          </a:p>
        </p:txBody>
      </p:sp>
      <p:sp>
        <p:nvSpPr>
          <p:cNvPr id="3" name="Text 1"/>
          <p:cNvSpPr/>
          <p:nvPr/>
        </p:nvSpPr>
        <p:spPr>
          <a:xfrm>
            <a:off x="502920" y="585216"/>
            <a:ext cx="8138160" cy="749808"/>
          </a:xfrm>
          <a:prstGeom prst="rect">
            <a:avLst/>
          </a:prstGeom>
          <a:noFill/>
          <a:ln/>
        </p:spPr>
        <p:txBody>
          <a:bodyPr wrap="square" lIns="0" tIns="0" rIns="0" bIns="0" rtlCol="0" anchor="t"/>
          <a:lstStyle/>
          <a:p>
            <a:pPr marL="0" indent="0" algn="l">
              <a:buNone/>
            </a:pPr>
            <a:r>
              <a:rPr lang="en-US" sz="2700" b="1" dirty="0">
                <a:solidFill>
                  <a:srgbClr val="0F2A43"/>
                </a:solidFill>
                <a:latin typeface="Georgia" pitchFamily="34" charset="0"/>
                <a:ea typeface="Georgia" pitchFamily="34" charset="-122"/>
                <a:cs typeface="Georgia" pitchFamily="34" charset="-120"/>
              </a:rPr>
              <a:t>Why this matters</a:t>
            </a:r>
            <a:endParaRPr lang="en-US" sz="2700" dirty="0"/>
          </a:p>
        </p:txBody>
      </p:sp>
      <p:sp>
        <p:nvSpPr>
          <p:cNvPr id="4" name="Shape 2"/>
          <p:cNvSpPr/>
          <p:nvPr/>
        </p:nvSpPr>
        <p:spPr>
          <a:xfrm>
            <a:off x="502920" y="1463040"/>
            <a:ext cx="3931920" cy="1280160"/>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5" name="Shape 3"/>
          <p:cNvSpPr/>
          <p:nvPr/>
        </p:nvSpPr>
        <p:spPr>
          <a:xfrm>
            <a:off x="502920" y="1463040"/>
            <a:ext cx="64008" cy="1280160"/>
          </a:xfrm>
          <a:prstGeom prst="rect">
            <a:avLst/>
          </a:prstGeom>
          <a:solidFill>
            <a:srgbClr val="0D9488"/>
          </a:solidFill>
          <a:ln/>
        </p:spPr>
        <p:txBody>
          <a:bodyPr/>
          <a:lstStyle/>
          <a:p>
            <a:endParaRPr lang="en-US"/>
          </a:p>
        </p:txBody>
      </p:sp>
      <p:sp>
        <p:nvSpPr>
          <p:cNvPr id="6" name="Shape 4"/>
          <p:cNvSpPr/>
          <p:nvPr/>
        </p:nvSpPr>
        <p:spPr>
          <a:xfrm>
            <a:off x="740664" y="1664208"/>
            <a:ext cx="512064" cy="512064"/>
          </a:xfrm>
          <a:prstGeom prst="ellipse">
            <a:avLst/>
          </a:prstGeom>
          <a:solidFill>
            <a:srgbClr val="E6F4F2"/>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868680" y="1792224"/>
            <a:ext cx="256032" cy="256032"/>
          </a:xfrm>
          <a:prstGeom prst="rect">
            <a:avLst/>
          </a:prstGeom>
        </p:spPr>
      </p:pic>
      <p:sp>
        <p:nvSpPr>
          <p:cNvPr id="8" name="Text 5"/>
          <p:cNvSpPr/>
          <p:nvPr/>
        </p:nvSpPr>
        <p:spPr>
          <a:xfrm>
            <a:off x="1453896" y="1645920"/>
            <a:ext cx="2816352" cy="329184"/>
          </a:xfrm>
          <a:prstGeom prst="rect">
            <a:avLst/>
          </a:prstGeom>
          <a:noFill/>
          <a:ln/>
        </p:spPr>
        <p:txBody>
          <a:bodyPr wrap="square" lIns="0" tIns="0" rIns="0" bIns="0" rtlCol="0" anchor="ctr"/>
          <a:lstStyle/>
          <a:p>
            <a:pPr marL="0" indent="0">
              <a:buNone/>
            </a:pPr>
            <a:r>
              <a:rPr lang="en-US" sz="1450" b="1" dirty="0">
                <a:solidFill>
                  <a:srgbClr val="0F2A43"/>
                </a:solidFill>
                <a:latin typeface="Calibri" pitchFamily="34" charset="0"/>
                <a:ea typeface="Calibri" pitchFamily="34" charset="-122"/>
                <a:cs typeface="Calibri" pitchFamily="34" charset="-120"/>
              </a:rPr>
              <a:t>Slow &amp; hard to reuse</a:t>
            </a:r>
            <a:endParaRPr lang="en-US" sz="1450" dirty="0"/>
          </a:p>
        </p:txBody>
      </p:sp>
      <p:sp>
        <p:nvSpPr>
          <p:cNvPr id="9" name="Text 6"/>
          <p:cNvSpPr/>
          <p:nvPr/>
        </p:nvSpPr>
        <p:spPr>
          <a:xfrm>
            <a:off x="740664" y="2249424"/>
            <a:ext cx="3474720" cy="347472"/>
          </a:xfrm>
          <a:prstGeom prst="rect">
            <a:avLst/>
          </a:prstGeom>
          <a:noFill/>
          <a:ln/>
        </p:spPr>
        <p:txBody>
          <a:bodyPr wrap="square" lIns="0" tIns="0" rIns="0" bIns="0" rtlCol="0" anchor="t"/>
          <a:lstStyle/>
          <a:p>
            <a:pPr marL="0" indent="0">
              <a:lnSpc>
                <a:spcPct val="102000"/>
              </a:lnSpc>
              <a:buNone/>
            </a:pPr>
            <a:r>
              <a:rPr lang="en-US" sz="1150" dirty="0">
                <a:solidFill>
                  <a:srgbClr val="334155"/>
                </a:solidFill>
                <a:latin typeface="Calibri" pitchFamily="34" charset="0"/>
                <a:ea typeface="Calibri" pitchFamily="34" charset="-122"/>
                <a:cs typeface="Calibri" pitchFamily="34" charset="-120"/>
              </a:rPr>
              <a:t>Schema mapping is still slow, fragmented, and repeated from scratch each project.</a:t>
            </a:r>
            <a:endParaRPr lang="en-US" sz="1150" dirty="0"/>
          </a:p>
        </p:txBody>
      </p:sp>
      <p:sp>
        <p:nvSpPr>
          <p:cNvPr id="10" name="Shape 7"/>
          <p:cNvSpPr/>
          <p:nvPr/>
        </p:nvSpPr>
        <p:spPr>
          <a:xfrm>
            <a:off x="4709160" y="1463040"/>
            <a:ext cx="3931920" cy="1280160"/>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11" name="Shape 8"/>
          <p:cNvSpPr/>
          <p:nvPr/>
        </p:nvSpPr>
        <p:spPr>
          <a:xfrm>
            <a:off x="4709160" y="1463040"/>
            <a:ext cx="64008" cy="1280160"/>
          </a:xfrm>
          <a:prstGeom prst="rect">
            <a:avLst/>
          </a:prstGeom>
          <a:solidFill>
            <a:srgbClr val="0D9488"/>
          </a:solidFill>
          <a:ln/>
        </p:spPr>
        <p:txBody>
          <a:bodyPr/>
          <a:lstStyle/>
          <a:p>
            <a:endParaRPr lang="en-US"/>
          </a:p>
        </p:txBody>
      </p:sp>
      <p:sp>
        <p:nvSpPr>
          <p:cNvPr id="12" name="Shape 9"/>
          <p:cNvSpPr/>
          <p:nvPr/>
        </p:nvSpPr>
        <p:spPr>
          <a:xfrm>
            <a:off x="4946904" y="1664208"/>
            <a:ext cx="512064" cy="512064"/>
          </a:xfrm>
          <a:prstGeom prst="ellipse">
            <a:avLst/>
          </a:prstGeom>
          <a:solidFill>
            <a:srgbClr val="E6F4F2"/>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5074920" y="1792224"/>
            <a:ext cx="256032" cy="256032"/>
          </a:xfrm>
          <a:prstGeom prst="rect">
            <a:avLst/>
          </a:prstGeom>
        </p:spPr>
      </p:pic>
      <p:sp>
        <p:nvSpPr>
          <p:cNvPr id="14" name="Text 10"/>
          <p:cNvSpPr/>
          <p:nvPr/>
        </p:nvSpPr>
        <p:spPr>
          <a:xfrm>
            <a:off x="5660136" y="1645920"/>
            <a:ext cx="2816352" cy="329184"/>
          </a:xfrm>
          <a:prstGeom prst="rect">
            <a:avLst/>
          </a:prstGeom>
          <a:noFill/>
          <a:ln/>
        </p:spPr>
        <p:txBody>
          <a:bodyPr wrap="square" lIns="0" tIns="0" rIns="0" bIns="0" rtlCol="0" anchor="ctr"/>
          <a:lstStyle/>
          <a:p>
            <a:pPr marL="0" indent="0">
              <a:buNone/>
            </a:pPr>
            <a:r>
              <a:rPr lang="en-US" sz="1450" b="1" dirty="0">
                <a:solidFill>
                  <a:srgbClr val="0F2A43"/>
                </a:solidFill>
                <a:latin typeface="Calibri" pitchFamily="34" charset="0"/>
                <a:ea typeface="Calibri" pitchFamily="34" charset="-122"/>
                <a:cs typeface="Calibri" pitchFamily="34" charset="-120"/>
              </a:rPr>
              <a:t>Messy starting point</a:t>
            </a:r>
            <a:endParaRPr lang="en-US" sz="1450" dirty="0"/>
          </a:p>
        </p:txBody>
      </p:sp>
      <p:sp>
        <p:nvSpPr>
          <p:cNvPr id="15" name="Text 11"/>
          <p:cNvSpPr/>
          <p:nvPr/>
        </p:nvSpPr>
        <p:spPr>
          <a:xfrm>
            <a:off x="4946904" y="2249424"/>
            <a:ext cx="3474720" cy="347472"/>
          </a:xfrm>
          <a:prstGeom prst="rect">
            <a:avLst/>
          </a:prstGeom>
          <a:noFill/>
          <a:ln/>
        </p:spPr>
        <p:txBody>
          <a:bodyPr wrap="square" lIns="0" tIns="0" rIns="0" bIns="0" rtlCol="0" anchor="t"/>
          <a:lstStyle/>
          <a:p>
            <a:pPr marL="0" indent="0">
              <a:lnSpc>
                <a:spcPct val="102000"/>
              </a:lnSpc>
              <a:buNone/>
            </a:pPr>
            <a:r>
              <a:rPr lang="en-US" sz="1150" dirty="0">
                <a:solidFill>
                  <a:srgbClr val="334155"/>
                </a:solidFill>
                <a:latin typeface="Calibri" pitchFamily="34" charset="0"/>
                <a:ea typeface="Calibri" pitchFamily="34" charset="-122"/>
                <a:cs typeface="Calibri" pitchFamily="34" charset="-120"/>
              </a:rPr>
              <a:t>Teams start from specs, SQL snapshots, and partial metadata — not clean data.</a:t>
            </a:r>
            <a:endParaRPr lang="en-US" sz="1150" dirty="0"/>
          </a:p>
        </p:txBody>
      </p:sp>
      <p:sp>
        <p:nvSpPr>
          <p:cNvPr id="16" name="Shape 12"/>
          <p:cNvSpPr/>
          <p:nvPr/>
        </p:nvSpPr>
        <p:spPr>
          <a:xfrm>
            <a:off x="502920" y="2926080"/>
            <a:ext cx="3931920" cy="1280160"/>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17" name="Shape 13"/>
          <p:cNvSpPr/>
          <p:nvPr/>
        </p:nvSpPr>
        <p:spPr>
          <a:xfrm>
            <a:off x="502920" y="2926080"/>
            <a:ext cx="64008" cy="1280160"/>
          </a:xfrm>
          <a:prstGeom prst="rect">
            <a:avLst/>
          </a:prstGeom>
          <a:solidFill>
            <a:srgbClr val="0D9488"/>
          </a:solidFill>
          <a:ln/>
        </p:spPr>
        <p:txBody>
          <a:bodyPr/>
          <a:lstStyle/>
          <a:p>
            <a:endParaRPr lang="en-US"/>
          </a:p>
        </p:txBody>
      </p:sp>
      <p:sp>
        <p:nvSpPr>
          <p:cNvPr id="18" name="Shape 14"/>
          <p:cNvSpPr/>
          <p:nvPr/>
        </p:nvSpPr>
        <p:spPr>
          <a:xfrm>
            <a:off x="740664" y="3127248"/>
            <a:ext cx="512064" cy="512064"/>
          </a:xfrm>
          <a:prstGeom prst="ellipse">
            <a:avLst/>
          </a:prstGeom>
          <a:solidFill>
            <a:srgbClr val="E6F4F2"/>
          </a:solidFill>
          <a:ln/>
        </p:spPr>
        <p:txBody>
          <a:bodyPr/>
          <a:lstStyle/>
          <a:p>
            <a:endParaRPr lang="en-US"/>
          </a:p>
        </p:txBody>
      </p:sp>
      <p:pic>
        <p:nvPicPr>
          <p:cNvPr id="19" name="Image 2" descr="preencoded.png"/>
          <p:cNvPicPr>
            <a:picLocks noChangeAspect="1"/>
          </p:cNvPicPr>
          <p:nvPr/>
        </p:nvPicPr>
        <p:blipFill>
          <a:blip r:embed="rId5"/>
          <a:stretch>
            <a:fillRect/>
          </a:stretch>
        </p:blipFill>
        <p:spPr>
          <a:xfrm>
            <a:off x="868680" y="3255264"/>
            <a:ext cx="256032" cy="256032"/>
          </a:xfrm>
          <a:prstGeom prst="rect">
            <a:avLst/>
          </a:prstGeom>
        </p:spPr>
      </p:pic>
      <p:sp>
        <p:nvSpPr>
          <p:cNvPr id="20" name="Text 15"/>
          <p:cNvSpPr/>
          <p:nvPr/>
        </p:nvSpPr>
        <p:spPr>
          <a:xfrm>
            <a:off x="1453896" y="3108960"/>
            <a:ext cx="2816352" cy="329184"/>
          </a:xfrm>
          <a:prstGeom prst="rect">
            <a:avLst/>
          </a:prstGeom>
          <a:noFill/>
          <a:ln/>
        </p:spPr>
        <p:txBody>
          <a:bodyPr wrap="square" lIns="0" tIns="0" rIns="0" bIns="0" rtlCol="0" anchor="ctr"/>
          <a:lstStyle/>
          <a:p>
            <a:pPr marL="0" indent="0">
              <a:buNone/>
            </a:pPr>
            <a:r>
              <a:rPr lang="en-US" sz="1450" b="1" dirty="0">
                <a:solidFill>
                  <a:srgbClr val="0F2A43"/>
                </a:solidFill>
                <a:latin typeface="Calibri" pitchFamily="34" charset="0"/>
                <a:ea typeface="Calibri" pitchFamily="34" charset="-122"/>
                <a:cs typeface="Calibri" pitchFamily="34" charset="-120"/>
              </a:rPr>
              <a:t>Hard-to-trust AI</a:t>
            </a:r>
            <a:endParaRPr lang="en-US" sz="1450" dirty="0"/>
          </a:p>
        </p:txBody>
      </p:sp>
      <p:sp>
        <p:nvSpPr>
          <p:cNvPr id="21" name="Text 16"/>
          <p:cNvSpPr/>
          <p:nvPr/>
        </p:nvSpPr>
        <p:spPr>
          <a:xfrm>
            <a:off x="740664" y="3712464"/>
            <a:ext cx="3474720" cy="347472"/>
          </a:xfrm>
          <a:prstGeom prst="rect">
            <a:avLst/>
          </a:prstGeom>
          <a:noFill/>
          <a:ln/>
        </p:spPr>
        <p:txBody>
          <a:bodyPr wrap="square" lIns="0" tIns="0" rIns="0" bIns="0" rtlCol="0" anchor="t"/>
          <a:lstStyle/>
          <a:p>
            <a:pPr marL="0" indent="0">
              <a:lnSpc>
                <a:spcPct val="102000"/>
              </a:lnSpc>
              <a:buNone/>
            </a:pPr>
            <a:r>
              <a:rPr lang="en-US" sz="1150" dirty="0">
                <a:solidFill>
                  <a:srgbClr val="334155"/>
                </a:solidFill>
                <a:latin typeface="Calibri" pitchFamily="34" charset="0"/>
                <a:ea typeface="Calibri" pitchFamily="34" charset="-122"/>
                <a:cs typeface="Calibri" pitchFamily="34" charset="-120"/>
              </a:rPr>
              <a:t>One-off AI suggestions are difficult to defend in real delivery work.</a:t>
            </a:r>
            <a:endParaRPr lang="en-US" sz="1150" dirty="0"/>
          </a:p>
        </p:txBody>
      </p:sp>
      <p:sp>
        <p:nvSpPr>
          <p:cNvPr id="22" name="Shape 17"/>
          <p:cNvSpPr/>
          <p:nvPr/>
        </p:nvSpPr>
        <p:spPr>
          <a:xfrm>
            <a:off x="4709160" y="2926080"/>
            <a:ext cx="3931920" cy="1280160"/>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23" name="Shape 18"/>
          <p:cNvSpPr/>
          <p:nvPr/>
        </p:nvSpPr>
        <p:spPr>
          <a:xfrm>
            <a:off x="4709160" y="2926080"/>
            <a:ext cx="64008" cy="1280160"/>
          </a:xfrm>
          <a:prstGeom prst="rect">
            <a:avLst/>
          </a:prstGeom>
          <a:solidFill>
            <a:srgbClr val="0D9488"/>
          </a:solidFill>
          <a:ln/>
        </p:spPr>
        <p:txBody>
          <a:bodyPr/>
          <a:lstStyle/>
          <a:p>
            <a:endParaRPr lang="en-US"/>
          </a:p>
        </p:txBody>
      </p:sp>
      <p:sp>
        <p:nvSpPr>
          <p:cNvPr id="24" name="Shape 19"/>
          <p:cNvSpPr/>
          <p:nvPr/>
        </p:nvSpPr>
        <p:spPr>
          <a:xfrm>
            <a:off x="4946904" y="3127248"/>
            <a:ext cx="512064" cy="512064"/>
          </a:xfrm>
          <a:prstGeom prst="ellipse">
            <a:avLst/>
          </a:prstGeom>
          <a:solidFill>
            <a:srgbClr val="E6F4F2"/>
          </a:solidFill>
          <a:ln/>
        </p:spPr>
        <p:txBody>
          <a:bodyPr/>
          <a:lstStyle/>
          <a:p>
            <a:endParaRPr lang="en-US"/>
          </a:p>
        </p:txBody>
      </p:sp>
      <p:pic>
        <p:nvPicPr>
          <p:cNvPr id="25" name="Image 3" descr="preencoded.png"/>
          <p:cNvPicPr>
            <a:picLocks noChangeAspect="1"/>
          </p:cNvPicPr>
          <p:nvPr/>
        </p:nvPicPr>
        <p:blipFill>
          <a:blip r:embed="rId6"/>
          <a:stretch>
            <a:fillRect/>
          </a:stretch>
        </p:blipFill>
        <p:spPr>
          <a:xfrm>
            <a:off x="5074920" y="3255264"/>
            <a:ext cx="256032" cy="256032"/>
          </a:xfrm>
          <a:prstGeom prst="rect">
            <a:avLst/>
          </a:prstGeom>
        </p:spPr>
      </p:pic>
      <p:sp>
        <p:nvSpPr>
          <p:cNvPr id="26" name="Text 20"/>
          <p:cNvSpPr/>
          <p:nvPr/>
        </p:nvSpPr>
        <p:spPr>
          <a:xfrm>
            <a:off x="5660136" y="3108960"/>
            <a:ext cx="2816352" cy="329184"/>
          </a:xfrm>
          <a:prstGeom prst="rect">
            <a:avLst/>
          </a:prstGeom>
          <a:noFill/>
          <a:ln/>
        </p:spPr>
        <p:txBody>
          <a:bodyPr wrap="square" lIns="0" tIns="0" rIns="0" bIns="0" rtlCol="0" anchor="ctr"/>
          <a:lstStyle/>
          <a:p>
            <a:pPr marL="0" indent="0">
              <a:buNone/>
            </a:pPr>
            <a:r>
              <a:rPr lang="en-US" sz="1450" b="1" dirty="0">
                <a:solidFill>
                  <a:srgbClr val="0F2A43"/>
                </a:solidFill>
                <a:latin typeface="Calibri" pitchFamily="34" charset="0"/>
                <a:ea typeface="Calibri" pitchFamily="34" charset="-122"/>
                <a:cs typeface="Calibri" pitchFamily="34" charset="-120"/>
              </a:rPr>
              <a:t>Knowledge lost</a:t>
            </a:r>
            <a:endParaRPr lang="en-US" sz="1450" dirty="0"/>
          </a:p>
        </p:txBody>
      </p:sp>
      <p:sp>
        <p:nvSpPr>
          <p:cNvPr id="27" name="Text 21"/>
          <p:cNvSpPr/>
          <p:nvPr/>
        </p:nvSpPr>
        <p:spPr>
          <a:xfrm>
            <a:off x="4946904" y="3712464"/>
            <a:ext cx="3474720" cy="347472"/>
          </a:xfrm>
          <a:prstGeom prst="rect">
            <a:avLst/>
          </a:prstGeom>
          <a:noFill/>
          <a:ln/>
        </p:spPr>
        <p:txBody>
          <a:bodyPr wrap="square" lIns="0" tIns="0" rIns="0" bIns="0" rtlCol="0" anchor="t"/>
          <a:lstStyle/>
          <a:p>
            <a:pPr marL="0" indent="0">
              <a:lnSpc>
                <a:spcPct val="102000"/>
              </a:lnSpc>
              <a:buNone/>
            </a:pPr>
            <a:r>
              <a:rPr lang="en-US" sz="1150" dirty="0">
                <a:solidFill>
                  <a:srgbClr val="334155"/>
                </a:solidFill>
                <a:latin typeface="Calibri" pitchFamily="34" charset="0"/>
                <a:ea typeface="Calibri" pitchFamily="34" charset="-122"/>
                <a:cs typeface="Calibri" pitchFamily="34" charset="-120"/>
              </a:rPr>
              <a:t>Mapping knowledge is often lost when the project moves on.</a:t>
            </a:r>
            <a:endParaRPr lang="en-US" sz="1150" dirty="0"/>
          </a:p>
        </p:txBody>
      </p:sp>
      <p:sp>
        <p:nvSpPr>
          <p:cNvPr id="28" name="Text 22"/>
          <p:cNvSpPr/>
          <p:nvPr/>
        </p:nvSpPr>
        <p:spPr>
          <a:xfrm>
            <a:off x="502920" y="4334256"/>
            <a:ext cx="8138160" cy="310896"/>
          </a:xfrm>
          <a:prstGeom prst="rect">
            <a:avLst/>
          </a:prstGeom>
          <a:noFill/>
          <a:ln/>
        </p:spPr>
        <p:txBody>
          <a:bodyPr wrap="square" lIns="0" tIns="0" rIns="0" bIns="0" rtlCol="0" anchor="ctr"/>
          <a:lstStyle/>
          <a:p>
            <a:pPr marL="0" indent="0">
              <a:buNone/>
            </a:pPr>
            <a:r>
              <a:rPr lang="en-US" sz="1200" b="1" i="1" dirty="0">
                <a:solidFill>
                  <a:srgbClr val="0D9488"/>
                </a:solidFill>
                <a:latin typeface="Calibri" pitchFamily="34" charset="0"/>
                <a:ea typeface="Calibri" pitchFamily="34" charset="-122"/>
                <a:cs typeface="Calibri" pitchFamily="34" charset="-120"/>
              </a:rPr>
              <a:t>Integration delivery needs a structured, governable way to move from raw input to reviewed decisions.</a:t>
            </a:r>
            <a:endParaRPr lang="en-US" sz="1200" dirty="0"/>
          </a:p>
        </p:txBody>
      </p:sp>
      <p:sp>
        <p:nvSpPr>
          <p:cNvPr id="29" name="Shape 23"/>
          <p:cNvSpPr/>
          <p:nvPr/>
        </p:nvSpPr>
        <p:spPr>
          <a:xfrm>
            <a:off x="502920" y="4718304"/>
            <a:ext cx="8138160" cy="0"/>
          </a:xfrm>
          <a:prstGeom prst="line">
            <a:avLst/>
          </a:prstGeom>
          <a:noFill/>
          <a:ln w="12700">
            <a:solidFill>
              <a:srgbClr val="DCE5EE"/>
            </a:solidFill>
            <a:prstDash val="solid"/>
          </a:ln>
        </p:spPr>
        <p:txBody>
          <a:bodyPr/>
          <a:lstStyle/>
          <a:p>
            <a:endParaRPr lang="en-US"/>
          </a:p>
        </p:txBody>
      </p:sp>
      <p:sp>
        <p:nvSpPr>
          <p:cNvPr id="30" name="Shape 24"/>
          <p:cNvSpPr/>
          <p:nvPr/>
        </p:nvSpPr>
        <p:spPr>
          <a:xfrm>
            <a:off x="502920" y="4846320"/>
            <a:ext cx="73152" cy="73152"/>
          </a:xfrm>
          <a:prstGeom prst="ellipse">
            <a:avLst/>
          </a:prstGeom>
          <a:solidFill>
            <a:srgbClr val="0D9488"/>
          </a:solidFill>
          <a:ln/>
        </p:spPr>
        <p:txBody>
          <a:bodyPr/>
          <a:lstStyle/>
          <a:p>
            <a:endParaRPr lang="en-US"/>
          </a:p>
        </p:txBody>
      </p:sp>
      <p:sp>
        <p:nvSpPr>
          <p:cNvPr id="31" name="Text 25"/>
          <p:cNvSpPr/>
          <p:nvPr/>
        </p:nvSpPr>
        <p:spPr>
          <a:xfrm>
            <a:off x="649224" y="4764024"/>
            <a:ext cx="2743200" cy="237744"/>
          </a:xfrm>
          <a:prstGeom prst="rect">
            <a:avLst/>
          </a:prstGeom>
          <a:noFill/>
          <a:ln/>
        </p:spPr>
        <p:txBody>
          <a:bodyPr wrap="square" lIns="0" tIns="0" rIns="0" bIns="0" rtlCol="0" anchor="ctr"/>
          <a:lstStyle/>
          <a:p>
            <a:pPr marL="0" indent="0">
              <a:buNone/>
            </a:pPr>
            <a:r>
              <a:rPr lang="en-US" sz="950" b="1" kern="0" spc="200" dirty="0">
                <a:solidFill>
                  <a:srgbClr val="64748B"/>
                </a:solidFill>
                <a:latin typeface="Calibri" pitchFamily="34" charset="0"/>
                <a:ea typeface="Calibri" pitchFamily="34" charset="-122"/>
                <a:cs typeface="Calibri" pitchFamily="34" charset="-120"/>
              </a:rPr>
              <a:t>SEMANTRA</a:t>
            </a:r>
            <a:endParaRPr lang="en-US" sz="950" dirty="0"/>
          </a:p>
        </p:txBody>
      </p:sp>
      <p:sp>
        <p:nvSpPr>
          <p:cNvPr id="32" name="Text 26"/>
          <p:cNvSpPr/>
          <p:nvPr/>
        </p:nvSpPr>
        <p:spPr>
          <a:xfrm>
            <a:off x="4800600" y="4764024"/>
            <a:ext cx="2834640" cy="237744"/>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CONDENSED OVERVIEW</a:t>
            </a:r>
            <a:endParaRPr lang="en-US" sz="900" dirty="0"/>
          </a:p>
        </p:txBody>
      </p:sp>
      <p:sp>
        <p:nvSpPr>
          <p:cNvPr id="33" name="Text 27"/>
          <p:cNvSpPr/>
          <p:nvPr/>
        </p:nvSpPr>
        <p:spPr>
          <a:xfrm>
            <a:off x="7726680" y="4764024"/>
            <a:ext cx="914400" cy="237744"/>
          </a:xfrm>
          <a:prstGeom prst="rect">
            <a:avLst/>
          </a:prstGeom>
          <a:noFill/>
          <a:ln/>
        </p:spPr>
        <p:txBody>
          <a:bodyPr wrap="square" lIns="0" tIns="0" rIns="0" bIns="0" rtlCol="0" anchor="ctr"/>
          <a:lstStyle/>
          <a:p>
            <a:pPr marL="0" indent="0" algn="r">
              <a:buNone/>
            </a:pPr>
            <a:r>
              <a:rPr lang="en-US" sz="950" b="1" dirty="0">
                <a:solidFill>
                  <a:srgbClr val="0D9488"/>
                </a:solidFill>
                <a:latin typeface="Calibri" pitchFamily="34" charset="0"/>
                <a:ea typeface="Calibri" pitchFamily="34" charset="-122"/>
                <a:cs typeface="Calibri" pitchFamily="34" charset="-120"/>
              </a:rPr>
              <a:t>02 / 09</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8138160" cy="274320"/>
          </a:xfrm>
          <a:prstGeom prst="rect">
            <a:avLst/>
          </a:prstGeom>
          <a:noFill/>
          <a:ln/>
        </p:spPr>
        <p:txBody>
          <a:bodyPr wrap="square" lIns="0" tIns="0" rIns="0" bIns="0" rtlCol="0" anchor="ctr"/>
          <a:lstStyle/>
          <a:p>
            <a:pPr marL="0" indent="0" algn="l">
              <a:buNone/>
            </a:pPr>
            <a:r>
              <a:rPr lang="en-US" sz="1150" b="1" kern="0" spc="200" dirty="0">
                <a:solidFill>
                  <a:srgbClr val="0D9488"/>
                </a:solidFill>
                <a:latin typeface="Calibri" pitchFamily="34" charset="0"/>
                <a:ea typeface="Calibri" pitchFamily="34" charset="-122"/>
                <a:cs typeface="Calibri" pitchFamily="34" charset="-120"/>
              </a:rPr>
              <a:t>THE SOLUTION</a:t>
            </a:r>
            <a:endParaRPr lang="en-US" sz="1150" dirty="0"/>
          </a:p>
        </p:txBody>
      </p:sp>
      <p:sp>
        <p:nvSpPr>
          <p:cNvPr id="3" name="Text 1"/>
          <p:cNvSpPr/>
          <p:nvPr/>
        </p:nvSpPr>
        <p:spPr>
          <a:xfrm>
            <a:off x="502920" y="585216"/>
            <a:ext cx="8138160" cy="749808"/>
          </a:xfrm>
          <a:prstGeom prst="rect">
            <a:avLst/>
          </a:prstGeom>
          <a:noFill/>
          <a:ln/>
        </p:spPr>
        <p:txBody>
          <a:bodyPr wrap="square" lIns="0" tIns="0" rIns="0" bIns="0" rtlCol="0" anchor="t"/>
          <a:lstStyle/>
          <a:p>
            <a:pPr marL="0" indent="0" algn="l">
              <a:buNone/>
            </a:pPr>
            <a:r>
              <a:rPr lang="en-US" sz="2700" b="1" dirty="0">
                <a:solidFill>
                  <a:srgbClr val="0F2A43"/>
                </a:solidFill>
                <a:latin typeface="Georgia" pitchFamily="34" charset="0"/>
                <a:ea typeface="Georgia" pitchFamily="34" charset="-122"/>
                <a:cs typeface="Georgia" pitchFamily="34" charset="-120"/>
              </a:rPr>
              <a:t>What the solution provides</a:t>
            </a:r>
            <a:endParaRPr lang="en-US" sz="2700" dirty="0"/>
          </a:p>
        </p:txBody>
      </p:sp>
      <p:sp>
        <p:nvSpPr>
          <p:cNvPr id="4" name="Shape 2"/>
          <p:cNvSpPr/>
          <p:nvPr/>
        </p:nvSpPr>
        <p:spPr>
          <a:xfrm>
            <a:off x="502920" y="1517904"/>
            <a:ext cx="1869948" cy="2240280"/>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5" name="Shape 3"/>
          <p:cNvSpPr/>
          <p:nvPr/>
        </p:nvSpPr>
        <p:spPr>
          <a:xfrm>
            <a:off x="502920" y="1517904"/>
            <a:ext cx="1869948" cy="64008"/>
          </a:xfrm>
          <a:prstGeom prst="rect">
            <a:avLst/>
          </a:prstGeom>
          <a:solidFill>
            <a:srgbClr val="0D9488"/>
          </a:solidFill>
          <a:ln/>
        </p:spPr>
        <p:txBody>
          <a:bodyPr/>
          <a:lstStyle/>
          <a:p>
            <a:endParaRPr lang="en-US"/>
          </a:p>
        </p:txBody>
      </p:sp>
      <p:sp>
        <p:nvSpPr>
          <p:cNvPr id="6" name="Shape 4"/>
          <p:cNvSpPr/>
          <p:nvPr/>
        </p:nvSpPr>
        <p:spPr>
          <a:xfrm>
            <a:off x="1108710" y="1810512"/>
            <a:ext cx="658368" cy="658368"/>
          </a:xfrm>
          <a:prstGeom prst="ellipse">
            <a:avLst/>
          </a:prstGeom>
          <a:solidFill>
            <a:srgbClr val="0F2A43"/>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245870" y="1947672"/>
            <a:ext cx="384048" cy="384048"/>
          </a:xfrm>
          <a:prstGeom prst="rect">
            <a:avLst/>
          </a:prstGeom>
        </p:spPr>
      </p:pic>
      <p:sp>
        <p:nvSpPr>
          <p:cNvPr id="8" name="Text 5"/>
          <p:cNvSpPr/>
          <p:nvPr/>
        </p:nvSpPr>
        <p:spPr>
          <a:xfrm>
            <a:off x="612648" y="2615184"/>
            <a:ext cx="1650492" cy="512064"/>
          </a:xfrm>
          <a:prstGeom prst="rect">
            <a:avLst/>
          </a:prstGeom>
          <a:noFill/>
          <a:ln/>
        </p:spPr>
        <p:txBody>
          <a:bodyPr wrap="square" lIns="0" tIns="0" rIns="0" bIns="0" rtlCol="0" anchor="t"/>
          <a:lstStyle/>
          <a:p>
            <a:pPr marL="0" indent="0" algn="ctr">
              <a:buNone/>
            </a:pPr>
            <a:r>
              <a:rPr lang="en-US" sz="1300" b="1" dirty="0">
                <a:solidFill>
                  <a:srgbClr val="0F2A43"/>
                </a:solidFill>
                <a:latin typeface="Calibri" pitchFamily="34" charset="0"/>
                <a:ea typeface="Calibri" pitchFamily="34" charset="-122"/>
                <a:cs typeface="Calibri" pitchFamily="34" charset="-120"/>
              </a:rPr>
              <a:t>Explainable suggestions</a:t>
            </a:r>
            <a:endParaRPr lang="en-US" sz="1300" dirty="0"/>
          </a:p>
        </p:txBody>
      </p:sp>
      <p:sp>
        <p:nvSpPr>
          <p:cNvPr id="9" name="Text 6"/>
          <p:cNvSpPr/>
          <p:nvPr/>
        </p:nvSpPr>
        <p:spPr>
          <a:xfrm>
            <a:off x="630936" y="3108960"/>
            <a:ext cx="1613916" cy="566928"/>
          </a:xfrm>
          <a:prstGeom prst="rect">
            <a:avLst/>
          </a:prstGeom>
          <a:noFill/>
          <a:ln/>
        </p:spPr>
        <p:txBody>
          <a:bodyPr wrap="square" lIns="0" tIns="0" rIns="0" bIns="0" rtlCol="0" anchor="t"/>
          <a:lstStyle/>
          <a:p>
            <a:pPr marL="0" indent="0" algn="ctr">
              <a:buNone/>
            </a:pPr>
            <a:r>
              <a:rPr lang="en-US" sz="1050" dirty="0">
                <a:solidFill>
                  <a:srgbClr val="334155"/>
                </a:solidFill>
                <a:latin typeface="Calibri" pitchFamily="34" charset="0"/>
                <a:ea typeface="Calibri" pitchFamily="34" charset="-122"/>
                <a:cs typeface="Calibri" pitchFamily="34" charset="-120"/>
              </a:rPr>
              <a:t>Mapping suggestions with built-in review checkpoints.</a:t>
            </a:r>
            <a:endParaRPr lang="en-US" sz="1050" dirty="0"/>
          </a:p>
        </p:txBody>
      </p:sp>
      <p:sp>
        <p:nvSpPr>
          <p:cNvPr id="10" name="Shape 7"/>
          <p:cNvSpPr/>
          <p:nvPr/>
        </p:nvSpPr>
        <p:spPr>
          <a:xfrm>
            <a:off x="2592324" y="1517904"/>
            <a:ext cx="1869948" cy="2240280"/>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11" name="Shape 8"/>
          <p:cNvSpPr/>
          <p:nvPr/>
        </p:nvSpPr>
        <p:spPr>
          <a:xfrm>
            <a:off x="2592324" y="1517904"/>
            <a:ext cx="1869948" cy="64008"/>
          </a:xfrm>
          <a:prstGeom prst="rect">
            <a:avLst/>
          </a:prstGeom>
          <a:solidFill>
            <a:srgbClr val="0D9488"/>
          </a:solidFill>
          <a:ln/>
        </p:spPr>
        <p:txBody>
          <a:bodyPr/>
          <a:lstStyle/>
          <a:p>
            <a:endParaRPr lang="en-US"/>
          </a:p>
        </p:txBody>
      </p:sp>
      <p:sp>
        <p:nvSpPr>
          <p:cNvPr id="12" name="Shape 9"/>
          <p:cNvSpPr/>
          <p:nvPr/>
        </p:nvSpPr>
        <p:spPr>
          <a:xfrm>
            <a:off x="3198114" y="1810512"/>
            <a:ext cx="658368" cy="658368"/>
          </a:xfrm>
          <a:prstGeom prst="ellipse">
            <a:avLst/>
          </a:prstGeom>
          <a:solidFill>
            <a:srgbClr val="0F2A43"/>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3335274" y="1947672"/>
            <a:ext cx="384048" cy="384048"/>
          </a:xfrm>
          <a:prstGeom prst="rect">
            <a:avLst/>
          </a:prstGeom>
        </p:spPr>
      </p:pic>
      <p:sp>
        <p:nvSpPr>
          <p:cNvPr id="14" name="Text 10"/>
          <p:cNvSpPr/>
          <p:nvPr/>
        </p:nvSpPr>
        <p:spPr>
          <a:xfrm>
            <a:off x="2702052" y="2615184"/>
            <a:ext cx="1650492" cy="512064"/>
          </a:xfrm>
          <a:prstGeom prst="rect">
            <a:avLst/>
          </a:prstGeom>
          <a:noFill/>
          <a:ln/>
        </p:spPr>
        <p:txBody>
          <a:bodyPr wrap="square" lIns="0" tIns="0" rIns="0" bIns="0" rtlCol="0" anchor="t"/>
          <a:lstStyle/>
          <a:p>
            <a:pPr marL="0" indent="0" algn="ctr">
              <a:buNone/>
            </a:pPr>
            <a:r>
              <a:rPr lang="en-US" sz="1300" b="1" dirty="0">
                <a:solidFill>
                  <a:srgbClr val="0F2A43"/>
                </a:solidFill>
                <a:latin typeface="Calibri" pitchFamily="34" charset="0"/>
                <a:ea typeface="Calibri" pitchFamily="34" charset="-122"/>
                <a:cs typeface="Calibri" pitchFamily="34" charset="-120"/>
              </a:rPr>
              <a:t>Governed &amp; reusable</a:t>
            </a:r>
            <a:endParaRPr lang="en-US" sz="1300" dirty="0"/>
          </a:p>
        </p:txBody>
      </p:sp>
      <p:sp>
        <p:nvSpPr>
          <p:cNvPr id="15" name="Text 11"/>
          <p:cNvSpPr/>
          <p:nvPr/>
        </p:nvSpPr>
        <p:spPr>
          <a:xfrm>
            <a:off x="2720340" y="3108960"/>
            <a:ext cx="1613916" cy="566928"/>
          </a:xfrm>
          <a:prstGeom prst="rect">
            <a:avLst/>
          </a:prstGeom>
          <a:noFill/>
          <a:ln/>
        </p:spPr>
        <p:txBody>
          <a:bodyPr wrap="square" lIns="0" tIns="0" rIns="0" bIns="0" rtlCol="0" anchor="t"/>
          <a:lstStyle/>
          <a:p>
            <a:pPr marL="0" indent="0" algn="ctr">
              <a:buNone/>
            </a:pPr>
            <a:r>
              <a:rPr lang="en-US" sz="1050" dirty="0">
                <a:solidFill>
                  <a:srgbClr val="334155"/>
                </a:solidFill>
                <a:latin typeface="Calibri" pitchFamily="34" charset="0"/>
                <a:ea typeface="Calibri" pitchFamily="34" charset="-122"/>
                <a:cs typeface="Calibri" pitchFamily="34" charset="-120"/>
              </a:rPr>
              <a:t>Governed artifacts and reusable semantic knowledge.</a:t>
            </a:r>
            <a:endParaRPr lang="en-US" sz="1050" dirty="0"/>
          </a:p>
        </p:txBody>
      </p:sp>
      <p:sp>
        <p:nvSpPr>
          <p:cNvPr id="16" name="Shape 12"/>
          <p:cNvSpPr/>
          <p:nvPr/>
        </p:nvSpPr>
        <p:spPr>
          <a:xfrm>
            <a:off x="4681728" y="1517904"/>
            <a:ext cx="1869948" cy="2240280"/>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17" name="Shape 13"/>
          <p:cNvSpPr/>
          <p:nvPr/>
        </p:nvSpPr>
        <p:spPr>
          <a:xfrm>
            <a:off x="4681728" y="1517904"/>
            <a:ext cx="1869948" cy="64008"/>
          </a:xfrm>
          <a:prstGeom prst="rect">
            <a:avLst/>
          </a:prstGeom>
          <a:solidFill>
            <a:srgbClr val="0D9488"/>
          </a:solidFill>
          <a:ln/>
        </p:spPr>
        <p:txBody>
          <a:bodyPr/>
          <a:lstStyle/>
          <a:p>
            <a:endParaRPr lang="en-US"/>
          </a:p>
        </p:txBody>
      </p:sp>
      <p:sp>
        <p:nvSpPr>
          <p:cNvPr id="18" name="Shape 14"/>
          <p:cNvSpPr/>
          <p:nvPr/>
        </p:nvSpPr>
        <p:spPr>
          <a:xfrm>
            <a:off x="5287518" y="1810512"/>
            <a:ext cx="658368" cy="658368"/>
          </a:xfrm>
          <a:prstGeom prst="ellipse">
            <a:avLst/>
          </a:prstGeom>
          <a:solidFill>
            <a:srgbClr val="0F2A43"/>
          </a:solidFill>
          <a:ln/>
        </p:spPr>
        <p:txBody>
          <a:bodyPr/>
          <a:lstStyle/>
          <a:p>
            <a:endParaRPr lang="en-US"/>
          </a:p>
        </p:txBody>
      </p:sp>
      <p:pic>
        <p:nvPicPr>
          <p:cNvPr id="19" name="Image 2" descr="preencoded.png"/>
          <p:cNvPicPr>
            <a:picLocks noChangeAspect="1"/>
          </p:cNvPicPr>
          <p:nvPr/>
        </p:nvPicPr>
        <p:blipFill>
          <a:blip r:embed="rId5"/>
          <a:stretch>
            <a:fillRect/>
          </a:stretch>
        </p:blipFill>
        <p:spPr>
          <a:xfrm>
            <a:off x="5424678" y="1947672"/>
            <a:ext cx="384048" cy="384048"/>
          </a:xfrm>
          <a:prstGeom prst="rect">
            <a:avLst/>
          </a:prstGeom>
        </p:spPr>
      </p:pic>
      <p:sp>
        <p:nvSpPr>
          <p:cNvPr id="20" name="Text 15"/>
          <p:cNvSpPr/>
          <p:nvPr/>
        </p:nvSpPr>
        <p:spPr>
          <a:xfrm>
            <a:off x="4791456" y="2615184"/>
            <a:ext cx="1650492" cy="512064"/>
          </a:xfrm>
          <a:prstGeom prst="rect">
            <a:avLst/>
          </a:prstGeom>
          <a:noFill/>
          <a:ln/>
        </p:spPr>
        <p:txBody>
          <a:bodyPr wrap="square" lIns="0" tIns="0" rIns="0" bIns="0" rtlCol="0" anchor="t"/>
          <a:lstStyle/>
          <a:p>
            <a:pPr marL="0" indent="0" algn="ctr">
              <a:buNone/>
            </a:pPr>
            <a:r>
              <a:rPr lang="en-US" sz="1300" b="1" dirty="0">
                <a:solidFill>
                  <a:srgbClr val="0F2A43"/>
                </a:solidFill>
                <a:latin typeface="Calibri" pitchFamily="34" charset="0"/>
                <a:ea typeface="Calibri" pitchFamily="34" charset="-122"/>
                <a:cs typeface="Calibri" pitchFamily="34" charset="-120"/>
              </a:rPr>
              <a:t>Transformation starters</a:t>
            </a:r>
            <a:endParaRPr lang="en-US" sz="1300" dirty="0"/>
          </a:p>
        </p:txBody>
      </p:sp>
      <p:sp>
        <p:nvSpPr>
          <p:cNvPr id="21" name="Text 16"/>
          <p:cNvSpPr/>
          <p:nvPr/>
        </p:nvSpPr>
        <p:spPr>
          <a:xfrm>
            <a:off x="4809744" y="3108960"/>
            <a:ext cx="1613916" cy="566928"/>
          </a:xfrm>
          <a:prstGeom prst="rect">
            <a:avLst/>
          </a:prstGeom>
          <a:noFill/>
          <a:ln/>
        </p:spPr>
        <p:txBody>
          <a:bodyPr wrap="square" lIns="0" tIns="0" rIns="0" bIns="0" rtlCol="0" anchor="t"/>
          <a:lstStyle/>
          <a:p>
            <a:pPr marL="0" indent="0" algn="ctr">
              <a:buNone/>
            </a:pPr>
            <a:r>
              <a:rPr lang="en-US" sz="1050" dirty="0">
                <a:solidFill>
                  <a:srgbClr val="334155"/>
                </a:solidFill>
                <a:latin typeface="Calibri" pitchFamily="34" charset="0"/>
                <a:ea typeface="Calibri" pitchFamily="34" charset="-122"/>
                <a:cs typeface="Calibri" pitchFamily="34" charset="-120"/>
              </a:rPr>
              <a:t>Transformation starter code and preview output.</a:t>
            </a:r>
            <a:endParaRPr lang="en-US" sz="1050" dirty="0"/>
          </a:p>
        </p:txBody>
      </p:sp>
      <p:sp>
        <p:nvSpPr>
          <p:cNvPr id="22" name="Shape 17"/>
          <p:cNvSpPr/>
          <p:nvPr/>
        </p:nvSpPr>
        <p:spPr>
          <a:xfrm>
            <a:off x="6771132" y="1517904"/>
            <a:ext cx="1869948" cy="2240280"/>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23" name="Shape 18"/>
          <p:cNvSpPr/>
          <p:nvPr/>
        </p:nvSpPr>
        <p:spPr>
          <a:xfrm>
            <a:off x="6771132" y="1517904"/>
            <a:ext cx="1869948" cy="64008"/>
          </a:xfrm>
          <a:prstGeom prst="rect">
            <a:avLst/>
          </a:prstGeom>
          <a:solidFill>
            <a:srgbClr val="0D9488"/>
          </a:solidFill>
          <a:ln/>
        </p:spPr>
        <p:txBody>
          <a:bodyPr/>
          <a:lstStyle/>
          <a:p>
            <a:endParaRPr lang="en-US"/>
          </a:p>
        </p:txBody>
      </p:sp>
      <p:sp>
        <p:nvSpPr>
          <p:cNvPr id="24" name="Shape 19"/>
          <p:cNvSpPr/>
          <p:nvPr/>
        </p:nvSpPr>
        <p:spPr>
          <a:xfrm>
            <a:off x="7376922" y="1810512"/>
            <a:ext cx="658368" cy="658368"/>
          </a:xfrm>
          <a:prstGeom prst="ellipse">
            <a:avLst/>
          </a:prstGeom>
          <a:solidFill>
            <a:srgbClr val="0F2A43"/>
          </a:solidFill>
          <a:ln/>
        </p:spPr>
        <p:txBody>
          <a:bodyPr/>
          <a:lstStyle/>
          <a:p>
            <a:endParaRPr lang="en-US"/>
          </a:p>
        </p:txBody>
      </p:sp>
      <p:pic>
        <p:nvPicPr>
          <p:cNvPr id="25" name="Image 3" descr="preencoded.png"/>
          <p:cNvPicPr>
            <a:picLocks noChangeAspect="1"/>
          </p:cNvPicPr>
          <p:nvPr/>
        </p:nvPicPr>
        <p:blipFill>
          <a:blip r:embed="rId6"/>
          <a:stretch>
            <a:fillRect/>
          </a:stretch>
        </p:blipFill>
        <p:spPr>
          <a:xfrm>
            <a:off x="7514082" y="1947672"/>
            <a:ext cx="384048" cy="384048"/>
          </a:xfrm>
          <a:prstGeom prst="rect">
            <a:avLst/>
          </a:prstGeom>
        </p:spPr>
      </p:pic>
      <p:sp>
        <p:nvSpPr>
          <p:cNvPr id="26" name="Text 20"/>
          <p:cNvSpPr/>
          <p:nvPr/>
        </p:nvSpPr>
        <p:spPr>
          <a:xfrm>
            <a:off x="6880860" y="2615184"/>
            <a:ext cx="1650492" cy="512064"/>
          </a:xfrm>
          <a:prstGeom prst="rect">
            <a:avLst/>
          </a:prstGeom>
          <a:noFill/>
          <a:ln/>
        </p:spPr>
        <p:txBody>
          <a:bodyPr wrap="square" lIns="0" tIns="0" rIns="0" bIns="0" rtlCol="0" anchor="t"/>
          <a:lstStyle/>
          <a:p>
            <a:pPr marL="0" indent="0" algn="ctr">
              <a:buNone/>
            </a:pPr>
            <a:r>
              <a:rPr lang="en-US" sz="1300" b="1" dirty="0">
                <a:solidFill>
                  <a:srgbClr val="0F2A43"/>
                </a:solidFill>
                <a:latin typeface="Calibri" pitchFamily="34" charset="0"/>
                <a:ea typeface="Calibri" pitchFamily="34" charset="-122"/>
                <a:cs typeface="Calibri" pitchFamily="34" charset="-120"/>
              </a:rPr>
              <a:t>BA Mapping Report</a:t>
            </a:r>
            <a:endParaRPr lang="en-US" sz="1300" dirty="0"/>
          </a:p>
        </p:txBody>
      </p:sp>
      <p:sp>
        <p:nvSpPr>
          <p:cNvPr id="27" name="Text 21"/>
          <p:cNvSpPr/>
          <p:nvPr/>
        </p:nvSpPr>
        <p:spPr>
          <a:xfrm>
            <a:off x="6899148" y="3108960"/>
            <a:ext cx="1613916" cy="566928"/>
          </a:xfrm>
          <a:prstGeom prst="rect">
            <a:avLst/>
          </a:prstGeom>
          <a:noFill/>
          <a:ln/>
        </p:spPr>
        <p:txBody>
          <a:bodyPr wrap="square" lIns="0" tIns="0" rIns="0" bIns="0" rtlCol="0" anchor="t"/>
          <a:lstStyle/>
          <a:p>
            <a:pPr marL="0" indent="0" algn="ctr">
              <a:buNone/>
            </a:pPr>
            <a:r>
              <a:rPr lang="en-US" sz="1050" dirty="0">
                <a:solidFill>
                  <a:srgbClr val="334155"/>
                </a:solidFill>
                <a:latin typeface="Calibri" pitchFamily="34" charset="0"/>
                <a:ea typeface="Calibri" pitchFamily="34" charset="-122"/>
                <a:cs typeface="Calibri" pitchFamily="34" charset="-120"/>
              </a:rPr>
              <a:t>A business-facing summary for analyst handoff.</a:t>
            </a:r>
            <a:endParaRPr lang="en-US" sz="1050" dirty="0"/>
          </a:p>
        </p:txBody>
      </p:sp>
      <p:sp>
        <p:nvSpPr>
          <p:cNvPr id="28" name="Text 22"/>
          <p:cNvSpPr/>
          <p:nvPr/>
        </p:nvSpPr>
        <p:spPr>
          <a:xfrm>
            <a:off x="502920" y="3968496"/>
            <a:ext cx="8138160" cy="365760"/>
          </a:xfrm>
          <a:prstGeom prst="rect">
            <a:avLst/>
          </a:prstGeom>
          <a:noFill/>
          <a:ln/>
        </p:spPr>
        <p:txBody>
          <a:bodyPr wrap="square" lIns="0" tIns="0" rIns="0" bIns="0" rtlCol="0" anchor="ctr"/>
          <a:lstStyle/>
          <a:p>
            <a:pPr marL="0" indent="0" algn="ctr">
              <a:buNone/>
            </a:pPr>
            <a:r>
              <a:rPr lang="en-US" sz="1250" b="1" i="1" dirty="0">
                <a:solidFill>
                  <a:srgbClr val="0D9488"/>
                </a:solidFill>
                <a:latin typeface="Calibri" pitchFamily="34" charset="0"/>
                <a:ea typeface="Calibri" pitchFamily="34" charset="-122"/>
                <a:cs typeface="Calibri" pitchFamily="34" charset="-120"/>
              </a:rPr>
              <a:t>It doesn’t stop at suggestions — it produces a reviewable, reusable delivery outcome.</a:t>
            </a:r>
            <a:endParaRPr lang="en-US" sz="1250" dirty="0"/>
          </a:p>
        </p:txBody>
      </p:sp>
      <p:sp>
        <p:nvSpPr>
          <p:cNvPr id="29" name="Shape 23"/>
          <p:cNvSpPr/>
          <p:nvPr/>
        </p:nvSpPr>
        <p:spPr>
          <a:xfrm>
            <a:off x="502920" y="4718304"/>
            <a:ext cx="8138160" cy="0"/>
          </a:xfrm>
          <a:prstGeom prst="line">
            <a:avLst/>
          </a:prstGeom>
          <a:noFill/>
          <a:ln w="12700">
            <a:solidFill>
              <a:srgbClr val="DCE5EE"/>
            </a:solidFill>
            <a:prstDash val="solid"/>
          </a:ln>
        </p:spPr>
        <p:txBody>
          <a:bodyPr/>
          <a:lstStyle/>
          <a:p>
            <a:endParaRPr lang="en-US"/>
          </a:p>
        </p:txBody>
      </p:sp>
      <p:sp>
        <p:nvSpPr>
          <p:cNvPr id="30" name="Shape 24"/>
          <p:cNvSpPr/>
          <p:nvPr/>
        </p:nvSpPr>
        <p:spPr>
          <a:xfrm>
            <a:off x="502920" y="4846320"/>
            <a:ext cx="73152" cy="73152"/>
          </a:xfrm>
          <a:prstGeom prst="ellipse">
            <a:avLst/>
          </a:prstGeom>
          <a:solidFill>
            <a:srgbClr val="0D9488"/>
          </a:solidFill>
          <a:ln/>
        </p:spPr>
        <p:txBody>
          <a:bodyPr/>
          <a:lstStyle/>
          <a:p>
            <a:endParaRPr lang="en-US"/>
          </a:p>
        </p:txBody>
      </p:sp>
      <p:sp>
        <p:nvSpPr>
          <p:cNvPr id="31" name="Text 25"/>
          <p:cNvSpPr/>
          <p:nvPr/>
        </p:nvSpPr>
        <p:spPr>
          <a:xfrm>
            <a:off x="649224" y="4764024"/>
            <a:ext cx="2743200" cy="237744"/>
          </a:xfrm>
          <a:prstGeom prst="rect">
            <a:avLst/>
          </a:prstGeom>
          <a:noFill/>
          <a:ln/>
        </p:spPr>
        <p:txBody>
          <a:bodyPr wrap="square" lIns="0" tIns="0" rIns="0" bIns="0" rtlCol="0" anchor="ctr"/>
          <a:lstStyle/>
          <a:p>
            <a:pPr marL="0" indent="0">
              <a:buNone/>
            </a:pPr>
            <a:r>
              <a:rPr lang="en-US" sz="950" b="1" kern="0" spc="200" dirty="0">
                <a:solidFill>
                  <a:srgbClr val="64748B"/>
                </a:solidFill>
                <a:latin typeface="Calibri" pitchFamily="34" charset="0"/>
                <a:ea typeface="Calibri" pitchFamily="34" charset="-122"/>
                <a:cs typeface="Calibri" pitchFamily="34" charset="-120"/>
              </a:rPr>
              <a:t>SEMANTRA</a:t>
            </a:r>
            <a:endParaRPr lang="en-US" sz="950" dirty="0"/>
          </a:p>
        </p:txBody>
      </p:sp>
      <p:sp>
        <p:nvSpPr>
          <p:cNvPr id="32" name="Text 26"/>
          <p:cNvSpPr/>
          <p:nvPr/>
        </p:nvSpPr>
        <p:spPr>
          <a:xfrm>
            <a:off x="4800600" y="4764024"/>
            <a:ext cx="2834640" cy="237744"/>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CONDENSED OVERVIEW</a:t>
            </a:r>
            <a:endParaRPr lang="en-US" sz="900" dirty="0"/>
          </a:p>
        </p:txBody>
      </p:sp>
      <p:sp>
        <p:nvSpPr>
          <p:cNvPr id="33" name="Text 27"/>
          <p:cNvSpPr/>
          <p:nvPr/>
        </p:nvSpPr>
        <p:spPr>
          <a:xfrm>
            <a:off x="7726680" y="4764024"/>
            <a:ext cx="914400" cy="237744"/>
          </a:xfrm>
          <a:prstGeom prst="rect">
            <a:avLst/>
          </a:prstGeom>
          <a:noFill/>
          <a:ln/>
        </p:spPr>
        <p:txBody>
          <a:bodyPr wrap="square" lIns="0" tIns="0" rIns="0" bIns="0" rtlCol="0" anchor="ctr"/>
          <a:lstStyle/>
          <a:p>
            <a:pPr marL="0" indent="0" algn="r">
              <a:buNone/>
            </a:pPr>
            <a:r>
              <a:rPr lang="en-US" sz="950" b="1" dirty="0">
                <a:solidFill>
                  <a:srgbClr val="0D9488"/>
                </a:solidFill>
                <a:latin typeface="Calibri" pitchFamily="34" charset="0"/>
                <a:ea typeface="Calibri" pitchFamily="34" charset="-122"/>
                <a:cs typeface="Calibri" pitchFamily="34" charset="-120"/>
              </a:rPr>
              <a:t>03 / 09</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8138160" cy="274320"/>
          </a:xfrm>
          <a:prstGeom prst="rect">
            <a:avLst/>
          </a:prstGeom>
          <a:noFill/>
          <a:ln/>
        </p:spPr>
        <p:txBody>
          <a:bodyPr wrap="square" lIns="0" tIns="0" rIns="0" bIns="0" rtlCol="0" anchor="ctr"/>
          <a:lstStyle/>
          <a:p>
            <a:pPr marL="0" indent="0" algn="l">
              <a:buNone/>
            </a:pPr>
            <a:r>
              <a:rPr lang="en-US" sz="1150" b="1" kern="0" spc="200" dirty="0">
                <a:solidFill>
                  <a:srgbClr val="0D9488"/>
                </a:solidFill>
                <a:latin typeface="Calibri" pitchFamily="34" charset="0"/>
                <a:ea typeface="Calibri" pitchFamily="34" charset="-122"/>
                <a:cs typeface="Calibri" pitchFamily="34" charset="-120"/>
              </a:rPr>
              <a:t>VALUE</a:t>
            </a:r>
            <a:endParaRPr lang="en-US" sz="1150" dirty="0"/>
          </a:p>
        </p:txBody>
      </p:sp>
      <p:sp>
        <p:nvSpPr>
          <p:cNvPr id="3" name="Text 1"/>
          <p:cNvSpPr/>
          <p:nvPr/>
        </p:nvSpPr>
        <p:spPr>
          <a:xfrm>
            <a:off x="502920" y="585216"/>
            <a:ext cx="8138160" cy="749808"/>
          </a:xfrm>
          <a:prstGeom prst="rect">
            <a:avLst/>
          </a:prstGeom>
          <a:noFill/>
          <a:ln/>
        </p:spPr>
        <p:txBody>
          <a:bodyPr wrap="square" lIns="0" tIns="0" rIns="0" bIns="0" rtlCol="0" anchor="t"/>
          <a:lstStyle/>
          <a:p>
            <a:pPr marL="0" indent="0" algn="l">
              <a:buNone/>
            </a:pPr>
            <a:r>
              <a:rPr lang="en-US" sz="2700" b="1" dirty="0">
                <a:solidFill>
                  <a:srgbClr val="0F2A43"/>
                </a:solidFill>
                <a:latin typeface="Georgia" pitchFamily="34" charset="0"/>
                <a:ea typeface="Georgia" pitchFamily="34" charset="-122"/>
                <a:cs typeface="Georgia" pitchFamily="34" charset="-120"/>
              </a:rPr>
              <a:t>Why it adds value</a:t>
            </a:r>
            <a:endParaRPr lang="en-US" sz="2700" dirty="0"/>
          </a:p>
        </p:txBody>
      </p:sp>
      <p:sp>
        <p:nvSpPr>
          <p:cNvPr id="4" name="Shape 2"/>
          <p:cNvSpPr/>
          <p:nvPr/>
        </p:nvSpPr>
        <p:spPr>
          <a:xfrm>
            <a:off x="502920" y="1517904"/>
            <a:ext cx="8138160" cy="566928"/>
          </a:xfrm>
          <a:prstGeom prst="rect">
            <a:avLst/>
          </a:prstGeom>
          <a:solidFill>
            <a:srgbClr val="F4F7FA"/>
          </a:solidFill>
          <a:ln w="12700">
            <a:solidFill>
              <a:srgbClr val="DCE5EE"/>
            </a:solidFill>
            <a:prstDash val="solid"/>
          </a:ln>
        </p:spPr>
        <p:txBody>
          <a:bodyPr/>
          <a:lstStyle/>
          <a:p>
            <a:endParaRPr lang="en-US"/>
          </a:p>
        </p:txBody>
      </p:sp>
      <p:sp>
        <p:nvSpPr>
          <p:cNvPr id="5" name="Shape 3"/>
          <p:cNvSpPr/>
          <p:nvPr/>
        </p:nvSpPr>
        <p:spPr>
          <a:xfrm>
            <a:off x="502920" y="1517904"/>
            <a:ext cx="64008" cy="566928"/>
          </a:xfrm>
          <a:prstGeom prst="rect">
            <a:avLst/>
          </a:prstGeom>
          <a:solidFill>
            <a:srgbClr val="0D9488"/>
          </a:solidFill>
          <a:ln/>
        </p:spPr>
        <p:txBody>
          <a:bodyPr/>
          <a:lstStyle/>
          <a:p>
            <a:endParaRPr lang="en-US"/>
          </a:p>
        </p:txBody>
      </p:sp>
      <p:sp>
        <p:nvSpPr>
          <p:cNvPr id="6" name="Shape 4"/>
          <p:cNvSpPr/>
          <p:nvPr/>
        </p:nvSpPr>
        <p:spPr>
          <a:xfrm>
            <a:off x="704088" y="1636776"/>
            <a:ext cx="365760" cy="365760"/>
          </a:xfrm>
          <a:prstGeom prst="ellipse">
            <a:avLst/>
          </a:prstGeom>
          <a:solidFill>
            <a:srgbClr val="E6F4F2"/>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795528" y="1728216"/>
            <a:ext cx="182880" cy="182880"/>
          </a:xfrm>
          <a:prstGeom prst="rect">
            <a:avLst/>
          </a:prstGeom>
        </p:spPr>
      </p:pic>
      <p:sp>
        <p:nvSpPr>
          <p:cNvPr id="8" name="Text 5"/>
          <p:cNvSpPr/>
          <p:nvPr/>
        </p:nvSpPr>
        <p:spPr>
          <a:xfrm>
            <a:off x="1216152" y="1517904"/>
            <a:ext cx="2286000" cy="566928"/>
          </a:xfrm>
          <a:prstGeom prst="rect">
            <a:avLst/>
          </a:prstGeom>
          <a:noFill/>
          <a:ln/>
        </p:spPr>
        <p:txBody>
          <a:bodyPr wrap="square" lIns="0" tIns="0" rIns="0" bIns="0" rtlCol="0" anchor="ctr"/>
          <a:lstStyle/>
          <a:p>
            <a:pPr marL="0" indent="0">
              <a:buNone/>
            </a:pPr>
            <a:r>
              <a:rPr lang="en-US" sz="1400" b="1" dirty="0">
                <a:solidFill>
                  <a:srgbClr val="0F2A43"/>
                </a:solidFill>
                <a:latin typeface="Calibri" pitchFamily="34" charset="0"/>
                <a:ea typeface="Calibri" pitchFamily="34" charset="-122"/>
                <a:cs typeface="Calibri" pitchFamily="34" charset="-120"/>
              </a:rPr>
              <a:t>Less rework</a:t>
            </a:r>
            <a:endParaRPr lang="en-US" sz="1400" dirty="0"/>
          </a:p>
        </p:txBody>
      </p:sp>
      <p:sp>
        <p:nvSpPr>
          <p:cNvPr id="9" name="Text 6"/>
          <p:cNvSpPr/>
          <p:nvPr/>
        </p:nvSpPr>
        <p:spPr>
          <a:xfrm>
            <a:off x="3520440" y="1517904"/>
            <a:ext cx="4937760" cy="566928"/>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Fewer repeated cycles across mapping and delivery.</a:t>
            </a:r>
            <a:endParaRPr lang="en-US" sz="1200" dirty="0"/>
          </a:p>
        </p:txBody>
      </p:sp>
      <p:sp>
        <p:nvSpPr>
          <p:cNvPr id="10" name="Shape 7"/>
          <p:cNvSpPr/>
          <p:nvPr/>
        </p:nvSpPr>
        <p:spPr>
          <a:xfrm>
            <a:off x="502920" y="2194560"/>
            <a:ext cx="8138160" cy="566928"/>
          </a:xfrm>
          <a:prstGeom prst="rect">
            <a:avLst/>
          </a:prstGeom>
          <a:solidFill>
            <a:srgbClr val="EEF3F8"/>
          </a:solidFill>
          <a:ln w="12700">
            <a:solidFill>
              <a:srgbClr val="DCE5EE"/>
            </a:solidFill>
            <a:prstDash val="solid"/>
          </a:ln>
        </p:spPr>
        <p:txBody>
          <a:bodyPr/>
          <a:lstStyle/>
          <a:p>
            <a:endParaRPr lang="en-US"/>
          </a:p>
        </p:txBody>
      </p:sp>
      <p:sp>
        <p:nvSpPr>
          <p:cNvPr id="11" name="Shape 8"/>
          <p:cNvSpPr/>
          <p:nvPr/>
        </p:nvSpPr>
        <p:spPr>
          <a:xfrm>
            <a:off x="502920" y="2194560"/>
            <a:ext cx="64008" cy="566928"/>
          </a:xfrm>
          <a:prstGeom prst="rect">
            <a:avLst/>
          </a:prstGeom>
          <a:solidFill>
            <a:srgbClr val="0D9488"/>
          </a:solidFill>
          <a:ln/>
        </p:spPr>
        <p:txBody>
          <a:bodyPr/>
          <a:lstStyle/>
          <a:p>
            <a:endParaRPr lang="en-US"/>
          </a:p>
        </p:txBody>
      </p:sp>
      <p:sp>
        <p:nvSpPr>
          <p:cNvPr id="12" name="Shape 9"/>
          <p:cNvSpPr/>
          <p:nvPr/>
        </p:nvSpPr>
        <p:spPr>
          <a:xfrm>
            <a:off x="704088" y="2313432"/>
            <a:ext cx="365760" cy="365760"/>
          </a:xfrm>
          <a:prstGeom prst="ellipse">
            <a:avLst/>
          </a:prstGeom>
          <a:solidFill>
            <a:srgbClr val="E6F4F2"/>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795528" y="2404872"/>
            <a:ext cx="182880" cy="182880"/>
          </a:xfrm>
          <a:prstGeom prst="rect">
            <a:avLst/>
          </a:prstGeom>
        </p:spPr>
      </p:pic>
      <p:sp>
        <p:nvSpPr>
          <p:cNvPr id="14" name="Text 10"/>
          <p:cNvSpPr/>
          <p:nvPr/>
        </p:nvSpPr>
        <p:spPr>
          <a:xfrm>
            <a:off x="1216152" y="2194560"/>
            <a:ext cx="2286000" cy="566928"/>
          </a:xfrm>
          <a:prstGeom prst="rect">
            <a:avLst/>
          </a:prstGeom>
          <a:noFill/>
          <a:ln/>
        </p:spPr>
        <p:txBody>
          <a:bodyPr wrap="square" lIns="0" tIns="0" rIns="0" bIns="0" rtlCol="0" anchor="ctr"/>
          <a:lstStyle/>
          <a:p>
            <a:pPr marL="0" indent="0">
              <a:buNone/>
            </a:pPr>
            <a:r>
              <a:rPr lang="en-US" sz="1400" b="1" dirty="0">
                <a:solidFill>
                  <a:srgbClr val="0F2A43"/>
                </a:solidFill>
                <a:latin typeface="Calibri" pitchFamily="34" charset="0"/>
                <a:ea typeface="Calibri" pitchFamily="34" charset="-122"/>
                <a:cs typeface="Calibri" pitchFamily="34" charset="-120"/>
              </a:rPr>
              <a:t>Clearer decisions</a:t>
            </a:r>
            <a:endParaRPr lang="en-US" sz="1400" dirty="0"/>
          </a:p>
        </p:txBody>
      </p:sp>
      <p:sp>
        <p:nvSpPr>
          <p:cNvPr id="15" name="Text 11"/>
          <p:cNvSpPr/>
          <p:nvPr/>
        </p:nvSpPr>
        <p:spPr>
          <a:xfrm>
            <a:off x="3520440" y="2194560"/>
            <a:ext cx="4937760" cy="566928"/>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Sharper review and approval at every checkpoint.</a:t>
            </a:r>
            <a:endParaRPr lang="en-US" sz="1200" dirty="0"/>
          </a:p>
        </p:txBody>
      </p:sp>
      <p:sp>
        <p:nvSpPr>
          <p:cNvPr id="16" name="Shape 12"/>
          <p:cNvSpPr/>
          <p:nvPr/>
        </p:nvSpPr>
        <p:spPr>
          <a:xfrm>
            <a:off x="502920" y="2871216"/>
            <a:ext cx="8138160" cy="566928"/>
          </a:xfrm>
          <a:prstGeom prst="rect">
            <a:avLst/>
          </a:prstGeom>
          <a:solidFill>
            <a:srgbClr val="F4F7FA"/>
          </a:solidFill>
          <a:ln w="12700">
            <a:solidFill>
              <a:srgbClr val="DCE5EE"/>
            </a:solidFill>
            <a:prstDash val="solid"/>
          </a:ln>
        </p:spPr>
        <p:txBody>
          <a:bodyPr/>
          <a:lstStyle/>
          <a:p>
            <a:endParaRPr lang="en-US"/>
          </a:p>
        </p:txBody>
      </p:sp>
      <p:sp>
        <p:nvSpPr>
          <p:cNvPr id="17" name="Shape 13"/>
          <p:cNvSpPr/>
          <p:nvPr/>
        </p:nvSpPr>
        <p:spPr>
          <a:xfrm>
            <a:off x="502920" y="2871216"/>
            <a:ext cx="64008" cy="566928"/>
          </a:xfrm>
          <a:prstGeom prst="rect">
            <a:avLst/>
          </a:prstGeom>
          <a:solidFill>
            <a:srgbClr val="0D9488"/>
          </a:solidFill>
          <a:ln/>
        </p:spPr>
        <p:txBody>
          <a:bodyPr/>
          <a:lstStyle/>
          <a:p>
            <a:endParaRPr lang="en-US"/>
          </a:p>
        </p:txBody>
      </p:sp>
      <p:sp>
        <p:nvSpPr>
          <p:cNvPr id="18" name="Shape 14"/>
          <p:cNvSpPr/>
          <p:nvPr/>
        </p:nvSpPr>
        <p:spPr>
          <a:xfrm>
            <a:off x="704088" y="2990088"/>
            <a:ext cx="365760" cy="365760"/>
          </a:xfrm>
          <a:prstGeom prst="ellipse">
            <a:avLst/>
          </a:prstGeom>
          <a:solidFill>
            <a:srgbClr val="E6F4F2"/>
          </a:solidFill>
          <a:ln/>
        </p:spPr>
        <p:txBody>
          <a:bodyPr/>
          <a:lstStyle/>
          <a:p>
            <a:endParaRPr lang="en-US"/>
          </a:p>
        </p:txBody>
      </p:sp>
      <p:pic>
        <p:nvPicPr>
          <p:cNvPr id="19" name="Image 2" descr="preencoded.png"/>
          <p:cNvPicPr>
            <a:picLocks noChangeAspect="1"/>
          </p:cNvPicPr>
          <p:nvPr/>
        </p:nvPicPr>
        <p:blipFill>
          <a:blip r:embed="rId5"/>
          <a:stretch>
            <a:fillRect/>
          </a:stretch>
        </p:blipFill>
        <p:spPr>
          <a:xfrm>
            <a:off x="795528" y="3081528"/>
            <a:ext cx="182880" cy="182880"/>
          </a:xfrm>
          <a:prstGeom prst="rect">
            <a:avLst/>
          </a:prstGeom>
        </p:spPr>
      </p:pic>
      <p:sp>
        <p:nvSpPr>
          <p:cNvPr id="20" name="Text 15"/>
          <p:cNvSpPr/>
          <p:nvPr/>
        </p:nvSpPr>
        <p:spPr>
          <a:xfrm>
            <a:off x="1216152" y="2871216"/>
            <a:ext cx="2286000" cy="566928"/>
          </a:xfrm>
          <a:prstGeom prst="rect">
            <a:avLst/>
          </a:prstGeom>
          <a:noFill/>
          <a:ln/>
        </p:spPr>
        <p:txBody>
          <a:bodyPr wrap="square" lIns="0" tIns="0" rIns="0" bIns="0" rtlCol="0" anchor="ctr"/>
          <a:lstStyle/>
          <a:p>
            <a:pPr marL="0" indent="0">
              <a:buNone/>
            </a:pPr>
            <a:r>
              <a:rPr lang="en-US" sz="1400" b="1" dirty="0">
                <a:solidFill>
                  <a:srgbClr val="0F2A43"/>
                </a:solidFill>
                <a:latin typeface="Calibri" pitchFamily="34" charset="0"/>
                <a:ea typeface="Calibri" pitchFamily="34" charset="-122"/>
                <a:cs typeface="Calibri" pitchFamily="34" charset="-120"/>
              </a:rPr>
              <a:t>Better traceability</a:t>
            </a:r>
            <a:endParaRPr lang="en-US" sz="1400" dirty="0"/>
          </a:p>
        </p:txBody>
      </p:sp>
      <p:sp>
        <p:nvSpPr>
          <p:cNvPr id="21" name="Text 16"/>
          <p:cNvSpPr/>
          <p:nvPr/>
        </p:nvSpPr>
        <p:spPr>
          <a:xfrm>
            <a:off x="3520440" y="2871216"/>
            <a:ext cx="4937760" cy="566928"/>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From source structure to target outcome, end to end.</a:t>
            </a:r>
            <a:endParaRPr lang="en-US" sz="1200" dirty="0"/>
          </a:p>
        </p:txBody>
      </p:sp>
      <p:sp>
        <p:nvSpPr>
          <p:cNvPr id="22" name="Shape 17"/>
          <p:cNvSpPr/>
          <p:nvPr/>
        </p:nvSpPr>
        <p:spPr>
          <a:xfrm>
            <a:off x="502920" y="3547872"/>
            <a:ext cx="8138160" cy="566928"/>
          </a:xfrm>
          <a:prstGeom prst="rect">
            <a:avLst/>
          </a:prstGeom>
          <a:solidFill>
            <a:srgbClr val="EEF3F8"/>
          </a:solidFill>
          <a:ln w="12700">
            <a:solidFill>
              <a:srgbClr val="DCE5EE"/>
            </a:solidFill>
            <a:prstDash val="solid"/>
          </a:ln>
        </p:spPr>
        <p:txBody>
          <a:bodyPr/>
          <a:lstStyle/>
          <a:p>
            <a:endParaRPr lang="en-US"/>
          </a:p>
        </p:txBody>
      </p:sp>
      <p:sp>
        <p:nvSpPr>
          <p:cNvPr id="23" name="Shape 18"/>
          <p:cNvSpPr/>
          <p:nvPr/>
        </p:nvSpPr>
        <p:spPr>
          <a:xfrm>
            <a:off x="502920" y="3547872"/>
            <a:ext cx="64008" cy="566928"/>
          </a:xfrm>
          <a:prstGeom prst="rect">
            <a:avLst/>
          </a:prstGeom>
          <a:solidFill>
            <a:srgbClr val="0D9488"/>
          </a:solidFill>
          <a:ln/>
        </p:spPr>
        <p:txBody>
          <a:bodyPr/>
          <a:lstStyle/>
          <a:p>
            <a:endParaRPr lang="en-US"/>
          </a:p>
        </p:txBody>
      </p:sp>
      <p:sp>
        <p:nvSpPr>
          <p:cNvPr id="24" name="Shape 19"/>
          <p:cNvSpPr/>
          <p:nvPr/>
        </p:nvSpPr>
        <p:spPr>
          <a:xfrm>
            <a:off x="704088" y="3666744"/>
            <a:ext cx="365760" cy="365760"/>
          </a:xfrm>
          <a:prstGeom prst="ellipse">
            <a:avLst/>
          </a:prstGeom>
          <a:solidFill>
            <a:srgbClr val="E6F4F2"/>
          </a:solidFill>
          <a:ln/>
        </p:spPr>
        <p:txBody>
          <a:bodyPr/>
          <a:lstStyle/>
          <a:p>
            <a:endParaRPr lang="en-US"/>
          </a:p>
        </p:txBody>
      </p:sp>
      <p:pic>
        <p:nvPicPr>
          <p:cNvPr id="25" name="Image 3" descr="preencoded.png"/>
          <p:cNvPicPr>
            <a:picLocks noChangeAspect="1"/>
          </p:cNvPicPr>
          <p:nvPr/>
        </p:nvPicPr>
        <p:blipFill>
          <a:blip r:embed="rId6"/>
          <a:stretch>
            <a:fillRect/>
          </a:stretch>
        </p:blipFill>
        <p:spPr>
          <a:xfrm>
            <a:off x="795528" y="3758184"/>
            <a:ext cx="182880" cy="182880"/>
          </a:xfrm>
          <a:prstGeom prst="rect">
            <a:avLst/>
          </a:prstGeom>
        </p:spPr>
      </p:pic>
      <p:sp>
        <p:nvSpPr>
          <p:cNvPr id="26" name="Text 20"/>
          <p:cNvSpPr/>
          <p:nvPr/>
        </p:nvSpPr>
        <p:spPr>
          <a:xfrm>
            <a:off x="1216152" y="3547872"/>
            <a:ext cx="2286000" cy="566928"/>
          </a:xfrm>
          <a:prstGeom prst="rect">
            <a:avLst/>
          </a:prstGeom>
          <a:noFill/>
          <a:ln/>
        </p:spPr>
        <p:txBody>
          <a:bodyPr wrap="square" lIns="0" tIns="0" rIns="0" bIns="0" rtlCol="0" anchor="ctr"/>
          <a:lstStyle/>
          <a:p>
            <a:pPr marL="0" indent="0">
              <a:buNone/>
            </a:pPr>
            <a:r>
              <a:rPr lang="en-US" sz="1400" b="1" dirty="0">
                <a:solidFill>
                  <a:srgbClr val="0F2A43"/>
                </a:solidFill>
                <a:latin typeface="Calibri" pitchFamily="34" charset="0"/>
                <a:ea typeface="Calibri" pitchFamily="34" charset="-122"/>
                <a:cs typeface="Calibri" pitchFamily="34" charset="-120"/>
              </a:rPr>
              <a:t>Stronger handoff</a:t>
            </a:r>
            <a:endParaRPr lang="en-US" sz="1400" dirty="0"/>
          </a:p>
        </p:txBody>
      </p:sp>
      <p:sp>
        <p:nvSpPr>
          <p:cNvPr id="27" name="Text 21"/>
          <p:cNvSpPr/>
          <p:nvPr/>
        </p:nvSpPr>
        <p:spPr>
          <a:xfrm>
            <a:off x="3520440" y="3547872"/>
            <a:ext cx="4937760" cy="566928"/>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A cleaner bridge from analysis to implementation.</a:t>
            </a:r>
            <a:endParaRPr lang="en-US" sz="1200" dirty="0"/>
          </a:p>
        </p:txBody>
      </p:sp>
      <p:sp>
        <p:nvSpPr>
          <p:cNvPr id="28" name="Text 22"/>
          <p:cNvSpPr/>
          <p:nvPr/>
        </p:nvSpPr>
        <p:spPr>
          <a:xfrm>
            <a:off x="502920" y="4261104"/>
            <a:ext cx="8138160" cy="310896"/>
          </a:xfrm>
          <a:prstGeom prst="rect">
            <a:avLst/>
          </a:prstGeom>
          <a:noFill/>
          <a:ln/>
        </p:spPr>
        <p:txBody>
          <a:bodyPr wrap="square" lIns="0" tIns="0" rIns="0" bIns="0" rtlCol="0" anchor="ctr"/>
          <a:lstStyle/>
          <a:p>
            <a:pPr marL="0" indent="0" algn="ctr">
              <a:buNone/>
            </a:pPr>
            <a:r>
              <a:rPr lang="en-US" sz="1150" b="1" i="1" dirty="0">
                <a:solidFill>
                  <a:srgbClr val="0D9488"/>
                </a:solidFill>
                <a:latin typeface="Calibri" pitchFamily="34" charset="0"/>
                <a:ea typeface="Calibri" pitchFamily="34" charset="-122"/>
                <a:cs typeface="Calibri" pitchFamily="34" charset="-120"/>
              </a:rPr>
              <a:t>Not only better suggestions — less friction, more trust, and a stronger delivery package.</a:t>
            </a:r>
            <a:endParaRPr lang="en-US" sz="1150" dirty="0"/>
          </a:p>
        </p:txBody>
      </p:sp>
      <p:sp>
        <p:nvSpPr>
          <p:cNvPr id="29" name="Shape 23"/>
          <p:cNvSpPr/>
          <p:nvPr/>
        </p:nvSpPr>
        <p:spPr>
          <a:xfrm>
            <a:off x="502920" y="4718304"/>
            <a:ext cx="8138160" cy="0"/>
          </a:xfrm>
          <a:prstGeom prst="line">
            <a:avLst/>
          </a:prstGeom>
          <a:noFill/>
          <a:ln w="12700">
            <a:solidFill>
              <a:srgbClr val="DCE5EE"/>
            </a:solidFill>
            <a:prstDash val="solid"/>
          </a:ln>
        </p:spPr>
        <p:txBody>
          <a:bodyPr/>
          <a:lstStyle/>
          <a:p>
            <a:endParaRPr lang="en-US"/>
          </a:p>
        </p:txBody>
      </p:sp>
      <p:sp>
        <p:nvSpPr>
          <p:cNvPr id="30" name="Shape 24"/>
          <p:cNvSpPr/>
          <p:nvPr/>
        </p:nvSpPr>
        <p:spPr>
          <a:xfrm>
            <a:off x="502920" y="4846320"/>
            <a:ext cx="73152" cy="73152"/>
          </a:xfrm>
          <a:prstGeom prst="ellipse">
            <a:avLst/>
          </a:prstGeom>
          <a:solidFill>
            <a:srgbClr val="0D9488"/>
          </a:solidFill>
          <a:ln/>
        </p:spPr>
        <p:txBody>
          <a:bodyPr/>
          <a:lstStyle/>
          <a:p>
            <a:endParaRPr lang="en-US"/>
          </a:p>
        </p:txBody>
      </p:sp>
      <p:sp>
        <p:nvSpPr>
          <p:cNvPr id="31" name="Text 25"/>
          <p:cNvSpPr/>
          <p:nvPr/>
        </p:nvSpPr>
        <p:spPr>
          <a:xfrm>
            <a:off x="649224" y="4764024"/>
            <a:ext cx="2743200" cy="237744"/>
          </a:xfrm>
          <a:prstGeom prst="rect">
            <a:avLst/>
          </a:prstGeom>
          <a:noFill/>
          <a:ln/>
        </p:spPr>
        <p:txBody>
          <a:bodyPr wrap="square" lIns="0" tIns="0" rIns="0" bIns="0" rtlCol="0" anchor="ctr"/>
          <a:lstStyle/>
          <a:p>
            <a:pPr marL="0" indent="0">
              <a:buNone/>
            </a:pPr>
            <a:r>
              <a:rPr lang="en-US" sz="950" b="1" kern="0" spc="200" dirty="0">
                <a:solidFill>
                  <a:srgbClr val="64748B"/>
                </a:solidFill>
                <a:latin typeface="Calibri" pitchFamily="34" charset="0"/>
                <a:ea typeface="Calibri" pitchFamily="34" charset="-122"/>
                <a:cs typeface="Calibri" pitchFamily="34" charset="-120"/>
              </a:rPr>
              <a:t>SEMANTRA</a:t>
            </a:r>
            <a:endParaRPr lang="en-US" sz="950" dirty="0"/>
          </a:p>
        </p:txBody>
      </p:sp>
      <p:sp>
        <p:nvSpPr>
          <p:cNvPr id="32" name="Text 26"/>
          <p:cNvSpPr/>
          <p:nvPr/>
        </p:nvSpPr>
        <p:spPr>
          <a:xfrm>
            <a:off x="4800600" y="4764024"/>
            <a:ext cx="2834640" cy="237744"/>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CONDENSED OVERVIEW</a:t>
            </a:r>
            <a:endParaRPr lang="en-US" sz="900" dirty="0"/>
          </a:p>
        </p:txBody>
      </p:sp>
      <p:sp>
        <p:nvSpPr>
          <p:cNvPr id="33" name="Text 27"/>
          <p:cNvSpPr/>
          <p:nvPr/>
        </p:nvSpPr>
        <p:spPr>
          <a:xfrm>
            <a:off x="7726680" y="4764024"/>
            <a:ext cx="914400" cy="237744"/>
          </a:xfrm>
          <a:prstGeom prst="rect">
            <a:avLst/>
          </a:prstGeom>
          <a:noFill/>
          <a:ln/>
        </p:spPr>
        <p:txBody>
          <a:bodyPr wrap="square" lIns="0" tIns="0" rIns="0" bIns="0" rtlCol="0" anchor="ctr"/>
          <a:lstStyle/>
          <a:p>
            <a:pPr marL="0" indent="0" algn="r">
              <a:buNone/>
            </a:pPr>
            <a:r>
              <a:rPr lang="en-US" sz="950" b="1" dirty="0">
                <a:solidFill>
                  <a:srgbClr val="0D9488"/>
                </a:solidFill>
                <a:latin typeface="Calibri" pitchFamily="34" charset="0"/>
                <a:ea typeface="Calibri" pitchFamily="34" charset="-122"/>
                <a:cs typeface="Calibri" pitchFamily="34" charset="-120"/>
              </a:rPr>
              <a:t>04 / 09</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8138160" cy="274320"/>
          </a:xfrm>
          <a:prstGeom prst="rect">
            <a:avLst/>
          </a:prstGeom>
          <a:noFill/>
          <a:ln/>
        </p:spPr>
        <p:txBody>
          <a:bodyPr wrap="square" lIns="0" tIns="0" rIns="0" bIns="0" rtlCol="0" anchor="ctr"/>
          <a:lstStyle/>
          <a:p>
            <a:pPr marL="0" indent="0" algn="l">
              <a:buNone/>
            </a:pPr>
            <a:r>
              <a:rPr lang="en-US" sz="1150" b="1" kern="0" spc="200" dirty="0">
                <a:solidFill>
                  <a:srgbClr val="0D9488"/>
                </a:solidFill>
                <a:latin typeface="Calibri" pitchFamily="34" charset="0"/>
                <a:ea typeface="Calibri" pitchFamily="34" charset="-122"/>
                <a:cs typeface="Calibri" pitchFamily="34" charset="-120"/>
              </a:rPr>
              <a:t>PRODUCT SURFACE</a:t>
            </a:r>
            <a:endParaRPr lang="en-US" sz="1150" dirty="0"/>
          </a:p>
        </p:txBody>
      </p:sp>
      <p:sp>
        <p:nvSpPr>
          <p:cNvPr id="3" name="Text 1"/>
          <p:cNvSpPr/>
          <p:nvPr/>
        </p:nvSpPr>
        <p:spPr>
          <a:xfrm>
            <a:off x="502920" y="585216"/>
            <a:ext cx="8138160" cy="749808"/>
          </a:xfrm>
          <a:prstGeom prst="rect">
            <a:avLst/>
          </a:prstGeom>
          <a:noFill/>
          <a:ln/>
        </p:spPr>
        <p:txBody>
          <a:bodyPr wrap="square" lIns="0" tIns="0" rIns="0" bIns="0" rtlCol="0" anchor="t"/>
          <a:lstStyle/>
          <a:p>
            <a:pPr marL="0" indent="0" algn="l">
              <a:buNone/>
            </a:pPr>
            <a:r>
              <a:rPr lang="en-US" sz="2700" b="1" dirty="0">
                <a:solidFill>
                  <a:srgbClr val="0F2A43"/>
                </a:solidFill>
                <a:latin typeface="Georgia" pitchFamily="34" charset="0"/>
                <a:ea typeface="Georgia" pitchFamily="34" charset="-122"/>
                <a:cs typeface="Georgia" pitchFamily="34" charset="-120"/>
              </a:rPr>
              <a:t>Main product areas</a:t>
            </a:r>
            <a:endParaRPr lang="en-US" sz="2700" dirty="0"/>
          </a:p>
        </p:txBody>
      </p:sp>
      <p:sp>
        <p:nvSpPr>
          <p:cNvPr id="4" name="Shape 2"/>
          <p:cNvSpPr/>
          <p:nvPr/>
        </p:nvSpPr>
        <p:spPr>
          <a:xfrm>
            <a:off x="502920" y="1591056"/>
            <a:ext cx="1466698" cy="2240280"/>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5" name="Shape 3"/>
          <p:cNvSpPr/>
          <p:nvPr/>
        </p:nvSpPr>
        <p:spPr>
          <a:xfrm>
            <a:off x="934517" y="1865376"/>
            <a:ext cx="603504" cy="603504"/>
          </a:xfrm>
          <a:prstGeom prst="ellipse">
            <a:avLst/>
          </a:prstGeom>
          <a:solidFill>
            <a:srgbClr val="0F2A43"/>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062533" y="1993392"/>
            <a:ext cx="347472" cy="347472"/>
          </a:xfrm>
          <a:prstGeom prst="rect">
            <a:avLst/>
          </a:prstGeom>
        </p:spPr>
      </p:pic>
      <p:sp>
        <p:nvSpPr>
          <p:cNvPr id="7" name="Text 4"/>
          <p:cNvSpPr/>
          <p:nvPr/>
        </p:nvSpPr>
        <p:spPr>
          <a:xfrm>
            <a:off x="576072" y="2596896"/>
            <a:ext cx="1320394" cy="310896"/>
          </a:xfrm>
          <a:prstGeom prst="rect">
            <a:avLst/>
          </a:prstGeom>
          <a:noFill/>
          <a:ln/>
        </p:spPr>
        <p:txBody>
          <a:bodyPr wrap="square" lIns="0" tIns="0" rIns="0" bIns="0" rtlCol="0" anchor="ctr"/>
          <a:lstStyle/>
          <a:p>
            <a:pPr marL="0" indent="0" algn="ctr">
              <a:buNone/>
            </a:pPr>
            <a:r>
              <a:rPr lang="en-US" sz="1250" b="1" dirty="0">
                <a:solidFill>
                  <a:srgbClr val="0F2A43"/>
                </a:solidFill>
                <a:latin typeface="Calibri" pitchFamily="34" charset="0"/>
                <a:ea typeface="Calibri" pitchFamily="34" charset="-122"/>
                <a:cs typeface="Calibri" pitchFamily="34" charset="-120"/>
              </a:rPr>
              <a:t>Workspace</a:t>
            </a:r>
            <a:endParaRPr lang="en-US" sz="1250" dirty="0"/>
          </a:p>
        </p:txBody>
      </p:sp>
      <p:sp>
        <p:nvSpPr>
          <p:cNvPr id="8" name="Text 5"/>
          <p:cNvSpPr/>
          <p:nvPr/>
        </p:nvSpPr>
        <p:spPr>
          <a:xfrm>
            <a:off x="594360" y="2907792"/>
            <a:ext cx="1283818" cy="841248"/>
          </a:xfrm>
          <a:prstGeom prst="rect">
            <a:avLst/>
          </a:prstGeom>
          <a:noFill/>
          <a:ln/>
        </p:spPr>
        <p:txBody>
          <a:bodyPr wrap="square" lIns="0" tIns="0" rIns="0" bIns="0" rtlCol="0" anchor="t"/>
          <a:lstStyle/>
          <a:p>
            <a:pPr marL="0" indent="0" algn="ctr">
              <a:buNone/>
            </a:pPr>
            <a:r>
              <a:rPr lang="en-US" sz="950" dirty="0">
                <a:solidFill>
                  <a:srgbClr val="334155"/>
                </a:solidFill>
                <a:latin typeface="Calibri" pitchFamily="34" charset="0"/>
                <a:ea typeface="Calibri" pitchFamily="34" charset="-122"/>
                <a:cs typeface="Calibri" pitchFamily="34" charset="-120"/>
              </a:rPr>
              <a:t>Ingest, map, review, decisions, preview, codegen.</a:t>
            </a:r>
            <a:endParaRPr lang="en-US" sz="950" dirty="0"/>
          </a:p>
        </p:txBody>
      </p:sp>
      <p:sp>
        <p:nvSpPr>
          <p:cNvPr id="9" name="Shape 6"/>
          <p:cNvSpPr/>
          <p:nvPr/>
        </p:nvSpPr>
        <p:spPr>
          <a:xfrm>
            <a:off x="2170786" y="1591056"/>
            <a:ext cx="1466698" cy="2240280"/>
          </a:xfrm>
          <a:prstGeom prst="rect">
            <a:avLst/>
          </a:prstGeom>
          <a:solidFill>
            <a:srgbClr val="EEF3F8"/>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10" name="Shape 7"/>
          <p:cNvSpPr/>
          <p:nvPr/>
        </p:nvSpPr>
        <p:spPr>
          <a:xfrm>
            <a:off x="2602382" y="1865376"/>
            <a:ext cx="603504" cy="603504"/>
          </a:xfrm>
          <a:prstGeom prst="ellipse">
            <a:avLst/>
          </a:prstGeom>
          <a:solidFill>
            <a:srgbClr val="0F2A43"/>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2730398" y="1993392"/>
            <a:ext cx="347472" cy="347472"/>
          </a:xfrm>
          <a:prstGeom prst="rect">
            <a:avLst/>
          </a:prstGeom>
        </p:spPr>
      </p:pic>
      <p:sp>
        <p:nvSpPr>
          <p:cNvPr id="12" name="Text 8"/>
          <p:cNvSpPr/>
          <p:nvPr/>
        </p:nvSpPr>
        <p:spPr>
          <a:xfrm>
            <a:off x="2243938" y="2596896"/>
            <a:ext cx="1320394" cy="310896"/>
          </a:xfrm>
          <a:prstGeom prst="rect">
            <a:avLst/>
          </a:prstGeom>
          <a:noFill/>
          <a:ln/>
        </p:spPr>
        <p:txBody>
          <a:bodyPr wrap="square" lIns="0" tIns="0" rIns="0" bIns="0" rtlCol="0" anchor="ctr"/>
          <a:lstStyle/>
          <a:p>
            <a:pPr marL="0" indent="0" algn="ctr">
              <a:buNone/>
            </a:pPr>
            <a:r>
              <a:rPr lang="en-US" sz="1250" b="1" dirty="0">
                <a:solidFill>
                  <a:srgbClr val="0F2A43"/>
                </a:solidFill>
                <a:latin typeface="Calibri" pitchFamily="34" charset="0"/>
                <a:ea typeface="Calibri" pitchFamily="34" charset="-122"/>
                <a:cs typeface="Calibri" pitchFamily="34" charset="-120"/>
              </a:rPr>
              <a:t>Governance</a:t>
            </a:r>
            <a:endParaRPr lang="en-US" sz="1250" dirty="0"/>
          </a:p>
        </p:txBody>
      </p:sp>
      <p:sp>
        <p:nvSpPr>
          <p:cNvPr id="13" name="Text 9"/>
          <p:cNvSpPr/>
          <p:nvPr/>
        </p:nvSpPr>
        <p:spPr>
          <a:xfrm>
            <a:off x="2262226" y="2907792"/>
            <a:ext cx="1283818" cy="841248"/>
          </a:xfrm>
          <a:prstGeom prst="rect">
            <a:avLst/>
          </a:prstGeom>
          <a:noFill/>
          <a:ln/>
        </p:spPr>
        <p:txBody>
          <a:bodyPr wrap="square" lIns="0" tIns="0" rIns="0" bIns="0" rtlCol="0" anchor="t"/>
          <a:lstStyle/>
          <a:p>
            <a:pPr marL="0" indent="0" algn="ctr">
              <a:buNone/>
            </a:pPr>
            <a:r>
              <a:rPr lang="en-US" sz="950" dirty="0">
                <a:solidFill>
                  <a:srgbClr val="334155"/>
                </a:solidFill>
                <a:latin typeface="Calibri" pitchFamily="34" charset="0"/>
                <a:ea typeface="Calibri" pitchFamily="34" charset="-122"/>
                <a:cs typeface="Calibri" pitchFamily="34" charset="-120"/>
              </a:rPr>
              <a:t>Canonical console and stewardship workflows.</a:t>
            </a:r>
            <a:endParaRPr lang="en-US" sz="950" dirty="0"/>
          </a:p>
        </p:txBody>
      </p:sp>
      <p:sp>
        <p:nvSpPr>
          <p:cNvPr id="14" name="Shape 10"/>
          <p:cNvSpPr/>
          <p:nvPr/>
        </p:nvSpPr>
        <p:spPr>
          <a:xfrm>
            <a:off x="3838651" y="1591056"/>
            <a:ext cx="1466698" cy="2240280"/>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15" name="Shape 11"/>
          <p:cNvSpPr/>
          <p:nvPr/>
        </p:nvSpPr>
        <p:spPr>
          <a:xfrm>
            <a:off x="4270248" y="1865376"/>
            <a:ext cx="603504" cy="603504"/>
          </a:xfrm>
          <a:prstGeom prst="ellipse">
            <a:avLst/>
          </a:prstGeom>
          <a:solidFill>
            <a:srgbClr val="0F2A43"/>
          </a:solidFill>
          <a:ln/>
        </p:spPr>
        <p:txBody>
          <a:bodyPr/>
          <a:lstStyle/>
          <a:p>
            <a:endParaRPr lang="en-US"/>
          </a:p>
        </p:txBody>
      </p:sp>
      <p:pic>
        <p:nvPicPr>
          <p:cNvPr id="16" name="Image 2" descr="preencoded.png"/>
          <p:cNvPicPr>
            <a:picLocks noChangeAspect="1"/>
          </p:cNvPicPr>
          <p:nvPr/>
        </p:nvPicPr>
        <p:blipFill>
          <a:blip r:embed="rId5"/>
          <a:stretch>
            <a:fillRect/>
          </a:stretch>
        </p:blipFill>
        <p:spPr>
          <a:xfrm>
            <a:off x="4398264" y="1993392"/>
            <a:ext cx="347472" cy="347472"/>
          </a:xfrm>
          <a:prstGeom prst="rect">
            <a:avLst/>
          </a:prstGeom>
        </p:spPr>
      </p:pic>
      <p:sp>
        <p:nvSpPr>
          <p:cNvPr id="17" name="Text 12"/>
          <p:cNvSpPr/>
          <p:nvPr/>
        </p:nvSpPr>
        <p:spPr>
          <a:xfrm>
            <a:off x="3911803" y="2596896"/>
            <a:ext cx="1320394" cy="310896"/>
          </a:xfrm>
          <a:prstGeom prst="rect">
            <a:avLst/>
          </a:prstGeom>
          <a:noFill/>
          <a:ln/>
        </p:spPr>
        <p:txBody>
          <a:bodyPr wrap="square" lIns="0" tIns="0" rIns="0" bIns="0" rtlCol="0" anchor="ctr"/>
          <a:lstStyle/>
          <a:p>
            <a:pPr marL="0" indent="0" algn="ctr">
              <a:buNone/>
            </a:pPr>
            <a:r>
              <a:rPr lang="en-US" sz="1250" b="1" dirty="0">
                <a:solidFill>
                  <a:srgbClr val="0F2A43"/>
                </a:solidFill>
                <a:latin typeface="Calibri" pitchFamily="34" charset="0"/>
                <a:ea typeface="Calibri" pitchFamily="34" charset="-122"/>
                <a:cs typeface="Calibri" pitchFamily="34" charset="-120"/>
              </a:rPr>
              <a:t>Catalog</a:t>
            </a:r>
            <a:endParaRPr lang="en-US" sz="1250" dirty="0"/>
          </a:p>
        </p:txBody>
      </p:sp>
      <p:sp>
        <p:nvSpPr>
          <p:cNvPr id="18" name="Text 13"/>
          <p:cNvSpPr/>
          <p:nvPr/>
        </p:nvSpPr>
        <p:spPr>
          <a:xfrm>
            <a:off x="3930091" y="2907792"/>
            <a:ext cx="1283818" cy="841248"/>
          </a:xfrm>
          <a:prstGeom prst="rect">
            <a:avLst/>
          </a:prstGeom>
          <a:noFill/>
          <a:ln/>
        </p:spPr>
        <p:txBody>
          <a:bodyPr wrap="square" lIns="0" tIns="0" rIns="0" bIns="0" rtlCol="0" anchor="t"/>
          <a:lstStyle/>
          <a:p>
            <a:pPr marL="0" indent="0" algn="ctr">
              <a:buNone/>
            </a:pPr>
            <a:r>
              <a:rPr lang="en-US" sz="950" dirty="0">
                <a:solidFill>
                  <a:srgbClr val="334155"/>
                </a:solidFill>
                <a:latin typeface="Calibri" pitchFamily="34" charset="0"/>
                <a:ea typeface="Calibri" pitchFamily="34" charset="-122"/>
                <a:cs typeface="Calibri" pitchFamily="34" charset="-120"/>
              </a:rPr>
              <a:t>Search, browse, and reuse approved work.</a:t>
            </a:r>
            <a:endParaRPr lang="en-US" sz="950" dirty="0"/>
          </a:p>
        </p:txBody>
      </p:sp>
      <p:sp>
        <p:nvSpPr>
          <p:cNvPr id="19" name="Shape 14"/>
          <p:cNvSpPr/>
          <p:nvPr/>
        </p:nvSpPr>
        <p:spPr>
          <a:xfrm>
            <a:off x="5506517" y="1591056"/>
            <a:ext cx="1466698" cy="2240280"/>
          </a:xfrm>
          <a:prstGeom prst="rect">
            <a:avLst/>
          </a:prstGeom>
          <a:solidFill>
            <a:srgbClr val="EEF3F8"/>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20" name="Shape 15"/>
          <p:cNvSpPr/>
          <p:nvPr/>
        </p:nvSpPr>
        <p:spPr>
          <a:xfrm>
            <a:off x="5938114" y="1865376"/>
            <a:ext cx="603504" cy="603504"/>
          </a:xfrm>
          <a:prstGeom prst="ellipse">
            <a:avLst/>
          </a:prstGeom>
          <a:solidFill>
            <a:srgbClr val="0F2A43"/>
          </a:solidFill>
          <a:ln/>
        </p:spPr>
        <p:txBody>
          <a:bodyPr/>
          <a:lstStyle/>
          <a:p>
            <a:endParaRPr lang="en-US"/>
          </a:p>
        </p:txBody>
      </p:sp>
      <p:pic>
        <p:nvPicPr>
          <p:cNvPr id="21" name="Image 3" descr="preencoded.png"/>
          <p:cNvPicPr>
            <a:picLocks noChangeAspect="1"/>
          </p:cNvPicPr>
          <p:nvPr/>
        </p:nvPicPr>
        <p:blipFill>
          <a:blip r:embed="rId6"/>
          <a:stretch>
            <a:fillRect/>
          </a:stretch>
        </p:blipFill>
        <p:spPr>
          <a:xfrm>
            <a:off x="6066130" y="1993392"/>
            <a:ext cx="347472" cy="347472"/>
          </a:xfrm>
          <a:prstGeom prst="rect">
            <a:avLst/>
          </a:prstGeom>
        </p:spPr>
      </p:pic>
      <p:sp>
        <p:nvSpPr>
          <p:cNvPr id="22" name="Text 16"/>
          <p:cNvSpPr/>
          <p:nvPr/>
        </p:nvSpPr>
        <p:spPr>
          <a:xfrm>
            <a:off x="5579669" y="2596896"/>
            <a:ext cx="1320394" cy="310896"/>
          </a:xfrm>
          <a:prstGeom prst="rect">
            <a:avLst/>
          </a:prstGeom>
          <a:noFill/>
          <a:ln/>
        </p:spPr>
        <p:txBody>
          <a:bodyPr wrap="square" lIns="0" tIns="0" rIns="0" bIns="0" rtlCol="0" anchor="ctr"/>
          <a:lstStyle/>
          <a:p>
            <a:pPr marL="0" indent="0" algn="ctr">
              <a:buNone/>
            </a:pPr>
            <a:r>
              <a:rPr lang="en-US" sz="1250" b="1" dirty="0">
                <a:solidFill>
                  <a:srgbClr val="0F2A43"/>
                </a:solidFill>
                <a:latin typeface="Calibri" pitchFamily="34" charset="0"/>
                <a:ea typeface="Calibri" pitchFamily="34" charset="-122"/>
                <a:cs typeface="Calibri" pitchFamily="34" charset="-120"/>
              </a:rPr>
              <a:t>Benchmarks</a:t>
            </a:r>
            <a:endParaRPr lang="en-US" sz="1250" dirty="0"/>
          </a:p>
        </p:txBody>
      </p:sp>
      <p:sp>
        <p:nvSpPr>
          <p:cNvPr id="23" name="Text 17"/>
          <p:cNvSpPr/>
          <p:nvPr/>
        </p:nvSpPr>
        <p:spPr>
          <a:xfrm>
            <a:off x="5597957" y="2907792"/>
            <a:ext cx="1283818" cy="841248"/>
          </a:xfrm>
          <a:prstGeom prst="rect">
            <a:avLst/>
          </a:prstGeom>
          <a:noFill/>
          <a:ln/>
        </p:spPr>
        <p:txBody>
          <a:bodyPr wrap="square" lIns="0" tIns="0" rIns="0" bIns="0" rtlCol="0" anchor="t"/>
          <a:lstStyle/>
          <a:p>
            <a:pPr marL="0" indent="0" algn="ctr">
              <a:buNone/>
            </a:pPr>
            <a:r>
              <a:rPr lang="en-US" sz="950" dirty="0">
                <a:solidFill>
                  <a:srgbClr val="334155"/>
                </a:solidFill>
                <a:latin typeface="Calibri" pitchFamily="34" charset="0"/>
                <a:ea typeface="Calibri" pitchFamily="34" charset="-122"/>
                <a:cs typeface="Calibri" pitchFamily="34" charset="-120"/>
              </a:rPr>
              <a:t>Measure mapping quality and impact.</a:t>
            </a:r>
            <a:endParaRPr lang="en-US" sz="950" dirty="0"/>
          </a:p>
        </p:txBody>
      </p:sp>
      <p:sp>
        <p:nvSpPr>
          <p:cNvPr id="24" name="Shape 18"/>
          <p:cNvSpPr/>
          <p:nvPr/>
        </p:nvSpPr>
        <p:spPr>
          <a:xfrm>
            <a:off x="7174382" y="1591056"/>
            <a:ext cx="1466698" cy="2240280"/>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25" name="Shape 19"/>
          <p:cNvSpPr/>
          <p:nvPr/>
        </p:nvSpPr>
        <p:spPr>
          <a:xfrm>
            <a:off x="7605979" y="1865376"/>
            <a:ext cx="603504" cy="603504"/>
          </a:xfrm>
          <a:prstGeom prst="ellipse">
            <a:avLst/>
          </a:prstGeom>
          <a:solidFill>
            <a:srgbClr val="0F2A43"/>
          </a:solidFill>
          <a:ln/>
        </p:spPr>
        <p:txBody>
          <a:bodyPr/>
          <a:lstStyle/>
          <a:p>
            <a:endParaRPr lang="en-US"/>
          </a:p>
        </p:txBody>
      </p:sp>
      <p:pic>
        <p:nvPicPr>
          <p:cNvPr id="26" name="Image 4" descr="preencoded.png"/>
          <p:cNvPicPr>
            <a:picLocks noChangeAspect="1"/>
          </p:cNvPicPr>
          <p:nvPr/>
        </p:nvPicPr>
        <p:blipFill>
          <a:blip r:embed="rId7"/>
          <a:stretch>
            <a:fillRect/>
          </a:stretch>
        </p:blipFill>
        <p:spPr>
          <a:xfrm>
            <a:off x="7733995" y="1993392"/>
            <a:ext cx="347472" cy="347472"/>
          </a:xfrm>
          <a:prstGeom prst="rect">
            <a:avLst/>
          </a:prstGeom>
        </p:spPr>
      </p:pic>
      <p:sp>
        <p:nvSpPr>
          <p:cNvPr id="27" name="Text 20"/>
          <p:cNvSpPr/>
          <p:nvPr/>
        </p:nvSpPr>
        <p:spPr>
          <a:xfrm>
            <a:off x="7247534" y="2596896"/>
            <a:ext cx="1320394" cy="310896"/>
          </a:xfrm>
          <a:prstGeom prst="rect">
            <a:avLst/>
          </a:prstGeom>
          <a:noFill/>
          <a:ln/>
        </p:spPr>
        <p:txBody>
          <a:bodyPr wrap="square" lIns="0" tIns="0" rIns="0" bIns="0" rtlCol="0" anchor="ctr"/>
          <a:lstStyle/>
          <a:p>
            <a:pPr marL="0" indent="0" algn="ctr">
              <a:buNone/>
            </a:pPr>
            <a:r>
              <a:rPr lang="en-US" sz="1250" b="1" dirty="0">
                <a:solidFill>
                  <a:srgbClr val="0F2A43"/>
                </a:solidFill>
                <a:latin typeface="Calibri" pitchFamily="34" charset="0"/>
                <a:ea typeface="Calibri" pitchFamily="34" charset="-122"/>
                <a:cs typeface="Calibri" pitchFamily="34" charset="-120"/>
              </a:rPr>
              <a:t>System</a:t>
            </a:r>
            <a:endParaRPr lang="en-US" sz="1250" dirty="0"/>
          </a:p>
        </p:txBody>
      </p:sp>
      <p:sp>
        <p:nvSpPr>
          <p:cNvPr id="28" name="Text 21"/>
          <p:cNvSpPr/>
          <p:nvPr/>
        </p:nvSpPr>
        <p:spPr>
          <a:xfrm>
            <a:off x="7265822" y="2907792"/>
            <a:ext cx="1283818" cy="841248"/>
          </a:xfrm>
          <a:prstGeom prst="rect">
            <a:avLst/>
          </a:prstGeom>
          <a:noFill/>
          <a:ln/>
        </p:spPr>
        <p:txBody>
          <a:bodyPr wrap="square" lIns="0" tIns="0" rIns="0" bIns="0" rtlCol="0" anchor="t"/>
          <a:lstStyle/>
          <a:p>
            <a:pPr marL="0" indent="0" algn="ctr">
              <a:buNone/>
            </a:pPr>
            <a:r>
              <a:rPr lang="en-US" sz="950" dirty="0">
                <a:solidFill>
                  <a:srgbClr val="334155"/>
                </a:solidFill>
                <a:latin typeface="Calibri" pitchFamily="34" charset="0"/>
                <a:ea typeface="Calibri" pitchFamily="34" charset="-122"/>
                <a:cs typeface="Calibri" pitchFamily="34" charset="-120"/>
              </a:rPr>
              <a:t>Runtime inspection and operational controls.</a:t>
            </a:r>
            <a:endParaRPr lang="en-US" sz="950" dirty="0"/>
          </a:p>
        </p:txBody>
      </p:sp>
      <p:sp>
        <p:nvSpPr>
          <p:cNvPr id="29" name="Text 22"/>
          <p:cNvSpPr/>
          <p:nvPr/>
        </p:nvSpPr>
        <p:spPr>
          <a:xfrm>
            <a:off x="502920" y="4041648"/>
            <a:ext cx="8138160" cy="310896"/>
          </a:xfrm>
          <a:prstGeom prst="rect">
            <a:avLst/>
          </a:prstGeom>
          <a:noFill/>
          <a:ln/>
        </p:spPr>
        <p:txBody>
          <a:bodyPr wrap="square" lIns="0" tIns="0" rIns="0" bIns="0" rtlCol="0" anchor="ctr"/>
          <a:lstStyle/>
          <a:p>
            <a:pPr marL="0" indent="0" algn="ctr">
              <a:buNone/>
            </a:pPr>
            <a:r>
              <a:rPr lang="en-US" sz="1250" b="1" i="1" dirty="0">
                <a:solidFill>
                  <a:srgbClr val="0D9488"/>
                </a:solidFill>
                <a:latin typeface="Calibri" pitchFamily="34" charset="0"/>
                <a:ea typeface="Calibri" pitchFamily="34" charset="-122"/>
                <a:cs typeface="Calibri" pitchFamily="34" charset="-120"/>
              </a:rPr>
              <a:t>A practical workbench, not a single-purpose demo screen.</a:t>
            </a:r>
            <a:endParaRPr lang="en-US" sz="1250" dirty="0"/>
          </a:p>
        </p:txBody>
      </p:sp>
      <p:sp>
        <p:nvSpPr>
          <p:cNvPr id="30" name="Shape 23"/>
          <p:cNvSpPr/>
          <p:nvPr/>
        </p:nvSpPr>
        <p:spPr>
          <a:xfrm>
            <a:off x="502920" y="4718304"/>
            <a:ext cx="8138160" cy="0"/>
          </a:xfrm>
          <a:prstGeom prst="line">
            <a:avLst/>
          </a:prstGeom>
          <a:noFill/>
          <a:ln w="12700">
            <a:solidFill>
              <a:srgbClr val="DCE5EE"/>
            </a:solidFill>
            <a:prstDash val="solid"/>
          </a:ln>
        </p:spPr>
        <p:txBody>
          <a:bodyPr/>
          <a:lstStyle/>
          <a:p>
            <a:endParaRPr lang="en-US"/>
          </a:p>
        </p:txBody>
      </p:sp>
      <p:sp>
        <p:nvSpPr>
          <p:cNvPr id="31" name="Shape 24"/>
          <p:cNvSpPr/>
          <p:nvPr/>
        </p:nvSpPr>
        <p:spPr>
          <a:xfrm>
            <a:off x="502920" y="4846320"/>
            <a:ext cx="73152" cy="73152"/>
          </a:xfrm>
          <a:prstGeom prst="ellipse">
            <a:avLst/>
          </a:prstGeom>
          <a:solidFill>
            <a:srgbClr val="0D9488"/>
          </a:solidFill>
          <a:ln/>
        </p:spPr>
        <p:txBody>
          <a:bodyPr/>
          <a:lstStyle/>
          <a:p>
            <a:endParaRPr lang="en-US"/>
          </a:p>
        </p:txBody>
      </p:sp>
      <p:sp>
        <p:nvSpPr>
          <p:cNvPr id="32" name="Text 25"/>
          <p:cNvSpPr/>
          <p:nvPr/>
        </p:nvSpPr>
        <p:spPr>
          <a:xfrm>
            <a:off x="649224" y="4764024"/>
            <a:ext cx="2743200" cy="237744"/>
          </a:xfrm>
          <a:prstGeom prst="rect">
            <a:avLst/>
          </a:prstGeom>
          <a:noFill/>
          <a:ln/>
        </p:spPr>
        <p:txBody>
          <a:bodyPr wrap="square" lIns="0" tIns="0" rIns="0" bIns="0" rtlCol="0" anchor="ctr"/>
          <a:lstStyle/>
          <a:p>
            <a:pPr marL="0" indent="0">
              <a:buNone/>
            </a:pPr>
            <a:r>
              <a:rPr lang="en-US" sz="950" b="1" kern="0" spc="200" dirty="0">
                <a:solidFill>
                  <a:srgbClr val="64748B"/>
                </a:solidFill>
                <a:latin typeface="Calibri" pitchFamily="34" charset="0"/>
                <a:ea typeface="Calibri" pitchFamily="34" charset="-122"/>
                <a:cs typeface="Calibri" pitchFamily="34" charset="-120"/>
              </a:rPr>
              <a:t>SEMANTRA</a:t>
            </a:r>
            <a:endParaRPr lang="en-US" sz="950" dirty="0"/>
          </a:p>
        </p:txBody>
      </p:sp>
      <p:sp>
        <p:nvSpPr>
          <p:cNvPr id="33" name="Text 26"/>
          <p:cNvSpPr/>
          <p:nvPr/>
        </p:nvSpPr>
        <p:spPr>
          <a:xfrm>
            <a:off x="4800600" y="4764024"/>
            <a:ext cx="2834640" cy="237744"/>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CONDENSED OVERVIEW</a:t>
            </a:r>
            <a:endParaRPr lang="en-US" sz="900" dirty="0"/>
          </a:p>
        </p:txBody>
      </p:sp>
      <p:sp>
        <p:nvSpPr>
          <p:cNvPr id="34" name="Text 27"/>
          <p:cNvSpPr/>
          <p:nvPr/>
        </p:nvSpPr>
        <p:spPr>
          <a:xfrm>
            <a:off x="7726680" y="4764024"/>
            <a:ext cx="914400" cy="237744"/>
          </a:xfrm>
          <a:prstGeom prst="rect">
            <a:avLst/>
          </a:prstGeom>
          <a:noFill/>
          <a:ln/>
        </p:spPr>
        <p:txBody>
          <a:bodyPr wrap="square" lIns="0" tIns="0" rIns="0" bIns="0" rtlCol="0" anchor="ctr"/>
          <a:lstStyle/>
          <a:p>
            <a:pPr marL="0" indent="0" algn="r">
              <a:buNone/>
            </a:pPr>
            <a:r>
              <a:rPr lang="en-US" sz="950" b="1" dirty="0">
                <a:solidFill>
                  <a:srgbClr val="0D9488"/>
                </a:solidFill>
                <a:latin typeface="Calibri" pitchFamily="34" charset="0"/>
                <a:ea typeface="Calibri" pitchFamily="34" charset="-122"/>
                <a:cs typeface="Calibri" pitchFamily="34" charset="-120"/>
              </a:rPr>
              <a:t>05 / 09</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8138160" cy="274320"/>
          </a:xfrm>
          <a:prstGeom prst="rect">
            <a:avLst/>
          </a:prstGeom>
          <a:noFill/>
          <a:ln/>
        </p:spPr>
        <p:txBody>
          <a:bodyPr wrap="square" lIns="0" tIns="0" rIns="0" bIns="0" rtlCol="0" anchor="ctr"/>
          <a:lstStyle/>
          <a:p>
            <a:pPr marL="0" indent="0" algn="l">
              <a:buNone/>
            </a:pPr>
            <a:r>
              <a:rPr lang="en-US" sz="1150" b="1" kern="0" spc="200" dirty="0">
                <a:solidFill>
                  <a:srgbClr val="0D9488"/>
                </a:solidFill>
                <a:latin typeface="Calibri" pitchFamily="34" charset="0"/>
                <a:ea typeface="Calibri" pitchFamily="34" charset="-122"/>
                <a:cs typeface="Calibri" pitchFamily="34" charset="-120"/>
              </a:rPr>
              <a:t>BUSINESS-FACING OUTPUT</a:t>
            </a:r>
            <a:endParaRPr lang="en-US" sz="1150" dirty="0"/>
          </a:p>
        </p:txBody>
      </p:sp>
      <p:sp>
        <p:nvSpPr>
          <p:cNvPr id="3" name="Text 1"/>
          <p:cNvSpPr/>
          <p:nvPr/>
        </p:nvSpPr>
        <p:spPr>
          <a:xfrm>
            <a:off x="502920" y="585216"/>
            <a:ext cx="8138160" cy="749808"/>
          </a:xfrm>
          <a:prstGeom prst="rect">
            <a:avLst/>
          </a:prstGeom>
          <a:noFill/>
          <a:ln/>
        </p:spPr>
        <p:txBody>
          <a:bodyPr wrap="square" lIns="0" tIns="0" rIns="0" bIns="0" rtlCol="0" anchor="t"/>
          <a:lstStyle/>
          <a:p>
            <a:pPr marL="0" indent="0" algn="l">
              <a:buNone/>
            </a:pPr>
            <a:r>
              <a:rPr lang="en-US" sz="2700" b="1" dirty="0">
                <a:solidFill>
                  <a:srgbClr val="0F2A43"/>
                </a:solidFill>
                <a:latin typeface="Georgia" pitchFamily="34" charset="0"/>
                <a:ea typeface="Georgia" pitchFamily="34" charset="-122"/>
                <a:cs typeface="Georgia" pitchFamily="34" charset="-120"/>
              </a:rPr>
              <a:t>BA Mapping Report</a:t>
            </a:r>
            <a:endParaRPr lang="en-US" sz="2700" dirty="0"/>
          </a:p>
        </p:txBody>
      </p:sp>
      <p:sp>
        <p:nvSpPr>
          <p:cNvPr id="4" name="Shape 2"/>
          <p:cNvSpPr/>
          <p:nvPr/>
        </p:nvSpPr>
        <p:spPr>
          <a:xfrm>
            <a:off x="502920" y="1517904"/>
            <a:ext cx="3108960" cy="2651760"/>
          </a:xfrm>
          <a:prstGeom prst="rect">
            <a:avLst/>
          </a:prstGeom>
          <a:solidFill>
            <a:srgbClr val="E6F4F2"/>
          </a:solidFill>
          <a:ln w="12700">
            <a:solidFill>
              <a:srgbClr val="0D9488"/>
            </a:solidFill>
            <a:prstDash val="solid"/>
          </a:ln>
        </p:spPr>
        <p:txBody>
          <a:bodyPr/>
          <a:lstStyle/>
          <a:p>
            <a:endParaRPr lang="en-US"/>
          </a:p>
        </p:txBody>
      </p:sp>
      <p:sp>
        <p:nvSpPr>
          <p:cNvPr id="5" name="Shape 3"/>
          <p:cNvSpPr/>
          <p:nvPr/>
        </p:nvSpPr>
        <p:spPr>
          <a:xfrm>
            <a:off x="1783080" y="1810512"/>
            <a:ext cx="548640" cy="548640"/>
          </a:xfrm>
          <a:prstGeom prst="ellipse">
            <a:avLst/>
          </a:prstGeom>
          <a:solidFill>
            <a:srgbClr val="0F2A43"/>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938528" y="1965960"/>
            <a:ext cx="237744" cy="237744"/>
          </a:xfrm>
          <a:prstGeom prst="rect">
            <a:avLst/>
          </a:prstGeom>
        </p:spPr>
      </p:pic>
      <p:sp>
        <p:nvSpPr>
          <p:cNvPr id="7" name="Text 4"/>
          <p:cNvSpPr/>
          <p:nvPr/>
        </p:nvSpPr>
        <p:spPr>
          <a:xfrm>
            <a:off x="731520" y="2505456"/>
            <a:ext cx="2651760" cy="731520"/>
          </a:xfrm>
          <a:prstGeom prst="rect">
            <a:avLst/>
          </a:prstGeom>
          <a:noFill/>
          <a:ln/>
        </p:spPr>
        <p:txBody>
          <a:bodyPr wrap="square" lIns="0" tIns="0" rIns="0" bIns="0" rtlCol="0" anchor="ctr"/>
          <a:lstStyle/>
          <a:p>
            <a:pPr marL="0" indent="0" algn="ctr">
              <a:lnSpc>
                <a:spcPct val="115000"/>
              </a:lnSpc>
              <a:buNone/>
            </a:pPr>
            <a:r>
              <a:rPr lang="en-US" sz="1300" b="1" dirty="0">
                <a:solidFill>
                  <a:srgbClr val="0F2A43"/>
                </a:solidFill>
                <a:latin typeface="Calibri" pitchFamily="34" charset="0"/>
                <a:ea typeface="Calibri" pitchFamily="34" charset="-122"/>
                <a:cs typeface="Calibri" pitchFamily="34" charset="-120"/>
              </a:rPr>
              <a:t>A structured summary of the workspace outcome.</a:t>
            </a:r>
            <a:endParaRPr lang="en-US" sz="1300" dirty="0"/>
          </a:p>
        </p:txBody>
      </p:sp>
      <p:sp>
        <p:nvSpPr>
          <p:cNvPr id="8" name="Text 5"/>
          <p:cNvSpPr/>
          <p:nvPr/>
        </p:nvSpPr>
        <p:spPr>
          <a:xfrm>
            <a:off x="731520" y="3291840"/>
            <a:ext cx="2651760" cy="822960"/>
          </a:xfrm>
          <a:prstGeom prst="rect">
            <a:avLst/>
          </a:prstGeom>
          <a:noFill/>
          <a:ln/>
        </p:spPr>
        <p:txBody>
          <a:bodyPr wrap="square" lIns="0" tIns="0" rIns="0" bIns="0" rtlCol="0" anchor="ctr"/>
          <a:lstStyle/>
          <a:p>
            <a:pPr marL="0" indent="0" algn="ctr">
              <a:lnSpc>
                <a:spcPct val="112000"/>
              </a:lnSpc>
              <a:buNone/>
            </a:pPr>
            <a:r>
              <a:rPr lang="en-US" sz="1050" dirty="0">
                <a:solidFill>
                  <a:srgbClr val="1E3A52"/>
                </a:solidFill>
                <a:latin typeface="Calibri" pitchFamily="34" charset="0"/>
                <a:ea typeface="Calibri" pitchFamily="34" charset="-122"/>
                <a:cs typeface="Calibri" pitchFamily="34" charset="-120"/>
              </a:rPr>
              <a:t>Turns the solution into a business-facing artifact — not just a mapping engine.</a:t>
            </a:r>
            <a:endParaRPr lang="en-US" sz="1050" dirty="0"/>
          </a:p>
        </p:txBody>
      </p:sp>
      <p:sp>
        <p:nvSpPr>
          <p:cNvPr id="9" name="Shape 6"/>
          <p:cNvSpPr/>
          <p:nvPr/>
        </p:nvSpPr>
        <p:spPr>
          <a:xfrm>
            <a:off x="3886200" y="1517904"/>
            <a:ext cx="4754880" cy="585216"/>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10" name="Shape 7"/>
          <p:cNvSpPr/>
          <p:nvPr/>
        </p:nvSpPr>
        <p:spPr>
          <a:xfrm>
            <a:off x="4032504" y="1664208"/>
            <a:ext cx="310896" cy="310896"/>
          </a:xfrm>
          <a:prstGeom prst="ellipse">
            <a:avLst/>
          </a:prstGeom>
          <a:solidFill>
            <a:srgbClr val="E6F4F2"/>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4110228" y="1741932"/>
            <a:ext cx="155448" cy="155448"/>
          </a:xfrm>
          <a:prstGeom prst="rect">
            <a:avLst/>
          </a:prstGeom>
        </p:spPr>
      </p:pic>
      <p:sp>
        <p:nvSpPr>
          <p:cNvPr id="12" name="Text 8"/>
          <p:cNvSpPr/>
          <p:nvPr/>
        </p:nvSpPr>
        <p:spPr>
          <a:xfrm>
            <a:off x="4453128" y="1591056"/>
            <a:ext cx="4069080" cy="237744"/>
          </a:xfrm>
          <a:prstGeom prst="rect">
            <a:avLst/>
          </a:prstGeom>
          <a:noFill/>
          <a:ln/>
        </p:spPr>
        <p:txBody>
          <a:bodyPr wrap="square" lIns="0" tIns="0" rIns="0" bIns="0" rtlCol="0" anchor="ctr"/>
          <a:lstStyle/>
          <a:p>
            <a:pPr marL="0" indent="0">
              <a:buNone/>
            </a:pPr>
            <a:r>
              <a:rPr lang="en-US" sz="1250" b="1" dirty="0">
                <a:solidFill>
                  <a:srgbClr val="0F2A43"/>
                </a:solidFill>
                <a:latin typeface="Calibri" pitchFamily="34" charset="0"/>
                <a:ea typeface="Calibri" pitchFamily="34" charset="-122"/>
                <a:cs typeface="Calibri" pitchFamily="34" charset="-120"/>
              </a:rPr>
              <a:t>Structured outcome</a:t>
            </a:r>
            <a:endParaRPr lang="en-US" sz="1250" dirty="0"/>
          </a:p>
        </p:txBody>
      </p:sp>
      <p:sp>
        <p:nvSpPr>
          <p:cNvPr id="13" name="Text 9"/>
          <p:cNvSpPr/>
          <p:nvPr/>
        </p:nvSpPr>
        <p:spPr>
          <a:xfrm>
            <a:off x="4453128" y="1810512"/>
            <a:ext cx="4069080" cy="256032"/>
          </a:xfrm>
          <a:prstGeom prst="rect">
            <a:avLst/>
          </a:prstGeom>
          <a:noFill/>
          <a:ln/>
        </p:spPr>
        <p:txBody>
          <a:bodyPr wrap="square" lIns="0" tIns="0" rIns="0" bIns="0" rtlCol="0" anchor="t"/>
          <a:lstStyle/>
          <a:p>
            <a:pPr marL="0" indent="0">
              <a:buNone/>
            </a:pPr>
            <a:r>
              <a:rPr lang="en-US" sz="1000" dirty="0">
                <a:solidFill>
                  <a:srgbClr val="334155"/>
                </a:solidFill>
                <a:latin typeface="Calibri" pitchFamily="34" charset="0"/>
                <a:ea typeface="Calibri" pitchFamily="34" charset="-122"/>
                <a:cs typeface="Calibri" pitchFamily="34" charset="-120"/>
              </a:rPr>
              <a:t>Target object, grain, concept groups, and key decisions.</a:t>
            </a:r>
            <a:endParaRPr lang="en-US" sz="1000" dirty="0"/>
          </a:p>
        </p:txBody>
      </p:sp>
      <p:sp>
        <p:nvSpPr>
          <p:cNvPr id="14" name="Shape 10"/>
          <p:cNvSpPr/>
          <p:nvPr/>
        </p:nvSpPr>
        <p:spPr>
          <a:xfrm>
            <a:off x="3886200" y="2208276"/>
            <a:ext cx="4754880" cy="585216"/>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15" name="Shape 11"/>
          <p:cNvSpPr/>
          <p:nvPr/>
        </p:nvSpPr>
        <p:spPr>
          <a:xfrm>
            <a:off x="4032504" y="2354580"/>
            <a:ext cx="310896" cy="310896"/>
          </a:xfrm>
          <a:prstGeom prst="ellipse">
            <a:avLst/>
          </a:prstGeom>
          <a:solidFill>
            <a:srgbClr val="E6F4F2"/>
          </a:solidFill>
          <a:ln/>
        </p:spPr>
        <p:txBody>
          <a:bodyPr/>
          <a:lstStyle/>
          <a:p>
            <a:endParaRPr lang="en-US"/>
          </a:p>
        </p:txBody>
      </p:sp>
      <p:pic>
        <p:nvPicPr>
          <p:cNvPr id="16" name="Image 2" descr="preencoded.png"/>
          <p:cNvPicPr>
            <a:picLocks noChangeAspect="1"/>
          </p:cNvPicPr>
          <p:nvPr/>
        </p:nvPicPr>
        <p:blipFill>
          <a:blip r:embed="rId5"/>
          <a:stretch>
            <a:fillRect/>
          </a:stretch>
        </p:blipFill>
        <p:spPr>
          <a:xfrm>
            <a:off x="4110228" y="2432304"/>
            <a:ext cx="155448" cy="155448"/>
          </a:xfrm>
          <a:prstGeom prst="rect">
            <a:avLst/>
          </a:prstGeom>
        </p:spPr>
      </p:pic>
      <p:sp>
        <p:nvSpPr>
          <p:cNvPr id="17" name="Text 12"/>
          <p:cNvSpPr/>
          <p:nvPr/>
        </p:nvSpPr>
        <p:spPr>
          <a:xfrm>
            <a:off x="4453128" y="2281428"/>
            <a:ext cx="4069080" cy="237744"/>
          </a:xfrm>
          <a:prstGeom prst="rect">
            <a:avLst/>
          </a:prstGeom>
          <a:noFill/>
          <a:ln/>
        </p:spPr>
        <p:txBody>
          <a:bodyPr wrap="square" lIns="0" tIns="0" rIns="0" bIns="0" rtlCol="0" anchor="ctr"/>
          <a:lstStyle/>
          <a:p>
            <a:pPr marL="0" indent="0">
              <a:buNone/>
            </a:pPr>
            <a:r>
              <a:rPr lang="en-US" sz="1250" b="1" dirty="0">
                <a:solidFill>
                  <a:srgbClr val="0F2A43"/>
                </a:solidFill>
                <a:latin typeface="Calibri" pitchFamily="34" charset="0"/>
                <a:ea typeface="Calibri" pitchFamily="34" charset="-122"/>
                <a:cs typeface="Calibri" pitchFamily="34" charset="-120"/>
              </a:rPr>
              <a:t>Risks &amp; readiness</a:t>
            </a:r>
            <a:endParaRPr lang="en-US" sz="1250" dirty="0"/>
          </a:p>
        </p:txBody>
      </p:sp>
      <p:sp>
        <p:nvSpPr>
          <p:cNvPr id="18" name="Text 13"/>
          <p:cNvSpPr/>
          <p:nvPr/>
        </p:nvSpPr>
        <p:spPr>
          <a:xfrm>
            <a:off x="4453128" y="2500884"/>
            <a:ext cx="4069080" cy="256032"/>
          </a:xfrm>
          <a:prstGeom prst="rect">
            <a:avLst/>
          </a:prstGeom>
          <a:noFill/>
          <a:ln/>
        </p:spPr>
        <p:txBody>
          <a:bodyPr wrap="square" lIns="0" tIns="0" rIns="0" bIns="0" rtlCol="0" anchor="t"/>
          <a:lstStyle/>
          <a:p>
            <a:pPr marL="0" indent="0">
              <a:buNone/>
            </a:pPr>
            <a:r>
              <a:rPr lang="en-US" sz="1000" dirty="0">
                <a:solidFill>
                  <a:srgbClr val="334155"/>
                </a:solidFill>
                <a:latin typeface="Calibri" pitchFamily="34" charset="0"/>
                <a:ea typeface="Calibri" pitchFamily="34" charset="-122"/>
                <a:cs typeface="Calibri" pitchFamily="34" charset="-120"/>
              </a:rPr>
              <a:t>Open risks, exclusions, and readiness signals.</a:t>
            </a:r>
            <a:endParaRPr lang="en-US" sz="1000" dirty="0"/>
          </a:p>
        </p:txBody>
      </p:sp>
      <p:sp>
        <p:nvSpPr>
          <p:cNvPr id="19" name="Shape 14"/>
          <p:cNvSpPr/>
          <p:nvPr/>
        </p:nvSpPr>
        <p:spPr>
          <a:xfrm>
            <a:off x="3886200" y="2898648"/>
            <a:ext cx="4754880" cy="585216"/>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20" name="Shape 15"/>
          <p:cNvSpPr/>
          <p:nvPr/>
        </p:nvSpPr>
        <p:spPr>
          <a:xfrm>
            <a:off x="4032504" y="3044952"/>
            <a:ext cx="310896" cy="310896"/>
          </a:xfrm>
          <a:prstGeom prst="ellipse">
            <a:avLst/>
          </a:prstGeom>
          <a:solidFill>
            <a:srgbClr val="E6F4F2"/>
          </a:solidFill>
          <a:ln/>
        </p:spPr>
        <p:txBody>
          <a:bodyPr/>
          <a:lstStyle/>
          <a:p>
            <a:endParaRPr lang="en-US"/>
          </a:p>
        </p:txBody>
      </p:sp>
      <p:pic>
        <p:nvPicPr>
          <p:cNvPr id="21" name="Image 3" descr="preencoded.png"/>
          <p:cNvPicPr>
            <a:picLocks noChangeAspect="1"/>
          </p:cNvPicPr>
          <p:nvPr/>
        </p:nvPicPr>
        <p:blipFill>
          <a:blip r:embed="rId6"/>
          <a:stretch>
            <a:fillRect/>
          </a:stretch>
        </p:blipFill>
        <p:spPr>
          <a:xfrm>
            <a:off x="4110228" y="3122676"/>
            <a:ext cx="155448" cy="155448"/>
          </a:xfrm>
          <a:prstGeom prst="rect">
            <a:avLst/>
          </a:prstGeom>
        </p:spPr>
      </p:pic>
      <p:sp>
        <p:nvSpPr>
          <p:cNvPr id="22" name="Text 16"/>
          <p:cNvSpPr/>
          <p:nvPr/>
        </p:nvSpPr>
        <p:spPr>
          <a:xfrm>
            <a:off x="4453128" y="2971800"/>
            <a:ext cx="4069080" cy="237744"/>
          </a:xfrm>
          <a:prstGeom prst="rect">
            <a:avLst/>
          </a:prstGeom>
          <a:noFill/>
          <a:ln/>
        </p:spPr>
        <p:txBody>
          <a:bodyPr wrap="square" lIns="0" tIns="0" rIns="0" bIns="0" rtlCol="0" anchor="ctr"/>
          <a:lstStyle/>
          <a:p>
            <a:pPr marL="0" indent="0">
              <a:buNone/>
            </a:pPr>
            <a:r>
              <a:rPr lang="en-US" sz="1250" b="1" dirty="0">
                <a:solidFill>
                  <a:srgbClr val="0F2A43"/>
                </a:solidFill>
                <a:latin typeface="Calibri" pitchFamily="34" charset="0"/>
                <a:ea typeface="Calibri" pitchFamily="34" charset="-122"/>
                <a:cs typeface="Calibri" pitchFamily="34" charset="-120"/>
              </a:rPr>
              <a:t>Analyst handoff</a:t>
            </a:r>
            <a:endParaRPr lang="en-US" sz="1250" dirty="0"/>
          </a:p>
        </p:txBody>
      </p:sp>
      <p:sp>
        <p:nvSpPr>
          <p:cNvPr id="23" name="Text 17"/>
          <p:cNvSpPr/>
          <p:nvPr/>
        </p:nvSpPr>
        <p:spPr>
          <a:xfrm>
            <a:off x="4453128" y="3191256"/>
            <a:ext cx="4069080" cy="256032"/>
          </a:xfrm>
          <a:prstGeom prst="rect">
            <a:avLst/>
          </a:prstGeom>
          <a:noFill/>
          <a:ln/>
        </p:spPr>
        <p:txBody>
          <a:bodyPr wrap="square" lIns="0" tIns="0" rIns="0" bIns="0" rtlCol="0" anchor="t"/>
          <a:lstStyle/>
          <a:p>
            <a:pPr marL="0" indent="0">
              <a:buNone/>
            </a:pPr>
            <a:r>
              <a:rPr lang="en-US" sz="1000" dirty="0">
                <a:solidFill>
                  <a:srgbClr val="334155"/>
                </a:solidFill>
                <a:latin typeface="Calibri" pitchFamily="34" charset="0"/>
                <a:ea typeface="Calibri" pitchFamily="34" charset="-122"/>
                <a:cs typeface="Calibri" pitchFamily="34" charset="-120"/>
              </a:rPr>
              <a:t>A better basis for handoff between roles.</a:t>
            </a:r>
            <a:endParaRPr lang="en-US" sz="1000" dirty="0"/>
          </a:p>
        </p:txBody>
      </p:sp>
      <p:sp>
        <p:nvSpPr>
          <p:cNvPr id="24" name="Shape 18"/>
          <p:cNvSpPr/>
          <p:nvPr/>
        </p:nvSpPr>
        <p:spPr>
          <a:xfrm>
            <a:off x="3886200" y="3589020"/>
            <a:ext cx="4754880" cy="585216"/>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25" name="Shape 19"/>
          <p:cNvSpPr/>
          <p:nvPr/>
        </p:nvSpPr>
        <p:spPr>
          <a:xfrm>
            <a:off x="4032504" y="3735324"/>
            <a:ext cx="310896" cy="310896"/>
          </a:xfrm>
          <a:prstGeom prst="ellipse">
            <a:avLst/>
          </a:prstGeom>
          <a:solidFill>
            <a:srgbClr val="E6F4F2"/>
          </a:solidFill>
          <a:ln/>
        </p:spPr>
        <p:txBody>
          <a:bodyPr/>
          <a:lstStyle/>
          <a:p>
            <a:endParaRPr lang="en-US"/>
          </a:p>
        </p:txBody>
      </p:sp>
      <p:pic>
        <p:nvPicPr>
          <p:cNvPr id="26" name="Image 4" descr="preencoded.png"/>
          <p:cNvPicPr>
            <a:picLocks noChangeAspect="1"/>
          </p:cNvPicPr>
          <p:nvPr/>
        </p:nvPicPr>
        <p:blipFill>
          <a:blip r:embed="rId7"/>
          <a:stretch>
            <a:fillRect/>
          </a:stretch>
        </p:blipFill>
        <p:spPr>
          <a:xfrm>
            <a:off x="4110228" y="3813048"/>
            <a:ext cx="155448" cy="155448"/>
          </a:xfrm>
          <a:prstGeom prst="rect">
            <a:avLst/>
          </a:prstGeom>
        </p:spPr>
      </p:pic>
      <p:sp>
        <p:nvSpPr>
          <p:cNvPr id="27" name="Text 20"/>
          <p:cNvSpPr/>
          <p:nvPr/>
        </p:nvSpPr>
        <p:spPr>
          <a:xfrm>
            <a:off x="4453128" y="3662172"/>
            <a:ext cx="4069080" cy="237744"/>
          </a:xfrm>
          <a:prstGeom prst="rect">
            <a:avLst/>
          </a:prstGeom>
          <a:noFill/>
          <a:ln/>
        </p:spPr>
        <p:txBody>
          <a:bodyPr wrap="square" lIns="0" tIns="0" rIns="0" bIns="0" rtlCol="0" anchor="ctr"/>
          <a:lstStyle/>
          <a:p>
            <a:pPr marL="0" indent="0">
              <a:buNone/>
            </a:pPr>
            <a:r>
              <a:rPr lang="en-US" sz="1250" b="1" dirty="0">
                <a:solidFill>
                  <a:srgbClr val="0F2A43"/>
                </a:solidFill>
                <a:latin typeface="Calibri" pitchFamily="34" charset="0"/>
                <a:ea typeface="Calibri" pitchFamily="34" charset="-122"/>
                <a:cs typeface="Calibri" pitchFamily="34" charset="-120"/>
              </a:rPr>
              <a:t>Export-ready</a:t>
            </a:r>
            <a:endParaRPr lang="en-US" sz="1250" dirty="0"/>
          </a:p>
        </p:txBody>
      </p:sp>
      <p:sp>
        <p:nvSpPr>
          <p:cNvPr id="28" name="Text 21"/>
          <p:cNvSpPr/>
          <p:nvPr/>
        </p:nvSpPr>
        <p:spPr>
          <a:xfrm>
            <a:off x="4453128" y="3881628"/>
            <a:ext cx="4069080" cy="256032"/>
          </a:xfrm>
          <a:prstGeom prst="rect">
            <a:avLst/>
          </a:prstGeom>
          <a:noFill/>
          <a:ln/>
        </p:spPr>
        <p:txBody>
          <a:bodyPr wrap="square" lIns="0" tIns="0" rIns="0" bIns="0" rtlCol="0" anchor="t"/>
          <a:lstStyle/>
          <a:p>
            <a:pPr marL="0" indent="0">
              <a:buNone/>
            </a:pPr>
            <a:r>
              <a:rPr lang="en-US" sz="1000" dirty="0">
                <a:solidFill>
                  <a:srgbClr val="334155"/>
                </a:solidFill>
                <a:latin typeface="Calibri" pitchFamily="34" charset="0"/>
                <a:ea typeface="Calibri" pitchFamily="34" charset="-122"/>
                <a:cs typeface="Calibri" pitchFamily="34" charset="-120"/>
              </a:rPr>
              <a:t>Foundation for later export as a document.</a:t>
            </a:r>
            <a:endParaRPr lang="en-US" sz="1000" dirty="0"/>
          </a:p>
        </p:txBody>
      </p:sp>
      <p:sp>
        <p:nvSpPr>
          <p:cNvPr id="29" name="Shape 22"/>
          <p:cNvSpPr/>
          <p:nvPr/>
        </p:nvSpPr>
        <p:spPr>
          <a:xfrm>
            <a:off x="502920" y="4718304"/>
            <a:ext cx="8138160" cy="0"/>
          </a:xfrm>
          <a:prstGeom prst="line">
            <a:avLst/>
          </a:prstGeom>
          <a:noFill/>
          <a:ln w="12700">
            <a:solidFill>
              <a:srgbClr val="DCE5EE"/>
            </a:solidFill>
            <a:prstDash val="solid"/>
          </a:ln>
        </p:spPr>
        <p:txBody>
          <a:bodyPr/>
          <a:lstStyle/>
          <a:p>
            <a:endParaRPr lang="en-US"/>
          </a:p>
        </p:txBody>
      </p:sp>
      <p:sp>
        <p:nvSpPr>
          <p:cNvPr id="30" name="Shape 23"/>
          <p:cNvSpPr/>
          <p:nvPr/>
        </p:nvSpPr>
        <p:spPr>
          <a:xfrm>
            <a:off x="502920" y="4846320"/>
            <a:ext cx="73152" cy="73152"/>
          </a:xfrm>
          <a:prstGeom prst="ellipse">
            <a:avLst/>
          </a:prstGeom>
          <a:solidFill>
            <a:srgbClr val="0D9488"/>
          </a:solidFill>
          <a:ln/>
        </p:spPr>
        <p:txBody>
          <a:bodyPr/>
          <a:lstStyle/>
          <a:p>
            <a:endParaRPr lang="en-US"/>
          </a:p>
        </p:txBody>
      </p:sp>
      <p:sp>
        <p:nvSpPr>
          <p:cNvPr id="31" name="Text 24"/>
          <p:cNvSpPr/>
          <p:nvPr/>
        </p:nvSpPr>
        <p:spPr>
          <a:xfrm>
            <a:off x="649224" y="4764024"/>
            <a:ext cx="2743200" cy="237744"/>
          </a:xfrm>
          <a:prstGeom prst="rect">
            <a:avLst/>
          </a:prstGeom>
          <a:noFill/>
          <a:ln/>
        </p:spPr>
        <p:txBody>
          <a:bodyPr wrap="square" lIns="0" tIns="0" rIns="0" bIns="0" rtlCol="0" anchor="ctr"/>
          <a:lstStyle/>
          <a:p>
            <a:pPr marL="0" indent="0">
              <a:buNone/>
            </a:pPr>
            <a:r>
              <a:rPr lang="en-US" sz="950" b="1" kern="0" spc="200" dirty="0">
                <a:solidFill>
                  <a:srgbClr val="64748B"/>
                </a:solidFill>
                <a:latin typeface="Calibri" pitchFamily="34" charset="0"/>
                <a:ea typeface="Calibri" pitchFamily="34" charset="-122"/>
                <a:cs typeface="Calibri" pitchFamily="34" charset="-120"/>
              </a:rPr>
              <a:t>SEMANTRA</a:t>
            </a:r>
            <a:endParaRPr lang="en-US" sz="950" dirty="0"/>
          </a:p>
        </p:txBody>
      </p:sp>
      <p:sp>
        <p:nvSpPr>
          <p:cNvPr id="32" name="Text 25"/>
          <p:cNvSpPr/>
          <p:nvPr/>
        </p:nvSpPr>
        <p:spPr>
          <a:xfrm>
            <a:off x="4800600" y="4764024"/>
            <a:ext cx="2834640" cy="237744"/>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CONDENSED OVERVIEW</a:t>
            </a:r>
            <a:endParaRPr lang="en-US" sz="900" dirty="0"/>
          </a:p>
        </p:txBody>
      </p:sp>
      <p:sp>
        <p:nvSpPr>
          <p:cNvPr id="33" name="Text 26"/>
          <p:cNvSpPr/>
          <p:nvPr/>
        </p:nvSpPr>
        <p:spPr>
          <a:xfrm>
            <a:off x="7726680" y="4764024"/>
            <a:ext cx="914400" cy="237744"/>
          </a:xfrm>
          <a:prstGeom prst="rect">
            <a:avLst/>
          </a:prstGeom>
          <a:noFill/>
          <a:ln/>
        </p:spPr>
        <p:txBody>
          <a:bodyPr wrap="square" lIns="0" tIns="0" rIns="0" bIns="0" rtlCol="0" anchor="ctr"/>
          <a:lstStyle/>
          <a:p>
            <a:pPr marL="0" indent="0" algn="r">
              <a:buNone/>
            </a:pPr>
            <a:r>
              <a:rPr lang="en-US" sz="950" b="1" dirty="0">
                <a:solidFill>
                  <a:srgbClr val="0D9488"/>
                </a:solidFill>
                <a:latin typeface="Calibri" pitchFamily="34" charset="0"/>
                <a:ea typeface="Calibri" pitchFamily="34" charset="-122"/>
                <a:cs typeface="Calibri" pitchFamily="34" charset="-120"/>
              </a:rPr>
              <a:t>06 / 09</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8138160" cy="274320"/>
          </a:xfrm>
          <a:prstGeom prst="rect">
            <a:avLst/>
          </a:prstGeom>
          <a:noFill/>
          <a:ln/>
        </p:spPr>
        <p:txBody>
          <a:bodyPr wrap="square" lIns="0" tIns="0" rIns="0" bIns="0" rtlCol="0" anchor="ctr"/>
          <a:lstStyle/>
          <a:p>
            <a:pPr marL="0" indent="0" algn="l">
              <a:buNone/>
            </a:pPr>
            <a:r>
              <a:rPr lang="en-US" sz="1150" b="1" kern="0" spc="200" dirty="0">
                <a:solidFill>
                  <a:srgbClr val="0D9488"/>
                </a:solidFill>
                <a:latin typeface="Calibri" pitchFamily="34" charset="0"/>
                <a:ea typeface="Calibri" pitchFamily="34" charset="-122"/>
                <a:cs typeface="Calibri" pitchFamily="34" charset="-120"/>
              </a:rPr>
              <a:t>TRUST &amp; GOVERNANCE</a:t>
            </a:r>
            <a:endParaRPr lang="en-US" sz="1150" dirty="0"/>
          </a:p>
        </p:txBody>
      </p:sp>
      <p:sp>
        <p:nvSpPr>
          <p:cNvPr id="3" name="Text 1"/>
          <p:cNvSpPr/>
          <p:nvPr/>
        </p:nvSpPr>
        <p:spPr>
          <a:xfrm>
            <a:off x="502920" y="585216"/>
            <a:ext cx="8138160" cy="749808"/>
          </a:xfrm>
          <a:prstGeom prst="rect">
            <a:avLst/>
          </a:prstGeom>
          <a:noFill/>
          <a:ln/>
        </p:spPr>
        <p:txBody>
          <a:bodyPr wrap="square" lIns="0" tIns="0" rIns="0" bIns="0" rtlCol="0" anchor="t"/>
          <a:lstStyle/>
          <a:p>
            <a:pPr marL="0" indent="0" algn="l">
              <a:buNone/>
            </a:pPr>
            <a:r>
              <a:rPr lang="en-US" sz="2700" b="1" dirty="0">
                <a:solidFill>
                  <a:srgbClr val="0F2A43"/>
                </a:solidFill>
                <a:latin typeface="Georgia" pitchFamily="34" charset="0"/>
                <a:ea typeface="Georgia" pitchFamily="34" charset="-122"/>
                <a:cs typeface="Georgia" pitchFamily="34" charset="-120"/>
              </a:rPr>
              <a:t>Why the approach is credible</a:t>
            </a:r>
            <a:endParaRPr lang="en-US" sz="2700" dirty="0"/>
          </a:p>
        </p:txBody>
      </p:sp>
      <p:sp>
        <p:nvSpPr>
          <p:cNvPr id="4" name="Shape 2"/>
          <p:cNvSpPr/>
          <p:nvPr/>
        </p:nvSpPr>
        <p:spPr>
          <a:xfrm>
            <a:off x="502920" y="1499616"/>
            <a:ext cx="3931920" cy="1225296"/>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5" name="Shape 3"/>
          <p:cNvSpPr/>
          <p:nvPr/>
        </p:nvSpPr>
        <p:spPr>
          <a:xfrm>
            <a:off x="502920" y="1499616"/>
            <a:ext cx="64008" cy="1225296"/>
          </a:xfrm>
          <a:prstGeom prst="rect">
            <a:avLst/>
          </a:prstGeom>
          <a:solidFill>
            <a:srgbClr val="0D9488"/>
          </a:solidFill>
          <a:ln/>
        </p:spPr>
        <p:txBody>
          <a:bodyPr/>
          <a:lstStyle/>
          <a:p>
            <a:endParaRPr lang="en-US"/>
          </a:p>
        </p:txBody>
      </p:sp>
      <p:sp>
        <p:nvSpPr>
          <p:cNvPr id="6" name="Text 4"/>
          <p:cNvSpPr/>
          <p:nvPr/>
        </p:nvSpPr>
        <p:spPr>
          <a:xfrm>
            <a:off x="3666744" y="1627632"/>
            <a:ext cx="640080" cy="310896"/>
          </a:xfrm>
          <a:prstGeom prst="rect">
            <a:avLst/>
          </a:prstGeom>
          <a:noFill/>
          <a:ln/>
        </p:spPr>
        <p:txBody>
          <a:bodyPr wrap="square" lIns="0" tIns="0" rIns="0" bIns="0" rtlCol="0" anchor="ctr"/>
          <a:lstStyle/>
          <a:p>
            <a:pPr marL="0" indent="0" algn="r">
              <a:buNone/>
            </a:pPr>
            <a:r>
              <a:rPr lang="en-US" sz="1700" b="1" dirty="0">
                <a:solidFill>
                  <a:srgbClr val="C7D6E2"/>
                </a:solidFill>
                <a:latin typeface="Georgia" pitchFamily="34" charset="0"/>
                <a:ea typeface="Georgia" pitchFamily="34" charset="-122"/>
                <a:cs typeface="Georgia" pitchFamily="34" charset="-120"/>
              </a:rPr>
              <a:t>01</a:t>
            </a:r>
            <a:endParaRPr lang="en-US" sz="1700" dirty="0"/>
          </a:p>
        </p:txBody>
      </p:sp>
      <p:sp>
        <p:nvSpPr>
          <p:cNvPr id="7" name="Shape 5"/>
          <p:cNvSpPr/>
          <p:nvPr/>
        </p:nvSpPr>
        <p:spPr>
          <a:xfrm>
            <a:off x="740664" y="1682496"/>
            <a:ext cx="493776" cy="493776"/>
          </a:xfrm>
          <a:prstGeom prst="ellipse">
            <a:avLst/>
          </a:prstGeom>
          <a:solidFill>
            <a:srgbClr val="E6F4F2"/>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859536" y="1801368"/>
            <a:ext cx="256032" cy="256032"/>
          </a:xfrm>
          <a:prstGeom prst="rect">
            <a:avLst/>
          </a:prstGeom>
        </p:spPr>
      </p:pic>
      <p:sp>
        <p:nvSpPr>
          <p:cNvPr id="9" name="Text 6"/>
          <p:cNvSpPr/>
          <p:nvPr/>
        </p:nvSpPr>
        <p:spPr>
          <a:xfrm>
            <a:off x="1399032" y="1682496"/>
            <a:ext cx="2240280" cy="274320"/>
          </a:xfrm>
          <a:prstGeom prst="rect">
            <a:avLst/>
          </a:prstGeom>
          <a:noFill/>
          <a:ln/>
        </p:spPr>
        <p:txBody>
          <a:bodyPr wrap="square" lIns="0" tIns="0" rIns="0" bIns="0" rtlCol="0" anchor="ctr"/>
          <a:lstStyle/>
          <a:p>
            <a:pPr marL="0" indent="0">
              <a:buNone/>
            </a:pPr>
            <a:r>
              <a:rPr lang="en-US" sz="1400" b="1" dirty="0">
                <a:solidFill>
                  <a:srgbClr val="0F2A43"/>
                </a:solidFill>
                <a:latin typeface="Calibri" pitchFamily="34" charset="0"/>
                <a:ea typeface="Calibri" pitchFamily="34" charset="-122"/>
                <a:cs typeface="Calibri" pitchFamily="34" charset="-120"/>
              </a:rPr>
              <a:t>Deterministic-first</a:t>
            </a:r>
            <a:endParaRPr lang="en-US" sz="1400" dirty="0"/>
          </a:p>
        </p:txBody>
      </p:sp>
      <p:sp>
        <p:nvSpPr>
          <p:cNvPr id="10" name="Text 7"/>
          <p:cNvSpPr/>
          <p:nvPr/>
        </p:nvSpPr>
        <p:spPr>
          <a:xfrm>
            <a:off x="1399032" y="2011680"/>
            <a:ext cx="2834640" cy="548640"/>
          </a:xfrm>
          <a:prstGeom prst="rect">
            <a:avLst/>
          </a:prstGeom>
          <a:noFill/>
          <a:ln/>
        </p:spPr>
        <p:txBody>
          <a:bodyPr wrap="square" lIns="0" tIns="0" rIns="0" bIns="0" rtlCol="0" anchor="t"/>
          <a:lstStyle/>
          <a:p>
            <a:pPr marL="0" indent="0">
              <a:buNone/>
            </a:pPr>
            <a:r>
              <a:rPr lang="en-US" sz="1050" dirty="0">
                <a:solidFill>
                  <a:srgbClr val="334155"/>
                </a:solidFill>
                <a:latin typeface="Calibri" pitchFamily="34" charset="0"/>
                <a:ea typeface="Calibri" pitchFamily="34" charset="-122"/>
                <a:cs typeface="Calibri" pitchFamily="34" charset="-120"/>
              </a:rPr>
              <a:t>Deterministic mapping with bounded AI assistance.</a:t>
            </a:r>
            <a:endParaRPr lang="en-US" sz="1050" dirty="0"/>
          </a:p>
        </p:txBody>
      </p:sp>
      <p:sp>
        <p:nvSpPr>
          <p:cNvPr id="11" name="Shape 8"/>
          <p:cNvSpPr/>
          <p:nvPr/>
        </p:nvSpPr>
        <p:spPr>
          <a:xfrm>
            <a:off x="4709160" y="1499616"/>
            <a:ext cx="3931920" cy="1225296"/>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12" name="Shape 9"/>
          <p:cNvSpPr/>
          <p:nvPr/>
        </p:nvSpPr>
        <p:spPr>
          <a:xfrm>
            <a:off x="4709160" y="1499616"/>
            <a:ext cx="64008" cy="1225296"/>
          </a:xfrm>
          <a:prstGeom prst="rect">
            <a:avLst/>
          </a:prstGeom>
          <a:solidFill>
            <a:srgbClr val="0D9488"/>
          </a:solidFill>
          <a:ln/>
        </p:spPr>
        <p:txBody>
          <a:bodyPr/>
          <a:lstStyle/>
          <a:p>
            <a:endParaRPr lang="en-US"/>
          </a:p>
        </p:txBody>
      </p:sp>
      <p:sp>
        <p:nvSpPr>
          <p:cNvPr id="13" name="Text 10"/>
          <p:cNvSpPr/>
          <p:nvPr/>
        </p:nvSpPr>
        <p:spPr>
          <a:xfrm>
            <a:off x="7872984" y="1627632"/>
            <a:ext cx="640080" cy="310896"/>
          </a:xfrm>
          <a:prstGeom prst="rect">
            <a:avLst/>
          </a:prstGeom>
          <a:noFill/>
          <a:ln/>
        </p:spPr>
        <p:txBody>
          <a:bodyPr wrap="square" lIns="0" tIns="0" rIns="0" bIns="0" rtlCol="0" anchor="ctr"/>
          <a:lstStyle/>
          <a:p>
            <a:pPr marL="0" indent="0" algn="r">
              <a:buNone/>
            </a:pPr>
            <a:r>
              <a:rPr lang="en-US" sz="1700" b="1" dirty="0">
                <a:solidFill>
                  <a:srgbClr val="C7D6E2"/>
                </a:solidFill>
                <a:latin typeface="Georgia" pitchFamily="34" charset="0"/>
                <a:ea typeface="Georgia" pitchFamily="34" charset="-122"/>
                <a:cs typeface="Georgia" pitchFamily="34" charset="-120"/>
              </a:rPr>
              <a:t>02</a:t>
            </a:r>
            <a:endParaRPr lang="en-US" sz="1700" dirty="0"/>
          </a:p>
        </p:txBody>
      </p:sp>
      <p:sp>
        <p:nvSpPr>
          <p:cNvPr id="14" name="Shape 11"/>
          <p:cNvSpPr/>
          <p:nvPr/>
        </p:nvSpPr>
        <p:spPr>
          <a:xfrm>
            <a:off x="4946904" y="1682496"/>
            <a:ext cx="493776" cy="493776"/>
          </a:xfrm>
          <a:prstGeom prst="ellipse">
            <a:avLst/>
          </a:prstGeom>
          <a:solidFill>
            <a:srgbClr val="E6F4F2"/>
          </a:solidFill>
          <a:ln/>
        </p:spPr>
        <p:txBody>
          <a:bodyPr/>
          <a:lstStyle/>
          <a:p>
            <a:endParaRPr lang="en-US"/>
          </a:p>
        </p:txBody>
      </p:sp>
      <p:pic>
        <p:nvPicPr>
          <p:cNvPr id="15" name="Image 1" descr="preencoded.png"/>
          <p:cNvPicPr>
            <a:picLocks noChangeAspect="1"/>
          </p:cNvPicPr>
          <p:nvPr/>
        </p:nvPicPr>
        <p:blipFill>
          <a:blip r:embed="rId4"/>
          <a:stretch>
            <a:fillRect/>
          </a:stretch>
        </p:blipFill>
        <p:spPr>
          <a:xfrm>
            <a:off x="5065776" y="1801368"/>
            <a:ext cx="256032" cy="256032"/>
          </a:xfrm>
          <a:prstGeom prst="rect">
            <a:avLst/>
          </a:prstGeom>
        </p:spPr>
      </p:pic>
      <p:sp>
        <p:nvSpPr>
          <p:cNvPr id="16" name="Text 12"/>
          <p:cNvSpPr/>
          <p:nvPr/>
        </p:nvSpPr>
        <p:spPr>
          <a:xfrm>
            <a:off x="5605272" y="1682496"/>
            <a:ext cx="2240280" cy="274320"/>
          </a:xfrm>
          <a:prstGeom prst="rect">
            <a:avLst/>
          </a:prstGeom>
          <a:noFill/>
          <a:ln/>
        </p:spPr>
        <p:txBody>
          <a:bodyPr wrap="square" lIns="0" tIns="0" rIns="0" bIns="0" rtlCol="0" anchor="ctr"/>
          <a:lstStyle/>
          <a:p>
            <a:pPr marL="0" indent="0">
              <a:buNone/>
            </a:pPr>
            <a:r>
              <a:rPr lang="en-US" sz="1400" b="1" dirty="0">
                <a:solidFill>
                  <a:srgbClr val="0F2A43"/>
                </a:solidFill>
                <a:latin typeface="Calibri" pitchFamily="34" charset="0"/>
                <a:ea typeface="Calibri" pitchFamily="34" charset="-122"/>
                <a:cs typeface="Calibri" pitchFamily="34" charset="-120"/>
              </a:rPr>
              <a:t>Review checkpoints</a:t>
            </a:r>
            <a:endParaRPr lang="en-US" sz="1400" dirty="0"/>
          </a:p>
        </p:txBody>
      </p:sp>
      <p:sp>
        <p:nvSpPr>
          <p:cNvPr id="17" name="Text 13"/>
          <p:cNvSpPr/>
          <p:nvPr/>
        </p:nvSpPr>
        <p:spPr>
          <a:xfrm>
            <a:off x="5605272" y="2011680"/>
            <a:ext cx="2834640" cy="548640"/>
          </a:xfrm>
          <a:prstGeom prst="rect">
            <a:avLst/>
          </a:prstGeom>
          <a:noFill/>
          <a:ln/>
        </p:spPr>
        <p:txBody>
          <a:bodyPr wrap="square" lIns="0" tIns="0" rIns="0" bIns="0" rtlCol="0" anchor="t"/>
          <a:lstStyle/>
          <a:p>
            <a:pPr marL="0" indent="0">
              <a:buNone/>
            </a:pPr>
            <a:r>
              <a:rPr lang="en-US" sz="1050" dirty="0">
                <a:solidFill>
                  <a:srgbClr val="334155"/>
                </a:solidFill>
                <a:latin typeface="Calibri" pitchFamily="34" charset="0"/>
                <a:ea typeface="Calibri" pitchFamily="34" charset="-122"/>
                <a:cs typeface="Calibri" pitchFamily="34" charset="-120"/>
              </a:rPr>
              <a:t>Explicit review before any durable output.</a:t>
            </a:r>
            <a:endParaRPr lang="en-US" sz="1050" dirty="0"/>
          </a:p>
        </p:txBody>
      </p:sp>
      <p:sp>
        <p:nvSpPr>
          <p:cNvPr id="18" name="Shape 14"/>
          <p:cNvSpPr/>
          <p:nvPr/>
        </p:nvSpPr>
        <p:spPr>
          <a:xfrm>
            <a:off x="502920" y="2926080"/>
            <a:ext cx="3931920" cy="1225296"/>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19" name="Shape 15"/>
          <p:cNvSpPr/>
          <p:nvPr/>
        </p:nvSpPr>
        <p:spPr>
          <a:xfrm>
            <a:off x="502920" y="2926080"/>
            <a:ext cx="64008" cy="1225296"/>
          </a:xfrm>
          <a:prstGeom prst="rect">
            <a:avLst/>
          </a:prstGeom>
          <a:solidFill>
            <a:srgbClr val="0D9488"/>
          </a:solidFill>
          <a:ln/>
        </p:spPr>
        <p:txBody>
          <a:bodyPr/>
          <a:lstStyle/>
          <a:p>
            <a:endParaRPr lang="en-US"/>
          </a:p>
        </p:txBody>
      </p:sp>
      <p:sp>
        <p:nvSpPr>
          <p:cNvPr id="20" name="Text 16"/>
          <p:cNvSpPr/>
          <p:nvPr/>
        </p:nvSpPr>
        <p:spPr>
          <a:xfrm>
            <a:off x="3666744" y="3054096"/>
            <a:ext cx="640080" cy="310896"/>
          </a:xfrm>
          <a:prstGeom prst="rect">
            <a:avLst/>
          </a:prstGeom>
          <a:noFill/>
          <a:ln/>
        </p:spPr>
        <p:txBody>
          <a:bodyPr wrap="square" lIns="0" tIns="0" rIns="0" bIns="0" rtlCol="0" anchor="ctr"/>
          <a:lstStyle/>
          <a:p>
            <a:pPr marL="0" indent="0" algn="r">
              <a:buNone/>
            </a:pPr>
            <a:r>
              <a:rPr lang="en-US" sz="1700" b="1" dirty="0">
                <a:solidFill>
                  <a:srgbClr val="C7D6E2"/>
                </a:solidFill>
                <a:latin typeface="Georgia" pitchFamily="34" charset="0"/>
                <a:ea typeface="Georgia" pitchFamily="34" charset="-122"/>
                <a:cs typeface="Georgia" pitchFamily="34" charset="-120"/>
              </a:rPr>
              <a:t>03</a:t>
            </a:r>
            <a:endParaRPr lang="en-US" sz="1700" dirty="0"/>
          </a:p>
        </p:txBody>
      </p:sp>
      <p:sp>
        <p:nvSpPr>
          <p:cNvPr id="21" name="Shape 17"/>
          <p:cNvSpPr/>
          <p:nvPr/>
        </p:nvSpPr>
        <p:spPr>
          <a:xfrm>
            <a:off x="740664" y="3108960"/>
            <a:ext cx="493776" cy="493776"/>
          </a:xfrm>
          <a:prstGeom prst="ellipse">
            <a:avLst/>
          </a:prstGeom>
          <a:solidFill>
            <a:srgbClr val="E6F4F2"/>
          </a:solidFill>
          <a:ln/>
        </p:spPr>
        <p:txBody>
          <a:bodyPr/>
          <a:lstStyle/>
          <a:p>
            <a:endParaRPr lang="en-US"/>
          </a:p>
        </p:txBody>
      </p:sp>
      <p:pic>
        <p:nvPicPr>
          <p:cNvPr id="22" name="Image 2" descr="preencoded.png"/>
          <p:cNvPicPr>
            <a:picLocks noChangeAspect="1"/>
          </p:cNvPicPr>
          <p:nvPr/>
        </p:nvPicPr>
        <p:blipFill>
          <a:blip r:embed="rId5"/>
          <a:stretch>
            <a:fillRect/>
          </a:stretch>
        </p:blipFill>
        <p:spPr>
          <a:xfrm>
            <a:off x="859536" y="3227832"/>
            <a:ext cx="256032" cy="256032"/>
          </a:xfrm>
          <a:prstGeom prst="rect">
            <a:avLst/>
          </a:prstGeom>
        </p:spPr>
      </p:pic>
      <p:sp>
        <p:nvSpPr>
          <p:cNvPr id="23" name="Text 18"/>
          <p:cNvSpPr/>
          <p:nvPr/>
        </p:nvSpPr>
        <p:spPr>
          <a:xfrm>
            <a:off x="1399032" y="3108960"/>
            <a:ext cx="2240280" cy="274320"/>
          </a:xfrm>
          <a:prstGeom prst="rect">
            <a:avLst/>
          </a:prstGeom>
          <a:noFill/>
          <a:ln/>
        </p:spPr>
        <p:txBody>
          <a:bodyPr wrap="square" lIns="0" tIns="0" rIns="0" bIns="0" rtlCol="0" anchor="ctr"/>
          <a:lstStyle/>
          <a:p>
            <a:pPr marL="0" indent="0">
              <a:buNone/>
            </a:pPr>
            <a:r>
              <a:rPr lang="en-US" sz="1400" b="1" dirty="0">
                <a:solidFill>
                  <a:srgbClr val="0F2A43"/>
                </a:solidFill>
                <a:latin typeface="Calibri" pitchFamily="34" charset="0"/>
                <a:ea typeface="Calibri" pitchFamily="34" charset="-122"/>
                <a:cs typeface="Calibri" pitchFamily="34" charset="-120"/>
              </a:rPr>
              <a:t>Governed assets</a:t>
            </a:r>
            <a:endParaRPr lang="en-US" sz="1400" dirty="0"/>
          </a:p>
        </p:txBody>
      </p:sp>
      <p:sp>
        <p:nvSpPr>
          <p:cNvPr id="24" name="Text 19"/>
          <p:cNvSpPr/>
          <p:nvPr/>
        </p:nvSpPr>
        <p:spPr>
          <a:xfrm>
            <a:off x="1399032" y="3438144"/>
            <a:ext cx="2834640" cy="548640"/>
          </a:xfrm>
          <a:prstGeom prst="rect">
            <a:avLst/>
          </a:prstGeom>
          <a:noFill/>
          <a:ln/>
        </p:spPr>
        <p:txBody>
          <a:bodyPr wrap="square" lIns="0" tIns="0" rIns="0" bIns="0" rtlCol="0" anchor="t"/>
          <a:lstStyle/>
          <a:p>
            <a:pPr marL="0" indent="0">
              <a:buNone/>
            </a:pPr>
            <a:r>
              <a:rPr lang="en-US" sz="1050" dirty="0">
                <a:solidFill>
                  <a:srgbClr val="334155"/>
                </a:solidFill>
                <a:latin typeface="Calibri" pitchFamily="34" charset="0"/>
                <a:ea typeface="Calibri" pitchFamily="34" charset="-122"/>
                <a:cs typeface="Calibri" pitchFamily="34" charset="-120"/>
              </a:rPr>
              <a:t>Mapping sets, reusable catalog assets, and benchmark history.</a:t>
            </a:r>
            <a:endParaRPr lang="en-US" sz="1050" dirty="0"/>
          </a:p>
        </p:txBody>
      </p:sp>
      <p:sp>
        <p:nvSpPr>
          <p:cNvPr id="25" name="Shape 20"/>
          <p:cNvSpPr/>
          <p:nvPr/>
        </p:nvSpPr>
        <p:spPr>
          <a:xfrm>
            <a:off x="4709160" y="2926080"/>
            <a:ext cx="3931920" cy="1225296"/>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26" name="Shape 21"/>
          <p:cNvSpPr/>
          <p:nvPr/>
        </p:nvSpPr>
        <p:spPr>
          <a:xfrm>
            <a:off x="4709160" y="2926080"/>
            <a:ext cx="64008" cy="1225296"/>
          </a:xfrm>
          <a:prstGeom prst="rect">
            <a:avLst/>
          </a:prstGeom>
          <a:solidFill>
            <a:srgbClr val="0D9488"/>
          </a:solidFill>
          <a:ln/>
        </p:spPr>
        <p:txBody>
          <a:bodyPr/>
          <a:lstStyle/>
          <a:p>
            <a:endParaRPr lang="en-US"/>
          </a:p>
        </p:txBody>
      </p:sp>
      <p:sp>
        <p:nvSpPr>
          <p:cNvPr id="27" name="Text 22"/>
          <p:cNvSpPr/>
          <p:nvPr/>
        </p:nvSpPr>
        <p:spPr>
          <a:xfrm>
            <a:off x="7872984" y="3054096"/>
            <a:ext cx="640080" cy="310896"/>
          </a:xfrm>
          <a:prstGeom prst="rect">
            <a:avLst/>
          </a:prstGeom>
          <a:noFill/>
          <a:ln/>
        </p:spPr>
        <p:txBody>
          <a:bodyPr wrap="square" lIns="0" tIns="0" rIns="0" bIns="0" rtlCol="0" anchor="ctr"/>
          <a:lstStyle/>
          <a:p>
            <a:pPr marL="0" indent="0" algn="r">
              <a:buNone/>
            </a:pPr>
            <a:r>
              <a:rPr lang="en-US" sz="1700" b="1" dirty="0">
                <a:solidFill>
                  <a:srgbClr val="C7D6E2"/>
                </a:solidFill>
                <a:latin typeface="Georgia" pitchFamily="34" charset="0"/>
                <a:ea typeface="Georgia" pitchFamily="34" charset="-122"/>
                <a:cs typeface="Georgia" pitchFamily="34" charset="-120"/>
              </a:rPr>
              <a:t>04</a:t>
            </a:r>
            <a:endParaRPr lang="en-US" sz="1700" dirty="0"/>
          </a:p>
        </p:txBody>
      </p:sp>
      <p:sp>
        <p:nvSpPr>
          <p:cNvPr id="28" name="Shape 23"/>
          <p:cNvSpPr/>
          <p:nvPr/>
        </p:nvSpPr>
        <p:spPr>
          <a:xfrm>
            <a:off x="4946904" y="3108960"/>
            <a:ext cx="493776" cy="493776"/>
          </a:xfrm>
          <a:prstGeom prst="ellipse">
            <a:avLst/>
          </a:prstGeom>
          <a:solidFill>
            <a:srgbClr val="E6F4F2"/>
          </a:solidFill>
          <a:ln/>
        </p:spPr>
        <p:txBody>
          <a:bodyPr/>
          <a:lstStyle/>
          <a:p>
            <a:endParaRPr lang="en-US"/>
          </a:p>
        </p:txBody>
      </p:sp>
      <p:pic>
        <p:nvPicPr>
          <p:cNvPr id="29" name="Image 3" descr="preencoded.png"/>
          <p:cNvPicPr>
            <a:picLocks noChangeAspect="1"/>
          </p:cNvPicPr>
          <p:nvPr/>
        </p:nvPicPr>
        <p:blipFill>
          <a:blip r:embed="rId6"/>
          <a:stretch>
            <a:fillRect/>
          </a:stretch>
        </p:blipFill>
        <p:spPr>
          <a:xfrm>
            <a:off x="5065776" y="3227832"/>
            <a:ext cx="256032" cy="256032"/>
          </a:xfrm>
          <a:prstGeom prst="rect">
            <a:avLst/>
          </a:prstGeom>
        </p:spPr>
      </p:pic>
      <p:sp>
        <p:nvSpPr>
          <p:cNvPr id="30" name="Text 24"/>
          <p:cNvSpPr/>
          <p:nvPr/>
        </p:nvSpPr>
        <p:spPr>
          <a:xfrm>
            <a:off x="5605272" y="3108960"/>
            <a:ext cx="2240280" cy="274320"/>
          </a:xfrm>
          <a:prstGeom prst="rect">
            <a:avLst/>
          </a:prstGeom>
          <a:noFill/>
          <a:ln/>
        </p:spPr>
        <p:txBody>
          <a:bodyPr wrap="square" lIns="0" tIns="0" rIns="0" bIns="0" rtlCol="0" anchor="ctr"/>
          <a:lstStyle/>
          <a:p>
            <a:pPr marL="0" indent="0">
              <a:buNone/>
            </a:pPr>
            <a:r>
              <a:rPr lang="en-US" sz="1400" b="1" dirty="0">
                <a:solidFill>
                  <a:srgbClr val="0F2A43"/>
                </a:solidFill>
                <a:latin typeface="Calibri" pitchFamily="34" charset="0"/>
                <a:ea typeface="Calibri" pitchFamily="34" charset="-122"/>
                <a:cs typeface="Calibri" pitchFamily="34" charset="-120"/>
              </a:rPr>
              <a:t>Explicit control</a:t>
            </a:r>
            <a:endParaRPr lang="en-US" sz="1400" dirty="0"/>
          </a:p>
        </p:txBody>
      </p:sp>
      <p:sp>
        <p:nvSpPr>
          <p:cNvPr id="31" name="Text 25"/>
          <p:cNvSpPr/>
          <p:nvPr/>
        </p:nvSpPr>
        <p:spPr>
          <a:xfrm>
            <a:off x="5605272" y="3438144"/>
            <a:ext cx="2834640" cy="548640"/>
          </a:xfrm>
          <a:prstGeom prst="rect">
            <a:avLst/>
          </a:prstGeom>
          <a:noFill/>
          <a:ln/>
        </p:spPr>
        <p:txBody>
          <a:bodyPr wrap="square" lIns="0" tIns="0" rIns="0" bIns="0" rtlCol="0" anchor="t"/>
          <a:lstStyle/>
          <a:p>
            <a:pPr marL="0" indent="0">
              <a:buNone/>
            </a:pPr>
            <a:r>
              <a:rPr lang="en-US" sz="1050" dirty="0">
                <a:solidFill>
                  <a:srgbClr val="334155"/>
                </a:solidFill>
                <a:latin typeface="Calibri" pitchFamily="34" charset="0"/>
                <a:ea typeface="Calibri" pitchFamily="34" charset="-122"/>
                <a:cs typeface="Calibri" pitchFamily="34" charset="-120"/>
              </a:rPr>
              <a:t>Clear control points instead of blind automation.</a:t>
            </a:r>
            <a:endParaRPr lang="en-US" sz="1050" dirty="0"/>
          </a:p>
        </p:txBody>
      </p:sp>
      <p:sp>
        <p:nvSpPr>
          <p:cNvPr id="32" name="Text 26"/>
          <p:cNvSpPr/>
          <p:nvPr/>
        </p:nvSpPr>
        <p:spPr>
          <a:xfrm>
            <a:off x="502920" y="4206240"/>
            <a:ext cx="8138160" cy="310896"/>
          </a:xfrm>
          <a:prstGeom prst="rect">
            <a:avLst/>
          </a:prstGeom>
          <a:noFill/>
          <a:ln/>
        </p:spPr>
        <p:txBody>
          <a:bodyPr wrap="square" lIns="0" tIns="0" rIns="0" bIns="0" rtlCol="0" anchor="ctr"/>
          <a:lstStyle/>
          <a:p>
            <a:pPr marL="0" indent="0" algn="ctr">
              <a:buNone/>
            </a:pPr>
            <a:r>
              <a:rPr lang="en-US" sz="1250" b="1" i="1" dirty="0">
                <a:solidFill>
                  <a:srgbClr val="0D9488"/>
                </a:solidFill>
                <a:latin typeface="Calibri" pitchFamily="34" charset="0"/>
                <a:ea typeface="Calibri" pitchFamily="34" charset="-122"/>
                <a:cs typeface="Calibri" pitchFamily="34" charset="-120"/>
              </a:rPr>
              <a:t>Trust comes from control, explainability, and reviewability.</a:t>
            </a:r>
            <a:endParaRPr lang="en-US" sz="1250" dirty="0"/>
          </a:p>
        </p:txBody>
      </p:sp>
      <p:sp>
        <p:nvSpPr>
          <p:cNvPr id="33" name="Shape 27"/>
          <p:cNvSpPr/>
          <p:nvPr/>
        </p:nvSpPr>
        <p:spPr>
          <a:xfrm>
            <a:off x="502920" y="4718304"/>
            <a:ext cx="8138160" cy="0"/>
          </a:xfrm>
          <a:prstGeom prst="line">
            <a:avLst/>
          </a:prstGeom>
          <a:noFill/>
          <a:ln w="12700">
            <a:solidFill>
              <a:srgbClr val="DCE5EE"/>
            </a:solidFill>
            <a:prstDash val="solid"/>
          </a:ln>
        </p:spPr>
        <p:txBody>
          <a:bodyPr/>
          <a:lstStyle/>
          <a:p>
            <a:endParaRPr lang="en-US"/>
          </a:p>
        </p:txBody>
      </p:sp>
      <p:sp>
        <p:nvSpPr>
          <p:cNvPr id="34" name="Shape 28"/>
          <p:cNvSpPr/>
          <p:nvPr/>
        </p:nvSpPr>
        <p:spPr>
          <a:xfrm>
            <a:off x="502920" y="4846320"/>
            <a:ext cx="73152" cy="73152"/>
          </a:xfrm>
          <a:prstGeom prst="ellipse">
            <a:avLst/>
          </a:prstGeom>
          <a:solidFill>
            <a:srgbClr val="0D9488"/>
          </a:solidFill>
          <a:ln/>
        </p:spPr>
        <p:txBody>
          <a:bodyPr/>
          <a:lstStyle/>
          <a:p>
            <a:endParaRPr lang="en-US"/>
          </a:p>
        </p:txBody>
      </p:sp>
      <p:sp>
        <p:nvSpPr>
          <p:cNvPr id="35" name="Text 29"/>
          <p:cNvSpPr/>
          <p:nvPr/>
        </p:nvSpPr>
        <p:spPr>
          <a:xfrm>
            <a:off x="649224" y="4764024"/>
            <a:ext cx="2743200" cy="237744"/>
          </a:xfrm>
          <a:prstGeom prst="rect">
            <a:avLst/>
          </a:prstGeom>
          <a:noFill/>
          <a:ln/>
        </p:spPr>
        <p:txBody>
          <a:bodyPr wrap="square" lIns="0" tIns="0" rIns="0" bIns="0" rtlCol="0" anchor="ctr"/>
          <a:lstStyle/>
          <a:p>
            <a:pPr marL="0" indent="0">
              <a:buNone/>
            </a:pPr>
            <a:r>
              <a:rPr lang="en-US" sz="950" b="1" kern="0" spc="200" dirty="0">
                <a:solidFill>
                  <a:srgbClr val="64748B"/>
                </a:solidFill>
                <a:latin typeface="Calibri" pitchFamily="34" charset="0"/>
                <a:ea typeface="Calibri" pitchFamily="34" charset="-122"/>
                <a:cs typeface="Calibri" pitchFamily="34" charset="-120"/>
              </a:rPr>
              <a:t>SEMANTRA</a:t>
            </a:r>
            <a:endParaRPr lang="en-US" sz="950" dirty="0"/>
          </a:p>
        </p:txBody>
      </p:sp>
      <p:sp>
        <p:nvSpPr>
          <p:cNvPr id="36" name="Text 30"/>
          <p:cNvSpPr/>
          <p:nvPr/>
        </p:nvSpPr>
        <p:spPr>
          <a:xfrm>
            <a:off x="4800600" y="4764024"/>
            <a:ext cx="2834640" cy="237744"/>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CONDENSED OVERVIEW</a:t>
            </a:r>
            <a:endParaRPr lang="en-US" sz="900" dirty="0"/>
          </a:p>
        </p:txBody>
      </p:sp>
      <p:sp>
        <p:nvSpPr>
          <p:cNvPr id="37" name="Text 31"/>
          <p:cNvSpPr/>
          <p:nvPr/>
        </p:nvSpPr>
        <p:spPr>
          <a:xfrm>
            <a:off x="7726680" y="4764024"/>
            <a:ext cx="914400" cy="237744"/>
          </a:xfrm>
          <a:prstGeom prst="rect">
            <a:avLst/>
          </a:prstGeom>
          <a:noFill/>
          <a:ln/>
        </p:spPr>
        <p:txBody>
          <a:bodyPr wrap="square" lIns="0" tIns="0" rIns="0" bIns="0" rtlCol="0" anchor="ctr"/>
          <a:lstStyle/>
          <a:p>
            <a:pPr marL="0" indent="0" algn="r">
              <a:buNone/>
            </a:pPr>
            <a:r>
              <a:rPr lang="en-US" sz="950" b="1" dirty="0">
                <a:solidFill>
                  <a:srgbClr val="0D9488"/>
                </a:solidFill>
                <a:latin typeface="Calibri" pitchFamily="34" charset="0"/>
                <a:ea typeface="Calibri" pitchFamily="34" charset="-122"/>
                <a:cs typeface="Calibri" pitchFamily="34" charset="-120"/>
              </a:rPr>
              <a:t>07 / 09</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10896"/>
            <a:ext cx="8138160" cy="274320"/>
          </a:xfrm>
          <a:prstGeom prst="rect">
            <a:avLst/>
          </a:prstGeom>
          <a:noFill/>
          <a:ln/>
        </p:spPr>
        <p:txBody>
          <a:bodyPr wrap="square" lIns="0" tIns="0" rIns="0" bIns="0" rtlCol="0" anchor="ctr"/>
          <a:lstStyle/>
          <a:p>
            <a:pPr marL="0" indent="0" algn="l">
              <a:buNone/>
            </a:pPr>
            <a:r>
              <a:rPr lang="en-US" sz="1150" b="1" kern="0" spc="200" dirty="0">
                <a:solidFill>
                  <a:srgbClr val="0D9488"/>
                </a:solidFill>
                <a:latin typeface="Calibri" pitchFamily="34" charset="0"/>
                <a:ea typeface="Calibri" pitchFamily="34" charset="-122"/>
                <a:cs typeface="Calibri" pitchFamily="34" charset="-120"/>
              </a:rPr>
              <a:t>WORKFLOW</a:t>
            </a:r>
            <a:endParaRPr lang="en-US" sz="1150" dirty="0"/>
          </a:p>
        </p:txBody>
      </p:sp>
      <p:sp>
        <p:nvSpPr>
          <p:cNvPr id="3" name="Text 1"/>
          <p:cNvSpPr/>
          <p:nvPr/>
        </p:nvSpPr>
        <p:spPr>
          <a:xfrm>
            <a:off x="502920" y="585216"/>
            <a:ext cx="8138160" cy="749808"/>
          </a:xfrm>
          <a:prstGeom prst="rect">
            <a:avLst/>
          </a:prstGeom>
          <a:noFill/>
          <a:ln/>
        </p:spPr>
        <p:txBody>
          <a:bodyPr wrap="square" lIns="0" tIns="0" rIns="0" bIns="0" rtlCol="0" anchor="t"/>
          <a:lstStyle/>
          <a:p>
            <a:pPr marL="0" indent="0" algn="l">
              <a:buNone/>
            </a:pPr>
            <a:r>
              <a:rPr lang="en-US" sz="2700" b="1" dirty="0">
                <a:solidFill>
                  <a:srgbClr val="0F2A43"/>
                </a:solidFill>
                <a:latin typeface="Georgia" pitchFamily="34" charset="0"/>
                <a:ea typeface="Georgia" pitchFamily="34" charset="-122"/>
                <a:cs typeface="Georgia" pitchFamily="34" charset="-120"/>
              </a:rPr>
              <a:t>How a team uses it</a:t>
            </a:r>
            <a:endParaRPr lang="en-US" sz="2700" dirty="0"/>
          </a:p>
        </p:txBody>
      </p:sp>
      <p:sp>
        <p:nvSpPr>
          <p:cNvPr id="4" name="Shape 2"/>
          <p:cNvSpPr/>
          <p:nvPr/>
        </p:nvSpPr>
        <p:spPr>
          <a:xfrm>
            <a:off x="502920" y="1645920"/>
            <a:ext cx="1746504" cy="1920240"/>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5" name="Shape 3"/>
          <p:cNvSpPr/>
          <p:nvPr/>
        </p:nvSpPr>
        <p:spPr>
          <a:xfrm>
            <a:off x="1101852" y="1883664"/>
            <a:ext cx="548640" cy="548640"/>
          </a:xfrm>
          <a:prstGeom prst="ellipse">
            <a:avLst/>
          </a:prstGeom>
          <a:solidFill>
            <a:srgbClr val="0D9488"/>
          </a:solidFill>
          <a:ln/>
        </p:spPr>
        <p:txBody>
          <a:bodyPr/>
          <a:lstStyle/>
          <a:p>
            <a:endParaRPr lang="en-US"/>
          </a:p>
        </p:txBody>
      </p:sp>
      <p:sp>
        <p:nvSpPr>
          <p:cNvPr id="6" name="Text 4"/>
          <p:cNvSpPr/>
          <p:nvPr/>
        </p:nvSpPr>
        <p:spPr>
          <a:xfrm>
            <a:off x="1101852" y="1883664"/>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pic>
        <p:nvPicPr>
          <p:cNvPr id="7" name="Image 0" descr="preencoded.png"/>
          <p:cNvPicPr>
            <a:picLocks noChangeAspect="1"/>
          </p:cNvPicPr>
          <p:nvPr/>
        </p:nvPicPr>
        <p:blipFill>
          <a:blip r:embed="rId3"/>
          <a:stretch>
            <a:fillRect/>
          </a:stretch>
        </p:blipFill>
        <p:spPr>
          <a:xfrm>
            <a:off x="1211580" y="2596896"/>
            <a:ext cx="329184" cy="329184"/>
          </a:xfrm>
          <a:prstGeom prst="rect">
            <a:avLst/>
          </a:prstGeom>
        </p:spPr>
      </p:pic>
      <p:sp>
        <p:nvSpPr>
          <p:cNvPr id="8" name="Text 5"/>
          <p:cNvSpPr/>
          <p:nvPr/>
        </p:nvSpPr>
        <p:spPr>
          <a:xfrm>
            <a:off x="594360" y="2980944"/>
            <a:ext cx="1563624" cy="274320"/>
          </a:xfrm>
          <a:prstGeom prst="rect">
            <a:avLst/>
          </a:prstGeom>
          <a:noFill/>
          <a:ln/>
        </p:spPr>
        <p:txBody>
          <a:bodyPr wrap="square" lIns="0" tIns="0" rIns="0" bIns="0" rtlCol="0" anchor="ctr"/>
          <a:lstStyle/>
          <a:p>
            <a:pPr marL="0" indent="0" algn="ctr">
              <a:buNone/>
            </a:pPr>
            <a:r>
              <a:rPr lang="en-US" sz="1250" b="1" dirty="0">
                <a:solidFill>
                  <a:srgbClr val="0F2A43"/>
                </a:solidFill>
                <a:latin typeface="Calibri" pitchFamily="34" charset="0"/>
                <a:ea typeface="Calibri" pitchFamily="34" charset="-122"/>
                <a:cs typeface="Calibri" pitchFamily="34" charset="-120"/>
              </a:rPr>
              <a:t>Ingest</a:t>
            </a:r>
            <a:endParaRPr lang="en-US" sz="1250" dirty="0"/>
          </a:p>
        </p:txBody>
      </p:sp>
      <p:sp>
        <p:nvSpPr>
          <p:cNvPr id="9" name="Text 6"/>
          <p:cNvSpPr/>
          <p:nvPr/>
        </p:nvSpPr>
        <p:spPr>
          <a:xfrm>
            <a:off x="594360" y="3255264"/>
            <a:ext cx="1563624" cy="292608"/>
          </a:xfrm>
          <a:prstGeom prst="rect">
            <a:avLst/>
          </a:prstGeom>
          <a:noFill/>
          <a:ln/>
        </p:spPr>
        <p:txBody>
          <a:bodyPr wrap="square" lIns="0" tIns="0" rIns="0" bIns="0" rtlCol="0" anchor="t"/>
          <a:lstStyle/>
          <a:p>
            <a:pPr marL="0" indent="0" algn="ctr">
              <a:buNone/>
            </a:pPr>
            <a:r>
              <a:rPr lang="en-US" sz="950" dirty="0">
                <a:solidFill>
                  <a:srgbClr val="334155"/>
                </a:solidFill>
                <a:latin typeface="Calibri" pitchFamily="34" charset="0"/>
                <a:ea typeface="Calibri" pitchFamily="34" charset="-122"/>
                <a:cs typeface="Calibri" pitchFamily="34" charset="-120"/>
              </a:rPr>
              <a:t>Source &amp; target structures.</a:t>
            </a:r>
            <a:endParaRPr lang="en-US" sz="950" dirty="0"/>
          </a:p>
        </p:txBody>
      </p:sp>
      <p:sp>
        <p:nvSpPr>
          <p:cNvPr id="10" name="Text 7"/>
          <p:cNvSpPr/>
          <p:nvPr/>
        </p:nvSpPr>
        <p:spPr>
          <a:xfrm>
            <a:off x="2249424" y="2011680"/>
            <a:ext cx="384048" cy="457200"/>
          </a:xfrm>
          <a:prstGeom prst="rect">
            <a:avLst/>
          </a:prstGeom>
          <a:noFill/>
          <a:ln/>
        </p:spPr>
        <p:txBody>
          <a:bodyPr wrap="square" lIns="0" tIns="0" rIns="0" bIns="0" rtlCol="0" anchor="ctr"/>
          <a:lstStyle/>
          <a:p>
            <a:pPr marL="0" indent="0" algn="ctr">
              <a:buNone/>
            </a:pPr>
            <a:r>
              <a:rPr lang="en-US" sz="2200" b="1" dirty="0">
                <a:solidFill>
                  <a:srgbClr val="0D9488"/>
                </a:solidFill>
                <a:latin typeface="Calibri" pitchFamily="34" charset="0"/>
                <a:ea typeface="Calibri" pitchFamily="34" charset="-122"/>
                <a:cs typeface="Calibri" pitchFamily="34" charset="-120"/>
              </a:rPr>
              <a:t>→</a:t>
            </a:r>
            <a:endParaRPr lang="en-US" sz="2200" dirty="0"/>
          </a:p>
        </p:txBody>
      </p:sp>
      <p:sp>
        <p:nvSpPr>
          <p:cNvPr id="11" name="Shape 8"/>
          <p:cNvSpPr/>
          <p:nvPr/>
        </p:nvSpPr>
        <p:spPr>
          <a:xfrm>
            <a:off x="2633472" y="1645920"/>
            <a:ext cx="1746504" cy="1920240"/>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12" name="Shape 9"/>
          <p:cNvSpPr/>
          <p:nvPr/>
        </p:nvSpPr>
        <p:spPr>
          <a:xfrm>
            <a:off x="3232404" y="1883664"/>
            <a:ext cx="548640" cy="548640"/>
          </a:xfrm>
          <a:prstGeom prst="ellipse">
            <a:avLst/>
          </a:prstGeom>
          <a:solidFill>
            <a:srgbClr val="0D9488"/>
          </a:solidFill>
          <a:ln/>
        </p:spPr>
        <p:txBody>
          <a:bodyPr/>
          <a:lstStyle/>
          <a:p>
            <a:endParaRPr lang="en-US"/>
          </a:p>
        </p:txBody>
      </p:sp>
      <p:sp>
        <p:nvSpPr>
          <p:cNvPr id="13" name="Text 10"/>
          <p:cNvSpPr/>
          <p:nvPr/>
        </p:nvSpPr>
        <p:spPr>
          <a:xfrm>
            <a:off x="3232404" y="1883664"/>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pic>
        <p:nvPicPr>
          <p:cNvPr id="14" name="Image 1" descr="preencoded.png"/>
          <p:cNvPicPr>
            <a:picLocks noChangeAspect="1"/>
          </p:cNvPicPr>
          <p:nvPr/>
        </p:nvPicPr>
        <p:blipFill>
          <a:blip r:embed="rId4"/>
          <a:stretch>
            <a:fillRect/>
          </a:stretch>
        </p:blipFill>
        <p:spPr>
          <a:xfrm>
            <a:off x="3342132" y="2596896"/>
            <a:ext cx="329184" cy="329184"/>
          </a:xfrm>
          <a:prstGeom prst="rect">
            <a:avLst/>
          </a:prstGeom>
        </p:spPr>
      </p:pic>
      <p:sp>
        <p:nvSpPr>
          <p:cNvPr id="15" name="Text 11"/>
          <p:cNvSpPr/>
          <p:nvPr/>
        </p:nvSpPr>
        <p:spPr>
          <a:xfrm>
            <a:off x="2724912" y="2980944"/>
            <a:ext cx="1563624" cy="274320"/>
          </a:xfrm>
          <a:prstGeom prst="rect">
            <a:avLst/>
          </a:prstGeom>
          <a:noFill/>
          <a:ln/>
        </p:spPr>
        <p:txBody>
          <a:bodyPr wrap="square" lIns="0" tIns="0" rIns="0" bIns="0" rtlCol="0" anchor="ctr"/>
          <a:lstStyle/>
          <a:p>
            <a:pPr marL="0" indent="0" algn="ctr">
              <a:buNone/>
            </a:pPr>
            <a:r>
              <a:rPr lang="en-US" sz="1250" b="1" dirty="0">
                <a:solidFill>
                  <a:srgbClr val="0F2A43"/>
                </a:solidFill>
                <a:latin typeface="Calibri" pitchFamily="34" charset="0"/>
                <a:ea typeface="Calibri" pitchFamily="34" charset="-122"/>
                <a:cs typeface="Calibri" pitchFamily="34" charset="-120"/>
              </a:rPr>
              <a:t>Generate &amp; review</a:t>
            </a:r>
            <a:endParaRPr lang="en-US" sz="1250" dirty="0"/>
          </a:p>
        </p:txBody>
      </p:sp>
      <p:sp>
        <p:nvSpPr>
          <p:cNvPr id="16" name="Text 12"/>
          <p:cNvSpPr/>
          <p:nvPr/>
        </p:nvSpPr>
        <p:spPr>
          <a:xfrm>
            <a:off x="2724912" y="3255264"/>
            <a:ext cx="1563624" cy="292608"/>
          </a:xfrm>
          <a:prstGeom prst="rect">
            <a:avLst/>
          </a:prstGeom>
          <a:noFill/>
          <a:ln/>
        </p:spPr>
        <p:txBody>
          <a:bodyPr wrap="square" lIns="0" tIns="0" rIns="0" bIns="0" rtlCol="0" anchor="t"/>
          <a:lstStyle/>
          <a:p>
            <a:pPr marL="0" indent="0" algn="ctr">
              <a:buNone/>
            </a:pPr>
            <a:r>
              <a:rPr lang="en-US" sz="950" dirty="0">
                <a:solidFill>
                  <a:srgbClr val="334155"/>
                </a:solidFill>
                <a:latin typeface="Calibri" pitchFamily="34" charset="0"/>
                <a:ea typeface="Calibri" pitchFamily="34" charset="-122"/>
                <a:cs typeface="Calibri" pitchFamily="34" charset="-120"/>
              </a:rPr>
              <a:t>Create and review mapping suggestions.</a:t>
            </a:r>
            <a:endParaRPr lang="en-US" sz="950" dirty="0"/>
          </a:p>
        </p:txBody>
      </p:sp>
      <p:sp>
        <p:nvSpPr>
          <p:cNvPr id="17" name="Text 13"/>
          <p:cNvSpPr/>
          <p:nvPr/>
        </p:nvSpPr>
        <p:spPr>
          <a:xfrm>
            <a:off x="4379976" y="2011680"/>
            <a:ext cx="384048" cy="457200"/>
          </a:xfrm>
          <a:prstGeom prst="rect">
            <a:avLst/>
          </a:prstGeom>
          <a:noFill/>
          <a:ln/>
        </p:spPr>
        <p:txBody>
          <a:bodyPr wrap="square" lIns="0" tIns="0" rIns="0" bIns="0" rtlCol="0" anchor="ctr"/>
          <a:lstStyle/>
          <a:p>
            <a:pPr marL="0" indent="0" algn="ctr">
              <a:buNone/>
            </a:pPr>
            <a:r>
              <a:rPr lang="en-US" sz="2200" b="1" dirty="0">
                <a:solidFill>
                  <a:srgbClr val="0D9488"/>
                </a:solidFill>
                <a:latin typeface="Calibri" pitchFamily="34" charset="0"/>
                <a:ea typeface="Calibri" pitchFamily="34" charset="-122"/>
                <a:cs typeface="Calibri" pitchFamily="34" charset="-120"/>
              </a:rPr>
              <a:t>→</a:t>
            </a:r>
            <a:endParaRPr lang="en-US" sz="2200" dirty="0"/>
          </a:p>
        </p:txBody>
      </p:sp>
      <p:sp>
        <p:nvSpPr>
          <p:cNvPr id="18" name="Shape 14"/>
          <p:cNvSpPr/>
          <p:nvPr/>
        </p:nvSpPr>
        <p:spPr>
          <a:xfrm>
            <a:off x="4764024" y="1645920"/>
            <a:ext cx="1746504" cy="1920240"/>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19" name="Shape 15"/>
          <p:cNvSpPr/>
          <p:nvPr/>
        </p:nvSpPr>
        <p:spPr>
          <a:xfrm>
            <a:off x="5362956" y="1883664"/>
            <a:ext cx="548640" cy="548640"/>
          </a:xfrm>
          <a:prstGeom prst="ellipse">
            <a:avLst/>
          </a:prstGeom>
          <a:solidFill>
            <a:srgbClr val="0D9488"/>
          </a:solidFill>
          <a:ln/>
        </p:spPr>
        <p:txBody>
          <a:bodyPr/>
          <a:lstStyle/>
          <a:p>
            <a:endParaRPr lang="en-US"/>
          </a:p>
        </p:txBody>
      </p:sp>
      <p:sp>
        <p:nvSpPr>
          <p:cNvPr id="20" name="Text 16"/>
          <p:cNvSpPr/>
          <p:nvPr/>
        </p:nvSpPr>
        <p:spPr>
          <a:xfrm>
            <a:off x="5362956" y="1883664"/>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pic>
        <p:nvPicPr>
          <p:cNvPr id="21" name="Image 2" descr="preencoded.png"/>
          <p:cNvPicPr>
            <a:picLocks noChangeAspect="1"/>
          </p:cNvPicPr>
          <p:nvPr/>
        </p:nvPicPr>
        <p:blipFill>
          <a:blip r:embed="rId5"/>
          <a:stretch>
            <a:fillRect/>
          </a:stretch>
        </p:blipFill>
        <p:spPr>
          <a:xfrm>
            <a:off x="5472684" y="2596896"/>
            <a:ext cx="329184" cy="329184"/>
          </a:xfrm>
          <a:prstGeom prst="rect">
            <a:avLst/>
          </a:prstGeom>
        </p:spPr>
      </p:pic>
      <p:sp>
        <p:nvSpPr>
          <p:cNvPr id="22" name="Text 17"/>
          <p:cNvSpPr/>
          <p:nvPr/>
        </p:nvSpPr>
        <p:spPr>
          <a:xfrm>
            <a:off x="4855464" y="2980944"/>
            <a:ext cx="1563624" cy="274320"/>
          </a:xfrm>
          <a:prstGeom prst="rect">
            <a:avLst/>
          </a:prstGeom>
          <a:noFill/>
          <a:ln/>
        </p:spPr>
        <p:txBody>
          <a:bodyPr wrap="square" lIns="0" tIns="0" rIns="0" bIns="0" rtlCol="0" anchor="ctr"/>
          <a:lstStyle/>
          <a:p>
            <a:pPr marL="0" indent="0" algn="ctr">
              <a:buNone/>
            </a:pPr>
            <a:r>
              <a:rPr lang="en-US" sz="1250" b="1" dirty="0">
                <a:solidFill>
                  <a:srgbClr val="0F2A43"/>
                </a:solidFill>
                <a:latin typeface="Calibri" pitchFamily="34" charset="0"/>
                <a:ea typeface="Calibri" pitchFamily="34" charset="-122"/>
                <a:cs typeface="Calibri" pitchFamily="34" charset="-120"/>
              </a:rPr>
              <a:t>Inspect</a:t>
            </a:r>
            <a:endParaRPr lang="en-US" sz="1250" dirty="0"/>
          </a:p>
        </p:txBody>
      </p:sp>
      <p:sp>
        <p:nvSpPr>
          <p:cNvPr id="23" name="Text 18"/>
          <p:cNvSpPr/>
          <p:nvPr/>
        </p:nvSpPr>
        <p:spPr>
          <a:xfrm>
            <a:off x="4855464" y="3255264"/>
            <a:ext cx="1563624" cy="292608"/>
          </a:xfrm>
          <a:prstGeom prst="rect">
            <a:avLst/>
          </a:prstGeom>
          <a:noFill/>
          <a:ln/>
        </p:spPr>
        <p:txBody>
          <a:bodyPr wrap="square" lIns="0" tIns="0" rIns="0" bIns="0" rtlCol="0" anchor="t"/>
          <a:lstStyle/>
          <a:p>
            <a:pPr marL="0" indent="0" algn="ctr">
              <a:buNone/>
            </a:pPr>
            <a:r>
              <a:rPr lang="en-US" sz="950" dirty="0">
                <a:solidFill>
                  <a:srgbClr val="334155"/>
                </a:solidFill>
                <a:latin typeface="Calibri" pitchFamily="34" charset="0"/>
                <a:ea typeface="Calibri" pitchFamily="34" charset="-122"/>
                <a:cs typeface="Calibri" pitchFamily="34" charset="-120"/>
              </a:rPr>
              <a:t>Trust, canonical paths, and target contract.</a:t>
            </a:r>
            <a:endParaRPr lang="en-US" sz="950" dirty="0"/>
          </a:p>
        </p:txBody>
      </p:sp>
      <p:sp>
        <p:nvSpPr>
          <p:cNvPr id="24" name="Text 19"/>
          <p:cNvSpPr/>
          <p:nvPr/>
        </p:nvSpPr>
        <p:spPr>
          <a:xfrm>
            <a:off x="6510528" y="2011680"/>
            <a:ext cx="384048" cy="457200"/>
          </a:xfrm>
          <a:prstGeom prst="rect">
            <a:avLst/>
          </a:prstGeom>
          <a:noFill/>
          <a:ln/>
        </p:spPr>
        <p:txBody>
          <a:bodyPr wrap="square" lIns="0" tIns="0" rIns="0" bIns="0" rtlCol="0" anchor="ctr"/>
          <a:lstStyle/>
          <a:p>
            <a:pPr marL="0" indent="0" algn="ctr">
              <a:buNone/>
            </a:pPr>
            <a:r>
              <a:rPr lang="en-US" sz="2200" b="1" dirty="0">
                <a:solidFill>
                  <a:srgbClr val="0D9488"/>
                </a:solidFill>
                <a:latin typeface="Calibri" pitchFamily="34" charset="0"/>
                <a:ea typeface="Calibri" pitchFamily="34" charset="-122"/>
                <a:cs typeface="Calibri" pitchFamily="34" charset="-120"/>
              </a:rPr>
              <a:t>→</a:t>
            </a:r>
            <a:endParaRPr lang="en-US" sz="2200" dirty="0"/>
          </a:p>
        </p:txBody>
      </p:sp>
      <p:sp>
        <p:nvSpPr>
          <p:cNvPr id="25" name="Shape 20"/>
          <p:cNvSpPr/>
          <p:nvPr/>
        </p:nvSpPr>
        <p:spPr>
          <a:xfrm>
            <a:off x="6894576" y="1645920"/>
            <a:ext cx="1746504" cy="1920240"/>
          </a:xfrm>
          <a:prstGeom prst="rect">
            <a:avLst/>
          </a:prstGeom>
          <a:solidFill>
            <a:srgbClr val="F4F7FA"/>
          </a:solidFill>
          <a:ln w="12700">
            <a:solidFill>
              <a:srgbClr val="DCE5EE"/>
            </a:solidFill>
            <a:prstDash val="solid"/>
          </a:ln>
          <a:effectLst>
            <a:outerShdw blurRad="114300" dist="38100" dir="5400000" algn="bl" rotWithShape="0">
              <a:srgbClr val="0F2A43">
                <a:alpha val="10000"/>
              </a:srgbClr>
            </a:outerShdw>
          </a:effectLst>
        </p:spPr>
        <p:txBody>
          <a:bodyPr/>
          <a:lstStyle/>
          <a:p>
            <a:endParaRPr lang="en-US"/>
          </a:p>
        </p:txBody>
      </p:sp>
      <p:sp>
        <p:nvSpPr>
          <p:cNvPr id="26" name="Shape 21"/>
          <p:cNvSpPr/>
          <p:nvPr/>
        </p:nvSpPr>
        <p:spPr>
          <a:xfrm>
            <a:off x="7493508" y="1883664"/>
            <a:ext cx="548640" cy="548640"/>
          </a:xfrm>
          <a:prstGeom prst="ellipse">
            <a:avLst/>
          </a:prstGeom>
          <a:solidFill>
            <a:srgbClr val="0D9488"/>
          </a:solidFill>
          <a:ln/>
        </p:spPr>
        <p:txBody>
          <a:bodyPr/>
          <a:lstStyle/>
          <a:p>
            <a:endParaRPr lang="en-US"/>
          </a:p>
        </p:txBody>
      </p:sp>
      <p:sp>
        <p:nvSpPr>
          <p:cNvPr id="27" name="Text 22"/>
          <p:cNvSpPr/>
          <p:nvPr/>
        </p:nvSpPr>
        <p:spPr>
          <a:xfrm>
            <a:off x="7493508" y="1883664"/>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pic>
        <p:nvPicPr>
          <p:cNvPr id="28" name="Image 3" descr="preencoded.png"/>
          <p:cNvPicPr>
            <a:picLocks noChangeAspect="1"/>
          </p:cNvPicPr>
          <p:nvPr/>
        </p:nvPicPr>
        <p:blipFill>
          <a:blip r:embed="rId6"/>
          <a:stretch>
            <a:fillRect/>
          </a:stretch>
        </p:blipFill>
        <p:spPr>
          <a:xfrm>
            <a:off x="7603236" y="2596896"/>
            <a:ext cx="329184" cy="329184"/>
          </a:xfrm>
          <a:prstGeom prst="rect">
            <a:avLst/>
          </a:prstGeom>
        </p:spPr>
      </p:pic>
      <p:sp>
        <p:nvSpPr>
          <p:cNvPr id="29" name="Text 23"/>
          <p:cNvSpPr/>
          <p:nvPr/>
        </p:nvSpPr>
        <p:spPr>
          <a:xfrm>
            <a:off x="6986016" y="2980944"/>
            <a:ext cx="1563624" cy="274320"/>
          </a:xfrm>
          <a:prstGeom prst="rect">
            <a:avLst/>
          </a:prstGeom>
          <a:noFill/>
          <a:ln/>
        </p:spPr>
        <p:txBody>
          <a:bodyPr wrap="square" lIns="0" tIns="0" rIns="0" bIns="0" rtlCol="0" anchor="ctr"/>
          <a:lstStyle/>
          <a:p>
            <a:pPr marL="0" indent="0" algn="ctr">
              <a:buNone/>
            </a:pPr>
            <a:r>
              <a:rPr lang="en-US" sz="1250" b="1" dirty="0">
                <a:solidFill>
                  <a:srgbClr val="0F2A43"/>
                </a:solidFill>
                <a:latin typeface="Calibri" pitchFamily="34" charset="0"/>
                <a:ea typeface="Calibri" pitchFamily="34" charset="-122"/>
                <a:cs typeface="Calibri" pitchFamily="34" charset="-120"/>
              </a:rPr>
              <a:t>Output &amp; reuse</a:t>
            </a:r>
            <a:endParaRPr lang="en-US" sz="1250" dirty="0"/>
          </a:p>
        </p:txBody>
      </p:sp>
      <p:sp>
        <p:nvSpPr>
          <p:cNvPr id="30" name="Text 24"/>
          <p:cNvSpPr/>
          <p:nvPr/>
        </p:nvSpPr>
        <p:spPr>
          <a:xfrm>
            <a:off x="6986016" y="3255264"/>
            <a:ext cx="1563624" cy="292608"/>
          </a:xfrm>
          <a:prstGeom prst="rect">
            <a:avLst/>
          </a:prstGeom>
          <a:noFill/>
          <a:ln/>
        </p:spPr>
        <p:txBody>
          <a:bodyPr wrap="square" lIns="0" tIns="0" rIns="0" bIns="0" rtlCol="0" anchor="t"/>
          <a:lstStyle/>
          <a:p>
            <a:pPr marL="0" indent="0" algn="ctr">
              <a:buNone/>
            </a:pPr>
            <a:r>
              <a:rPr lang="en-US" sz="950" dirty="0">
                <a:solidFill>
                  <a:srgbClr val="334155"/>
                </a:solidFill>
                <a:latin typeface="Calibri" pitchFamily="34" charset="0"/>
                <a:ea typeface="Calibri" pitchFamily="34" charset="-122"/>
                <a:cs typeface="Calibri" pitchFamily="34" charset="-120"/>
              </a:rPr>
              <a:t>Generate, save governed artifacts, reuse later.</a:t>
            </a:r>
            <a:endParaRPr lang="en-US" sz="950" dirty="0"/>
          </a:p>
        </p:txBody>
      </p:sp>
      <p:sp>
        <p:nvSpPr>
          <p:cNvPr id="31" name="Text 25"/>
          <p:cNvSpPr/>
          <p:nvPr/>
        </p:nvSpPr>
        <p:spPr>
          <a:xfrm>
            <a:off x="502920" y="4041648"/>
            <a:ext cx="8138160" cy="310896"/>
          </a:xfrm>
          <a:prstGeom prst="rect">
            <a:avLst/>
          </a:prstGeom>
          <a:noFill/>
          <a:ln/>
        </p:spPr>
        <p:txBody>
          <a:bodyPr wrap="square" lIns="0" tIns="0" rIns="0" bIns="0" rtlCol="0" anchor="ctr"/>
          <a:lstStyle/>
          <a:p>
            <a:pPr marL="0" indent="0" algn="ctr">
              <a:buNone/>
            </a:pPr>
            <a:r>
              <a:rPr lang="en-US" sz="1250" b="1" i="1" dirty="0">
                <a:solidFill>
                  <a:srgbClr val="0D9488"/>
                </a:solidFill>
                <a:latin typeface="Calibri" pitchFamily="34" charset="0"/>
                <a:ea typeface="Calibri" pitchFamily="34" charset="-122"/>
                <a:cs typeface="Calibri" pitchFamily="34" charset="-120"/>
              </a:rPr>
              <a:t>An end-to-end analyst loop — not only one ranking step.</a:t>
            </a:r>
            <a:endParaRPr lang="en-US" sz="1250" dirty="0"/>
          </a:p>
        </p:txBody>
      </p:sp>
      <p:sp>
        <p:nvSpPr>
          <p:cNvPr id="32" name="Shape 26"/>
          <p:cNvSpPr/>
          <p:nvPr/>
        </p:nvSpPr>
        <p:spPr>
          <a:xfrm>
            <a:off x="502920" y="4718304"/>
            <a:ext cx="8138160" cy="0"/>
          </a:xfrm>
          <a:prstGeom prst="line">
            <a:avLst/>
          </a:prstGeom>
          <a:noFill/>
          <a:ln w="12700">
            <a:solidFill>
              <a:srgbClr val="DCE5EE"/>
            </a:solidFill>
            <a:prstDash val="solid"/>
          </a:ln>
        </p:spPr>
        <p:txBody>
          <a:bodyPr/>
          <a:lstStyle/>
          <a:p>
            <a:endParaRPr lang="en-US"/>
          </a:p>
        </p:txBody>
      </p:sp>
      <p:sp>
        <p:nvSpPr>
          <p:cNvPr id="33" name="Shape 27"/>
          <p:cNvSpPr/>
          <p:nvPr/>
        </p:nvSpPr>
        <p:spPr>
          <a:xfrm>
            <a:off x="502920" y="4846320"/>
            <a:ext cx="73152" cy="73152"/>
          </a:xfrm>
          <a:prstGeom prst="ellipse">
            <a:avLst/>
          </a:prstGeom>
          <a:solidFill>
            <a:srgbClr val="0D9488"/>
          </a:solidFill>
          <a:ln/>
        </p:spPr>
        <p:txBody>
          <a:bodyPr/>
          <a:lstStyle/>
          <a:p>
            <a:endParaRPr lang="en-US"/>
          </a:p>
        </p:txBody>
      </p:sp>
      <p:sp>
        <p:nvSpPr>
          <p:cNvPr id="34" name="Text 28"/>
          <p:cNvSpPr/>
          <p:nvPr/>
        </p:nvSpPr>
        <p:spPr>
          <a:xfrm>
            <a:off x="649224" y="4764024"/>
            <a:ext cx="2743200" cy="237744"/>
          </a:xfrm>
          <a:prstGeom prst="rect">
            <a:avLst/>
          </a:prstGeom>
          <a:noFill/>
          <a:ln/>
        </p:spPr>
        <p:txBody>
          <a:bodyPr wrap="square" lIns="0" tIns="0" rIns="0" bIns="0" rtlCol="0" anchor="ctr"/>
          <a:lstStyle/>
          <a:p>
            <a:pPr marL="0" indent="0">
              <a:buNone/>
            </a:pPr>
            <a:r>
              <a:rPr lang="en-US" sz="950" b="1" kern="0" spc="200" dirty="0">
                <a:solidFill>
                  <a:srgbClr val="64748B"/>
                </a:solidFill>
                <a:latin typeface="Calibri" pitchFamily="34" charset="0"/>
                <a:ea typeface="Calibri" pitchFamily="34" charset="-122"/>
                <a:cs typeface="Calibri" pitchFamily="34" charset="-120"/>
              </a:rPr>
              <a:t>SEMANTRA</a:t>
            </a:r>
            <a:endParaRPr lang="en-US" sz="950" dirty="0"/>
          </a:p>
        </p:txBody>
      </p:sp>
      <p:sp>
        <p:nvSpPr>
          <p:cNvPr id="35" name="Text 29"/>
          <p:cNvSpPr/>
          <p:nvPr/>
        </p:nvSpPr>
        <p:spPr>
          <a:xfrm>
            <a:off x="4800600" y="4764024"/>
            <a:ext cx="2834640" cy="237744"/>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CONDENSED OVERVIEW</a:t>
            </a:r>
            <a:endParaRPr lang="en-US" sz="900" dirty="0"/>
          </a:p>
        </p:txBody>
      </p:sp>
      <p:sp>
        <p:nvSpPr>
          <p:cNvPr id="36" name="Text 30"/>
          <p:cNvSpPr/>
          <p:nvPr/>
        </p:nvSpPr>
        <p:spPr>
          <a:xfrm>
            <a:off x="7726680" y="4764024"/>
            <a:ext cx="914400" cy="237744"/>
          </a:xfrm>
          <a:prstGeom prst="rect">
            <a:avLst/>
          </a:prstGeom>
          <a:noFill/>
          <a:ln/>
        </p:spPr>
        <p:txBody>
          <a:bodyPr wrap="square" lIns="0" tIns="0" rIns="0" bIns="0" rtlCol="0" anchor="ctr"/>
          <a:lstStyle/>
          <a:p>
            <a:pPr marL="0" indent="0" algn="r">
              <a:buNone/>
            </a:pPr>
            <a:r>
              <a:rPr lang="en-US" sz="950" b="1" dirty="0">
                <a:solidFill>
                  <a:srgbClr val="0D9488"/>
                </a:solidFill>
                <a:latin typeface="Calibri" pitchFamily="34" charset="0"/>
                <a:ea typeface="Calibri" pitchFamily="34" charset="-122"/>
                <a:cs typeface="Calibri" pitchFamily="34" charset="-120"/>
              </a:rPr>
              <a:t>08 / 09</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B2236"/>
        </a:solidFill>
        <a:effectLst/>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0D9488"/>
          </a:solidFill>
          <a:ln/>
        </p:spPr>
        <p:txBody>
          <a:bodyPr/>
          <a:lstStyle/>
          <a:p>
            <a:endParaRPr lang="en-US"/>
          </a:p>
        </p:txBody>
      </p:sp>
      <p:sp>
        <p:nvSpPr>
          <p:cNvPr id="3" name="Text 1"/>
          <p:cNvSpPr/>
          <p:nvPr/>
        </p:nvSpPr>
        <p:spPr>
          <a:xfrm>
            <a:off x="777240" y="603504"/>
            <a:ext cx="5486400" cy="274320"/>
          </a:xfrm>
          <a:prstGeom prst="rect">
            <a:avLst/>
          </a:prstGeom>
          <a:noFill/>
          <a:ln/>
        </p:spPr>
        <p:txBody>
          <a:bodyPr wrap="square" lIns="0" tIns="0" rIns="0" bIns="0" rtlCol="0" anchor="ctr"/>
          <a:lstStyle/>
          <a:p>
            <a:pPr marL="0" indent="0">
              <a:buNone/>
            </a:pPr>
            <a:r>
              <a:rPr lang="en-US" sz="1200" b="1" kern="0" spc="250" dirty="0">
                <a:solidFill>
                  <a:srgbClr val="11B5A4"/>
                </a:solidFill>
                <a:latin typeface="Calibri" pitchFamily="34" charset="0"/>
                <a:ea typeface="Calibri" pitchFamily="34" charset="-122"/>
                <a:cs typeface="Calibri" pitchFamily="34" charset="-120"/>
              </a:rPr>
              <a:t>EXECUTIVE SUMMARY</a:t>
            </a:r>
            <a:endParaRPr lang="en-US" sz="1200" dirty="0"/>
          </a:p>
        </p:txBody>
      </p:sp>
      <p:sp>
        <p:nvSpPr>
          <p:cNvPr id="4" name="Text 2"/>
          <p:cNvSpPr/>
          <p:nvPr/>
        </p:nvSpPr>
        <p:spPr>
          <a:xfrm>
            <a:off x="749808" y="950976"/>
            <a:ext cx="7772400" cy="640080"/>
          </a:xfrm>
          <a:prstGeom prst="rect">
            <a:avLst/>
          </a:prstGeom>
          <a:noFill/>
          <a:ln/>
        </p:spPr>
        <p:txBody>
          <a:bodyPr wrap="square" lIns="0" tIns="0" rIns="0" bIns="0"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A governed, reusable delivery capability</a:t>
            </a:r>
            <a:endParaRPr lang="en-US" sz="3000" dirty="0"/>
          </a:p>
        </p:txBody>
      </p:sp>
      <p:sp>
        <p:nvSpPr>
          <p:cNvPr id="5" name="Shape 3"/>
          <p:cNvSpPr/>
          <p:nvPr/>
        </p:nvSpPr>
        <p:spPr>
          <a:xfrm>
            <a:off x="777240" y="1773936"/>
            <a:ext cx="7589520" cy="676656"/>
          </a:xfrm>
          <a:prstGeom prst="rect">
            <a:avLst/>
          </a:prstGeom>
          <a:solidFill>
            <a:srgbClr val="11314C"/>
          </a:solidFill>
          <a:ln/>
        </p:spPr>
        <p:txBody>
          <a:bodyPr/>
          <a:lstStyle/>
          <a:p>
            <a:endParaRPr lang="en-US"/>
          </a:p>
        </p:txBody>
      </p:sp>
      <p:sp>
        <p:nvSpPr>
          <p:cNvPr id="6" name="Shape 4"/>
          <p:cNvSpPr/>
          <p:nvPr/>
        </p:nvSpPr>
        <p:spPr>
          <a:xfrm>
            <a:off x="987552" y="1947672"/>
            <a:ext cx="347472" cy="347472"/>
          </a:xfrm>
          <a:prstGeom prst="ellipse">
            <a:avLst/>
          </a:prstGeom>
          <a:solidFill>
            <a:srgbClr val="0B2236"/>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069848" y="2029968"/>
            <a:ext cx="182880" cy="182880"/>
          </a:xfrm>
          <a:prstGeom prst="rect">
            <a:avLst/>
          </a:prstGeom>
        </p:spPr>
      </p:pic>
      <p:sp>
        <p:nvSpPr>
          <p:cNvPr id="8" name="Text 5"/>
          <p:cNvSpPr/>
          <p:nvPr/>
        </p:nvSpPr>
        <p:spPr>
          <a:xfrm>
            <a:off x="1508760" y="1847088"/>
            <a:ext cx="2743200" cy="53035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Reduces rework</a:t>
            </a:r>
            <a:endParaRPr lang="en-US" sz="1400" dirty="0"/>
          </a:p>
        </p:txBody>
      </p:sp>
      <p:sp>
        <p:nvSpPr>
          <p:cNvPr id="9" name="Text 6"/>
          <p:cNvSpPr/>
          <p:nvPr/>
        </p:nvSpPr>
        <p:spPr>
          <a:xfrm>
            <a:off x="4297680" y="1773936"/>
            <a:ext cx="3931920" cy="676656"/>
          </a:xfrm>
          <a:prstGeom prst="rect">
            <a:avLst/>
          </a:prstGeom>
          <a:noFill/>
          <a:ln/>
        </p:spPr>
        <p:txBody>
          <a:bodyPr wrap="square" lIns="0" tIns="0" rIns="0" bIns="0" rtlCol="0" anchor="ctr"/>
          <a:lstStyle/>
          <a:p>
            <a:pPr marL="0" indent="0">
              <a:buNone/>
            </a:pPr>
            <a:r>
              <a:rPr lang="en-US" sz="1150" dirty="0">
                <a:solidFill>
                  <a:srgbClr val="AEC2D4"/>
                </a:solidFill>
                <a:latin typeface="Calibri" pitchFamily="34" charset="0"/>
                <a:ea typeface="Calibri" pitchFamily="34" charset="-122"/>
                <a:cs typeface="Calibri" pitchFamily="34" charset="-120"/>
              </a:rPr>
              <a:t>Cuts repeated effort in mapping-heavy delivery work.</a:t>
            </a:r>
            <a:endParaRPr lang="en-US" sz="1150" dirty="0"/>
          </a:p>
        </p:txBody>
      </p:sp>
      <p:sp>
        <p:nvSpPr>
          <p:cNvPr id="10" name="Shape 7"/>
          <p:cNvSpPr/>
          <p:nvPr/>
        </p:nvSpPr>
        <p:spPr>
          <a:xfrm>
            <a:off x="777240" y="2578608"/>
            <a:ext cx="7589520" cy="676656"/>
          </a:xfrm>
          <a:prstGeom prst="rect">
            <a:avLst/>
          </a:prstGeom>
          <a:solidFill>
            <a:srgbClr val="11314C"/>
          </a:solidFill>
          <a:ln/>
        </p:spPr>
        <p:txBody>
          <a:bodyPr/>
          <a:lstStyle/>
          <a:p>
            <a:endParaRPr lang="en-US"/>
          </a:p>
        </p:txBody>
      </p:sp>
      <p:sp>
        <p:nvSpPr>
          <p:cNvPr id="11" name="Shape 8"/>
          <p:cNvSpPr/>
          <p:nvPr/>
        </p:nvSpPr>
        <p:spPr>
          <a:xfrm>
            <a:off x="987552" y="2752344"/>
            <a:ext cx="347472" cy="347472"/>
          </a:xfrm>
          <a:prstGeom prst="ellipse">
            <a:avLst/>
          </a:prstGeom>
          <a:solidFill>
            <a:srgbClr val="0B2236"/>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1069848" y="2834640"/>
            <a:ext cx="182880" cy="182880"/>
          </a:xfrm>
          <a:prstGeom prst="rect">
            <a:avLst/>
          </a:prstGeom>
        </p:spPr>
      </p:pic>
      <p:sp>
        <p:nvSpPr>
          <p:cNvPr id="13" name="Text 9"/>
          <p:cNvSpPr/>
          <p:nvPr/>
        </p:nvSpPr>
        <p:spPr>
          <a:xfrm>
            <a:off x="1508760" y="2651760"/>
            <a:ext cx="2743200" cy="53035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Explainable &amp; reviewable</a:t>
            </a:r>
            <a:endParaRPr lang="en-US" sz="1400" dirty="0"/>
          </a:p>
        </p:txBody>
      </p:sp>
      <p:sp>
        <p:nvSpPr>
          <p:cNvPr id="14" name="Text 10"/>
          <p:cNvSpPr/>
          <p:nvPr/>
        </p:nvSpPr>
        <p:spPr>
          <a:xfrm>
            <a:off x="4297680" y="2578608"/>
            <a:ext cx="3931920" cy="676656"/>
          </a:xfrm>
          <a:prstGeom prst="rect">
            <a:avLst/>
          </a:prstGeom>
          <a:noFill/>
          <a:ln/>
        </p:spPr>
        <p:txBody>
          <a:bodyPr wrap="square" lIns="0" tIns="0" rIns="0" bIns="0" rtlCol="0" anchor="ctr"/>
          <a:lstStyle/>
          <a:p>
            <a:pPr marL="0" indent="0">
              <a:buNone/>
            </a:pPr>
            <a:r>
              <a:rPr lang="en-US" sz="1150" dirty="0">
                <a:solidFill>
                  <a:srgbClr val="AEC2D4"/>
                </a:solidFill>
                <a:latin typeface="Calibri" pitchFamily="34" charset="0"/>
                <a:ea typeface="Calibri" pitchFamily="34" charset="-122"/>
                <a:cs typeface="Calibri" pitchFamily="34" charset="-120"/>
              </a:rPr>
              <a:t>Makes mapping decisions transparent and easy to approve.</a:t>
            </a:r>
            <a:endParaRPr lang="en-US" sz="1150" dirty="0"/>
          </a:p>
        </p:txBody>
      </p:sp>
      <p:sp>
        <p:nvSpPr>
          <p:cNvPr id="15" name="Shape 11"/>
          <p:cNvSpPr/>
          <p:nvPr/>
        </p:nvSpPr>
        <p:spPr>
          <a:xfrm>
            <a:off x="777240" y="3383280"/>
            <a:ext cx="7589520" cy="676656"/>
          </a:xfrm>
          <a:prstGeom prst="rect">
            <a:avLst/>
          </a:prstGeom>
          <a:solidFill>
            <a:srgbClr val="11314C"/>
          </a:solidFill>
          <a:ln/>
        </p:spPr>
        <p:txBody>
          <a:bodyPr/>
          <a:lstStyle/>
          <a:p>
            <a:endParaRPr lang="en-US"/>
          </a:p>
        </p:txBody>
      </p:sp>
      <p:sp>
        <p:nvSpPr>
          <p:cNvPr id="16" name="Shape 12"/>
          <p:cNvSpPr/>
          <p:nvPr/>
        </p:nvSpPr>
        <p:spPr>
          <a:xfrm>
            <a:off x="987552" y="3557016"/>
            <a:ext cx="347472" cy="347472"/>
          </a:xfrm>
          <a:prstGeom prst="ellipse">
            <a:avLst/>
          </a:prstGeom>
          <a:solidFill>
            <a:srgbClr val="0B2236"/>
          </a:solidFill>
          <a:ln/>
        </p:spPr>
        <p:txBody>
          <a:bodyPr/>
          <a:lstStyle/>
          <a:p>
            <a:endParaRPr lang="en-US"/>
          </a:p>
        </p:txBody>
      </p:sp>
      <p:pic>
        <p:nvPicPr>
          <p:cNvPr id="17" name="Image 2" descr="preencoded.png"/>
          <p:cNvPicPr>
            <a:picLocks noChangeAspect="1"/>
          </p:cNvPicPr>
          <p:nvPr/>
        </p:nvPicPr>
        <p:blipFill>
          <a:blip r:embed="rId5"/>
          <a:stretch>
            <a:fillRect/>
          </a:stretch>
        </p:blipFill>
        <p:spPr>
          <a:xfrm>
            <a:off x="1069848" y="3639312"/>
            <a:ext cx="182880" cy="182880"/>
          </a:xfrm>
          <a:prstGeom prst="rect">
            <a:avLst/>
          </a:prstGeom>
        </p:spPr>
      </p:pic>
      <p:sp>
        <p:nvSpPr>
          <p:cNvPr id="18" name="Text 13"/>
          <p:cNvSpPr/>
          <p:nvPr/>
        </p:nvSpPr>
        <p:spPr>
          <a:xfrm>
            <a:off x="1508760" y="3456432"/>
            <a:ext cx="2743200" cy="53035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Reusable output</a:t>
            </a:r>
            <a:endParaRPr lang="en-US" sz="1400" dirty="0"/>
          </a:p>
        </p:txBody>
      </p:sp>
      <p:sp>
        <p:nvSpPr>
          <p:cNvPr id="19" name="Text 14"/>
          <p:cNvSpPr/>
          <p:nvPr/>
        </p:nvSpPr>
        <p:spPr>
          <a:xfrm>
            <a:off x="4297680" y="3383280"/>
            <a:ext cx="3931920" cy="676656"/>
          </a:xfrm>
          <a:prstGeom prst="rect">
            <a:avLst/>
          </a:prstGeom>
          <a:noFill/>
          <a:ln/>
        </p:spPr>
        <p:txBody>
          <a:bodyPr wrap="square" lIns="0" tIns="0" rIns="0" bIns="0" rtlCol="0" anchor="ctr"/>
          <a:lstStyle/>
          <a:p>
            <a:pPr marL="0" indent="0">
              <a:buNone/>
            </a:pPr>
            <a:r>
              <a:rPr lang="en-US" sz="1150" dirty="0">
                <a:solidFill>
                  <a:srgbClr val="AEC2D4"/>
                </a:solidFill>
                <a:latin typeface="Calibri" pitchFamily="34" charset="0"/>
                <a:ea typeface="Calibri" pitchFamily="34" charset="-122"/>
                <a:cs typeface="Calibri" pitchFamily="34" charset="-120"/>
              </a:rPr>
              <a:t>Creates durable value for analysts, reviewers, and implementation teams.</a:t>
            </a:r>
            <a:endParaRPr lang="en-US" sz="1150" dirty="0"/>
          </a:p>
        </p:txBody>
      </p:sp>
      <p:sp>
        <p:nvSpPr>
          <p:cNvPr id="20" name="Text 15"/>
          <p:cNvSpPr/>
          <p:nvPr/>
        </p:nvSpPr>
        <p:spPr>
          <a:xfrm>
            <a:off x="777240" y="4133088"/>
            <a:ext cx="7589520" cy="365760"/>
          </a:xfrm>
          <a:prstGeom prst="rect">
            <a:avLst/>
          </a:prstGeom>
          <a:noFill/>
          <a:ln/>
        </p:spPr>
        <p:txBody>
          <a:bodyPr wrap="square" lIns="0" tIns="0" rIns="0" bIns="0" rtlCol="0" anchor="ctr"/>
          <a:lstStyle/>
          <a:p>
            <a:pPr marL="0" indent="0">
              <a:buNone/>
            </a:pPr>
            <a:r>
              <a:rPr lang="en-US" sz="1350" b="1" i="1" dirty="0">
                <a:solidFill>
                  <a:srgbClr val="11B5A4"/>
                </a:solidFill>
                <a:latin typeface="Calibri" pitchFamily="34" charset="0"/>
                <a:ea typeface="Calibri" pitchFamily="34" charset="-122"/>
                <a:cs typeface="Calibri" pitchFamily="34" charset="-120"/>
              </a:rPr>
              <a:t>This turns semantic integration work into a governed, reusable delivery capability.</a:t>
            </a:r>
            <a:endParaRPr lang="en-US" sz="1350" dirty="0"/>
          </a:p>
        </p:txBody>
      </p:sp>
      <p:sp>
        <p:nvSpPr>
          <p:cNvPr id="21" name="Text 16"/>
          <p:cNvSpPr/>
          <p:nvPr/>
        </p:nvSpPr>
        <p:spPr>
          <a:xfrm>
            <a:off x="777240" y="4626864"/>
            <a:ext cx="7589520" cy="274320"/>
          </a:xfrm>
          <a:prstGeom prst="rect">
            <a:avLst/>
          </a:prstGeom>
          <a:noFill/>
          <a:ln/>
        </p:spPr>
        <p:txBody>
          <a:bodyPr wrap="square" lIns="0" tIns="0" rIns="0" bIns="0" rtlCol="0" anchor="ctr"/>
          <a:lstStyle/>
          <a:p>
            <a:pPr marL="0" indent="0">
              <a:buNone/>
            </a:pPr>
            <a:r>
              <a:rPr lang="en-US" sz="1050" b="1" kern="0" spc="150" dirty="0">
                <a:solidFill>
                  <a:srgbClr val="6E869B"/>
                </a:solidFill>
                <a:latin typeface="Calibri" pitchFamily="34" charset="0"/>
                <a:ea typeface="Calibri" pitchFamily="34" charset="-122"/>
                <a:cs typeface="Calibri" pitchFamily="34" charset="-120"/>
              </a:rPr>
              <a:t>CONDENSED OVERVIEW  •  09 / 09</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TotalTime>
  <Words>4751</Words>
  <Application>Microsoft Office PowerPoint</Application>
  <PresentationFormat>On-screen Show (16:9)</PresentationFormat>
  <Paragraphs>486</Paragraphs>
  <Slides>27</Slides>
  <Notes>27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Milinkovic, Slavisa</dc:creator>
  <cp:lastModifiedBy>Milinkovic, Slavisa</cp:lastModifiedBy>
  <cp:revision>3</cp:revision>
  <dcterms:created xsi:type="dcterms:W3CDTF">2026-06-25T19:09:22Z</dcterms:created>
  <dcterms:modified xsi:type="dcterms:W3CDTF">2026-06-25T20:01:11Z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798273d-f5aa-46da-8e10-241f6dcd5f2d_Enabled">
    <vt:lpwstr>true</vt:lpwstr>
  </property>
  <property fmtid="{D5CDD505-2E9C-101B-9397-08002B2CF9AE}" pid="3" name="MSIP_Label_e798273d-f5aa-46da-8e10-241f6dcd5f2d_SetDate">
    <vt:lpwstr>2026-06-25T19:21:46Z</vt:lpwstr>
  </property>
  <property fmtid="{D5CDD505-2E9C-101B-9397-08002B2CF9AE}" pid="4" name="MSIP_Label_e798273d-f5aa-46da-8e10-241f6dcd5f2d_Method">
    <vt:lpwstr>Standard</vt:lpwstr>
  </property>
  <property fmtid="{D5CDD505-2E9C-101B-9397-08002B2CF9AE}" pid="5" name="MSIP_Label_e798273d-f5aa-46da-8e10-241f6dcd5f2d_Name">
    <vt:lpwstr>e798273d-f5aa-46da-8e10-241f6dcd5f2d</vt:lpwstr>
  </property>
  <property fmtid="{D5CDD505-2E9C-101B-9397-08002B2CF9AE}" pid="6" name="MSIP_Label_e798273d-f5aa-46da-8e10-241f6dcd5f2d_SiteId">
    <vt:lpwstr>c760270c-f3da-4cfa-9737-03808ef5579f</vt:lpwstr>
  </property>
  <property fmtid="{D5CDD505-2E9C-101B-9397-08002B2CF9AE}" pid="7" name="MSIP_Label_e798273d-f5aa-46da-8e10-241f6dcd5f2d_ActionId">
    <vt:lpwstr>8ecd207a-e5ff-4f14-bce6-b6282411e5ac</vt:lpwstr>
  </property>
  <property fmtid="{D5CDD505-2E9C-101B-9397-08002B2CF9AE}" pid="8" name="MSIP_Label_e798273d-f5aa-46da-8e10-241f6dcd5f2d_ContentBits">
    <vt:lpwstr>0</vt:lpwstr>
  </property>
  <property fmtid="{D5CDD505-2E9C-101B-9397-08002B2CF9AE}" pid="9" name="MSIP_Label_e798273d-f5aa-46da-8e10-241f6dcd5f2d_Tag">
    <vt:lpwstr>10, 3, 0, 1</vt:lpwstr>
  </property>
</Properties>
</file>